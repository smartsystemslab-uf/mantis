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companion deck to Paper 2 -- MANTIS Extended.</a:t>
            </a:r>
          </a:p>
          <a:p/>
          <a:p>
            <a:r>
              <a:t>Quick framing: the first MANTIS paper scoped itself narrowly on purpose and named five extensions it deliberately deferred rather than attempted under that schedule. This deck covers all five, each with live evidence, not just a description.</a:t>
            </a:r>
          </a:p>
          <a:p/>
          <a:p>
            <a:r>
              <a:t>Paper 1 and its own deck are unchanged -- this is additive, a second paper building on the first, not a revision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items on this slide are quoted directly from Paper 1's own coding plan section 11, "Post-Paper Extensions" -- not a list we assembled after the fact.</a:t>
            </a:r>
          </a:p>
          <a:p/>
          <a:p>
            <a:r>
              <a:t>Walk the five briefly: more telemetry backends, defensive plugins through the same interface as attacks, a Zero Trust integration point, more banking processes, and a thin UI over the CLI.</a:t>
            </a:r>
          </a:p>
          <a:p/>
          <a:p>
            <a:r>
              <a:t>Key point: each of the next five sections covers exactly one of these, in the same order, with live evidence for each.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extension: additional observability exporters. Jaeger specifically, because it accepts OpenTelemetry's own OTLP protocol natively -- this extends the SDK setup Paper 1 already had, rather than integrating a new protocol from scratch.</a:t>
            </a:r>
          </a:p>
          <a:p/>
          <a:p>
            <a:r>
              <a:t>Enabling it is one line in the observability.export list plus an endpoint -- no code change anywhere in the banking workflow or the hook bus.</a:t>
            </a:r>
          </a:p>
          <a:p/>
          <a:p>
            <a:r>
              <a:t>Key point, and this is the one to land: we verified the failure path, not just the happy path. If no Jaeger collector is running, export fails quietly in the background and logs a warning -- it does not fail the experiment. That's confirmed both by a direct unit test and by literally observing those warnings during our own offline test runs, since no collector was running in this development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extension: a concrete guardrail plugin, evaluated through the exact same plugin interface as an attack -- Paper 1 shipped this interface with no implementation behind it.</a:t>
            </a:r>
          </a:p>
          <a:p/>
          <a:p>
            <a:r>
              <a:t>Walk the table top to bottom -- this is a real, live run against a real model, not a simulation. A legitimate $125.50 transfer gets mutated by Paper 1's own tool-mutation attack to $5,000 into an account called HACKER-9999. The guardrail, configured with a $2,000 limit, evaluates that already-mutated call and denies it. The real banking backend never sees it, and the agent correctly tells the customer it's a payment-limit restriction, not a generic failure.</a:t>
            </a:r>
          </a:p>
          <a:p/>
          <a:p>
            <a:r>
              <a:t>Key point on ordering: the guardrail is registered after the attack on the hook bus, specifically so it evaluates what the attack actually did, not the original clean call. A defense that only ever sees clean traffic isn't proving anything.</a:t>
            </a:r>
          </a:p>
          <a:p/>
          <a:p>
            <a:r>
              <a:t>One more detail worth mentioning if asked: we also had to teach the observability layer a new event type, POLICY_EVENT, distinct from ATTACK_INJECTED -- a guardrail denying a call is the system working as intended, not an attack, and the trace now says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extension, and this one has a genuinely interesting story: while building this, we discovered a separate team has already built a substantially more complete Zero Trust Backplane against this exact same banking testbed.</a:t>
            </a:r>
          </a:p>
          <a:p/>
          <a:p>
            <a:r>
              <a:t>Their project scans source code to discover agents and tools, mapping them onto canonical identities. MANTIS's own inventory already reports that same information live, since it's introspected from the running system -- so MANTIS's inventory is a natural substitute data source for their scanner, not a competing thing.</a:t>
            </a:r>
          </a:p>
          <a:p/>
          <a:p>
            <a:r>
              <a:t>What we built on the MANTIS side is a representative slice -- a policy generator and an enforcement plugin -- kept entirely outside MANTIS's own code, self-registering only when explicitly imported. MANTIS never depends on it existing, which was the whole design constraint Paper 1 set for this extension point.</a:t>
            </a:r>
          </a:p>
          <a:p/>
          <a:p>
            <a:r>
              <a:t>Next slide has the finding this work surfaced along the 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finding: building a default-deny-by-domain policy only works if domains actually report different tools. Paper 1's own inventory interface didn't do that -- every domain reported the entire merged tool list, which would have made this whole extension meaningless.</a:t>
            </a:r>
          </a:p>
          <a:p/>
          <a:p>
            <a:r>
              <a:t>The fix was real and precise: tools are genuinely domain-tagged, through which source module a domain's agents import from. We corrected the inventory and added a regression test proving a back-office-only tool is unreachable from front or mid office's reported tools.</a:t>
            </a:r>
          </a:p>
          <a:p/>
          <a:p>
            <a:r>
              <a:t>Key point to close on: after the fix, we ran the enforcement plugin against a completely ordinary, unattacked scenario and got zero denials, with identical evaluation scores to the undefended baseline. Transparency to legitimate operation is the property that actually matters for something meant to run continuously.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extension: a genuinely new banking process, not a new prompt into an existing workflow -- filing and tracking a transaction dispute, as a third route under the front-office router.</a:t>
            </a:r>
          </a:p>
          <a:p/>
          <a:p>
            <a:r>
              <a:t>Worth distinguishing from something that already existed: the chatbot already answers "how do I dispute a transaction" as an FAQ. This is different -- it actually files a real case with a real generated ID, persisted in the same database the manual-review process already uses.</a:t>
            </a:r>
          </a:p>
          <a:p/>
          <a:p>
            <a:r>
              <a:t>The honest part of this story: the first version produced zero tool calls across three consecutive live trials, with correct routing every time. The cause wasn't a code defect -- it was that our scenario prompt never stated a customer id, which the tool needs, and which every other scenario in this codebase states explicitly. We fixed the prompt, not the tool, and the very next live run filed a real case correctly.</a:t>
            </a:r>
          </a:p>
          <a:p/>
          <a:p>
            <a:r>
              <a:t>Key point: this is the same lesson as the Zero Trust finding -- a clean exit and correct routing both looked fine; only checking the actual tool-call events revealed nothing had happened.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extension: the minimal UI Paper 1's coding plan named last -- a schema-driven editor and trace viewer, explicitly constrained to invoke the same CLI, not implement a second version of anything.</a:t>
            </a:r>
          </a:p>
          <a:p/>
          <a:p>
            <a:r>
              <a:t>The dropdowns for domain, workflow, scenario, and plugin are populated live from the same registries the CLI itself reads from -- not a hardcoded list baked into the page that could quietly drift from the real system.</a:t>
            </a:r>
          </a:p>
          <a:p/>
          <a:p>
            <a:r>
              <a:t>Key point, and we verified this directly rather than assuming it from the code structure: submitted a configuration with a deliberately invalid domain through the UI, and got back the real CLI's own "Unknown domain" error text -- because it's the same subprocess, not a UI-side reimplementation of that check.</a:t>
            </a:r>
          </a:p>
          <a:p/>
          <a:p>
            <a:r>
              <a:t>We also confirmed it as a real running server, not just passing an internal test client -- launched it for real and queried it over HTTP, and it correctly reported the live system: 32 agents, 22 tools, 27 existing run artifacts, at the time we checked.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slide -- every extension checked against real data or a real live run, the same standard Paper 1 set for itself.</a:t>
            </a:r>
          </a:p>
          <a:p/>
          <a:p>
            <a:r>
              <a:t>36 new tests across the five extensions bring the offline suite from 143 to 179 tests, all still running in under a minute with no live model key required.</a:t>
            </a:r>
          </a:p>
          <a:p/>
          <a:p>
            <a:r>
              <a:t>The three numbers at the bottom are the ones worth pausing on: zero changes required to any of MANTIS's core interfaces to add any of these five extensions -- the plugin and inventory interfaces held up exactly as designed. And two real defects found and fixed along the way, both invisible from a clean process exit -- found only because each extension's own verification pass insisted on checking the actual trace.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MANTIS Extended.</a:t>
            </a:r>
          </a:p>
          <a:p/>
          <a:p>
            <a:r>
              <a:t>Closing message: the headline result of this second paper isn't any single extension -- it's that Paper 1's plugin and inventory interfaces held up completely unmodified across all five, including a defensive plugin, an entirely separate telemetry backend, an integration surface for someone else's independent Zero Trust project, a new banking process, and a UI.</a:t>
            </a:r>
          </a:p>
          <a:p/>
          <a:p>
            <a:r>
              <a:t>Everything shown today is reproducible from the checked-in configs in the repository, same as Paper 1. Thank you, and happy to take questions or walk through any extension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2331720"/>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PAPER 2 — POST-PAPER EXTENSIONS</a:t>
            </a:r>
          </a:p>
        </p:txBody>
      </p:sp>
      <p:sp>
        <p:nvSpPr>
          <p:cNvPr id="6" name="TextBox 5"/>
          <p:cNvSpPr txBox="1"/>
          <p:nvPr/>
        </p:nvSpPr>
        <p:spPr>
          <a:xfrm>
            <a:off x="566928" y="2651760"/>
            <a:ext cx="10607040" cy="1188720"/>
          </a:xfrm>
          <a:prstGeom prst="rect">
            <a:avLst/>
          </a:prstGeom>
          <a:noFill/>
        </p:spPr>
        <p:txBody>
          <a:bodyPr wrap="square" anchor="t" lIns="0" rIns="0" tIns="0" bIns="0">
            <a:spAutoFit/>
          </a:bodyPr>
          <a:lstStyle/>
          <a:p>
            <a:pPr algn="l">
              <a:lnSpc>
                <a:spcPct val="104000"/>
              </a:lnSpc>
            </a:pPr>
            <a:r>
              <a:rPr sz="4800" b="1" i="0">
                <a:solidFill>
                  <a:srgbClr val="EEF2F8"/>
                </a:solidFill>
                <a:latin typeface="Arial Black"/>
              </a:rPr>
              <a:t>MANTIS Extended</a:t>
            </a:r>
          </a:p>
        </p:txBody>
      </p:sp>
      <p:sp>
        <p:nvSpPr>
          <p:cNvPr id="7" name="TextBox 6"/>
          <p:cNvSpPr txBox="1"/>
          <p:nvPr/>
        </p:nvSpPr>
        <p:spPr>
          <a:xfrm>
            <a:off x="566928" y="3429000"/>
            <a:ext cx="9418320" cy="822960"/>
          </a:xfrm>
          <a:prstGeom prst="rect">
            <a:avLst/>
          </a:prstGeom>
          <a:noFill/>
        </p:spPr>
        <p:txBody>
          <a:bodyPr wrap="square" anchor="t" lIns="0" rIns="0" tIns="0" bIns="0">
            <a:spAutoFit/>
          </a:bodyPr>
          <a:lstStyle/>
          <a:p>
            <a:pPr algn="l">
              <a:lnSpc>
                <a:spcPct val="130000"/>
              </a:lnSpc>
            </a:pPr>
            <a:r>
              <a:rPr sz="1450" b="0" i="1">
                <a:solidFill>
                  <a:srgbClr val="AEBBD2"/>
                </a:solidFill>
                <a:latin typeface="Georgia"/>
              </a:rPr>
              <a:t>Five extensions Paper 1 deliberately deferred — additional exporters, security-mechanism</a:t>
            </a:r>
          </a:p>
          <a:p>
            <a:pPr algn="l">
              <a:lnSpc>
                <a:spcPct val="130000"/>
              </a:lnSpc>
            </a:pPr>
            <a:r>
              <a:rPr sz="1450" b="0" i="1">
                <a:solidFill>
                  <a:srgbClr val="AEBBD2"/>
                </a:solidFill>
                <a:latin typeface="Georgia"/>
              </a:rPr>
              <a:t>plugins, a Zero Trust integration surface, new banking workloads, and a minimal UI — each built,</a:t>
            </a:r>
          </a:p>
          <a:p>
            <a:pPr algn="l">
              <a:lnSpc>
                <a:spcPct val="130000"/>
              </a:lnSpc>
            </a:pPr>
            <a:r>
              <a:rPr sz="1450" b="0" i="1">
                <a:solidFill>
                  <a:srgbClr val="AEBBD2"/>
                </a:solidFill>
                <a:latin typeface="Georgia"/>
              </a:rPr>
              <a:t>each live-verified.</a:t>
            </a:r>
          </a:p>
        </p:txBody>
      </p:sp>
      <p:cxnSp>
        <p:nvCxnSpPr>
          <p:cNvPr id="8" name="Connector 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smartsystemslab-uf/MANTIS · Paper 2</a:t>
            </a:r>
          </a:p>
        </p:txBody>
      </p:sp>
      <p:sp>
        <p:nvSpPr>
          <p:cNvPr id="11" name="TextBox 1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WHERE PAPER 1 LEFT OFF</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Five extensions, named and deferred on purpose</a:t>
            </a:r>
          </a:p>
        </p:txBody>
      </p:sp>
      <p:sp>
        <p:nvSpPr>
          <p:cNvPr id="7" name="TextBox 6"/>
          <p:cNvSpPr txBox="1"/>
          <p:nvPr/>
        </p:nvSpPr>
        <p:spPr>
          <a:xfrm>
            <a:off x="566928" y="1627632"/>
            <a:ext cx="9601200" cy="457200"/>
          </a:xfrm>
          <a:prstGeom prst="rect">
            <a:avLst/>
          </a:prstGeom>
          <a:noFill/>
        </p:spPr>
        <p:txBody>
          <a:bodyPr wrap="square" anchor="t" lIns="0" rIns="0" tIns="0" bIns="0">
            <a:spAutoFit/>
          </a:bodyPr>
          <a:lstStyle/>
          <a:p>
            <a:pPr algn="l">
              <a:lnSpc>
                <a:spcPct val="115000"/>
              </a:lnSpc>
            </a:pPr>
            <a:r>
              <a:rPr sz="1350" b="0" i="1">
                <a:solidFill>
                  <a:srgbClr val="AEBBD2"/>
                </a:solidFill>
                <a:latin typeface="Georgia"/>
              </a:rPr>
              <a:t>Paper 1's own coding plan listed these explicitly — not gaps found later, but scope cut deliberately to ship on schedule.</a:t>
            </a:r>
          </a:p>
        </p:txBody>
      </p:sp>
      <p:sp>
        <p:nvSpPr>
          <p:cNvPr id="8" name="Rounded Rectangle 7"/>
          <p:cNvSpPr/>
          <p:nvPr/>
        </p:nvSpPr>
        <p:spPr>
          <a:xfrm>
            <a:off x="566928"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Additional exporters</a:t>
            </a:r>
          </a:p>
        </p:txBody>
      </p:sp>
      <p:sp>
        <p:nvSpPr>
          <p:cNvPr id="10" name="TextBox 9"/>
          <p:cNvSpPr txBox="1"/>
          <p:nvPr/>
        </p:nvSpPr>
        <p:spPr>
          <a:xfrm>
            <a:off x="731520"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Jaeger, Grafana, Langfuse, Phoenix — beyond the OTel/MLflow/JSONL Paper 1 shipped.</a:t>
            </a:r>
          </a:p>
        </p:txBody>
      </p:sp>
      <p:sp>
        <p:nvSpPr>
          <p:cNvPr id="11" name="Rounded Rectangle 10"/>
          <p:cNvSpPr/>
          <p:nvPr/>
        </p:nvSpPr>
        <p:spPr>
          <a:xfrm>
            <a:off x="2779776"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44368"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Security mechanism plugins</a:t>
            </a:r>
          </a:p>
        </p:txBody>
      </p:sp>
      <p:sp>
        <p:nvSpPr>
          <p:cNvPr id="13" name="TextBox 12"/>
          <p:cNvSpPr txBox="1"/>
          <p:nvPr/>
        </p:nvSpPr>
        <p:spPr>
          <a:xfrm>
            <a:off x="2944368"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Guardrails, policy checks, rate limits — evaluated through the same framework as attacks.</a:t>
            </a:r>
          </a:p>
        </p:txBody>
      </p:sp>
      <p:sp>
        <p:nvSpPr>
          <p:cNvPr id="14" name="Rounded Rectangle 13"/>
          <p:cNvSpPr/>
          <p:nvPr/>
        </p:nvSpPr>
        <p:spPr>
          <a:xfrm>
            <a:off x="4992624"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57216"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Zero Trust Backplane</a:t>
            </a:r>
          </a:p>
        </p:txBody>
      </p:sp>
      <p:sp>
        <p:nvSpPr>
          <p:cNvPr id="16" name="TextBox 15"/>
          <p:cNvSpPr txBox="1"/>
          <p:nvPr/>
        </p:nvSpPr>
        <p:spPr>
          <a:xfrm>
            <a:off x="5157216"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Consume the existing inventory and control-point metadata to generate or enforce protection.</a:t>
            </a:r>
          </a:p>
        </p:txBody>
      </p:sp>
      <p:sp>
        <p:nvSpPr>
          <p:cNvPr id="17" name="Rounded Rectangle 16"/>
          <p:cNvSpPr/>
          <p:nvPr/>
        </p:nvSpPr>
        <p:spPr>
          <a:xfrm>
            <a:off x="7205472"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70064"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Additional banking workloads</a:t>
            </a:r>
          </a:p>
        </p:txBody>
      </p:sp>
      <p:sp>
        <p:nvSpPr>
          <p:cNvPr id="19" name="TextBox 18"/>
          <p:cNvSpPr txBox="1"/>
          <p:nvPr/>
        </p:nvSpPr>
        <p:spPr>
          <a:xfrm>
            <a:off x="7370064"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More banking processes and workflow patterns beyond Paper 1's evaluation set.</a:t>
            </a:r>
          </a:p>
        </p:txBody>
      </p:sp>
      <p:sp>
        <p:nvSpPr>
          <p:cNvPr id="20" name="Rounded Rectangle 19"/>
          <p:cNvSpPr/>
          <p:nvPr/>
        </p:nvSpPr>
        <p:spPr>
          <a:xfrm>
            <a:off x="9418320" y="2286000"/>
            <a:ext cx="2121408"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82912" y="2404872"/>
            <a:ext cx="1792224"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Minimal UI</a:t>
            </a:r>
          </a:p>
        </p:txBody>
      </p:sp>
      <p:sp>
        <p:nvSpPr>
          <p:cNvPr id="22" name="TextBox 21"/>
          <p:cNvSpPr txBox="1"/>
          <p:nvPr/>
        </p:nvSpPr>
        <p:spPr>
          <a:xfrm>
            <a:off x="9582912" y="2724912"/>
            <a:ext cx="1792224" cy="3017520"/>
          </a:xfrm>
          <a:prstGeom prst="rect">
            <a:avLst/>
          </a:prstGeom>
          <a:noFill/>
        </p:spPr>
        <p:txBody>
          <a:bodyPr wrap="square" anchor="t" lIns="0" rIns="0" tIns="0" bIns="0">
            <a:spAutoFit/>
          </a:bodyPr>
          <a:lstStyle/>
          <a:p>
            <a:pPr algn="l">
              <a:lnSpc>
                <a:spcPct val="122000"/>
              </a:lnSpc>
            </a:pPr>
            <a:r>
              <a:rPr sz="1000" b="0" i="0">
                <a:solidFill>
                  <a:srgbClr val="AEBBD2"/>
                </a:solidFill>
                <a:latin typeface="Arial"/>
              </a:rPr>
              <a:t>A schema-driven editor and trace viewer over the existing CLI — no separate business logic.</a:t>
            </a:r>
          </a:p>
        </p:txBody>
      </p:sp>
      <p:cxnSp>
        <p:nvCxnSpPr>
          <p:cNvPr id="23" name="Connector 22"/>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26" name="TextBox 25"/>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1 OF 5 — ADDITIONAL EXPORTERS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One more telemetry backend, config-only</a:t>
            </a:r>
          </a:p>
        </p:txBody>
      </p:sp>
      <p:sp>
        <p:nvSpPr>
          <p:cNvPr id="7" name="Rounded Rectangle 6"/>
          <p:cNvSpPr/>
          <p:nvPr/>
        </p:nvSpPr>
        <p:spPr>
          <a:xfrm>
            <a:off x="566928" y="1691640"/>
            <a:ext cx="5349240" cy="2103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What it is</a:t>
            </a:r>
          </a:p>
        </p:txBody>
      </p:sp>
      <p:sp>
        <p:nvSpPr>
          <p:cNvPr id="9" name="TextBox 8"/>
          <p:cNvSpPr txBox="1"/>
          <p:nvPr/>
        </p:nvSpPr>
        <p:spPr>
          <a:xfrm>
            <a:off x="731520" y="2130552"/>
            <a:ext cx="5020056" cy="15544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A real OTLP-over-gRPC span exporter, attached to the same TracerProvider Paper 1's OpenTelemetry setup already creates. Registered in exporter_registry as "jaeger" alongside jsonl/mlflow/otel.</a:t>
            </a:r>
          </a:p>
        </p:txBody>
      </p:sp>
      <p:sp>
        <p:nvSpPr>
          <p:cNvPr id="10" name="Rounded Rectangle 9"/>
          <p:cNvSpPr/>
          <p:nvPr/>
        </p:nvSpPr>
        <p:spPr>
          <a:xfrm>
            <a:off x="6080760" y="1691640"/>
            <a:ext cx="5532120" cy="2103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How you use it</a:t>
            </a:r>
          </a:p>
        </p:txBody>
      </p:sp>
      <p:sp>
        <p:nvSpPr>
          <p:cNvPr id="12" name="TextBox 11"/>
          <p:cNvSpPr txBox="1"/>
          <p:nvPr/>
        </p:nvSpPr>
        <p:spPr>
          <a:xfrm>
            <a:off x="6245352" y="2130552"/>
            <a:ext cx="5202936" cy="15544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observability:</a:t>
            </a:r>
          </a:p>
          <a:p>
            <a:pPr algn="l">
              <a:lnSpc>
                <a:spcPct val="122000"/>
              </a:lnSpc>
            </a:pPr>
            <a:r>
              <a:rPr sz="1100" b="0" i="0">
                <a:solidFill>
                  <a:srgbClr val="AEBBD2"/>
                </a:solidFill>
                <a:latin typeface="Arial"/>
              </a:rPr>
              <a:t>  export: [jsonl, jaeger]</a:t>
            </a:r>
          </a:p>
          <a:p>
            <a:pPr algn="l">
              <a:lnSpc>
                <a:spcPct val="122000"/>
              </a:lnSpc>
            </a:pPr>
            <a:r>
              <a:rPr sz="1100" b="0" i="0">
                <a:solidFill>
                  <a:srgbClr val="AEBBD2"/>
                </a:solidFill>
                <a:latin typeface="Arial"/>
              </a:rPr>
              <a:t>  jaeger_endpoint: http://localhost:4317</a:t>
            </a:r>
          </a:p>
          <a:p>
            <a:pPr algn="l">
              <a:lnSpc>
                <a:spcPct val="122000"/>
              </a:lnSpc>
            </a:pPr>
            <a:r>
              <a:rPr sz="1100" b="0" i="0">
                <a:solidFill>
                  <a:srgbClr val="AEBBD2"/>
                </a:solidFill>
                <a:latin typeface="Arial"/>
              </a:rPr>
              <a:t/>
            </a:r>
          </a:p>
          <a:p>
            <a:pPr algn="l">
              <a:lnSpc>
                <a:spcPct val="122000"/>
              </a:lnSpc>
            </a:pPr>
            <a:r>
              <a:rPr sz="1100" b="0" i="0">
                <a:solidFill>
                  <a:srgbClr val="AEBBD2"/>
                </a:solidFill>
                <a:latin typeface="Arial"/>
              </a:rPr>
              <a:t>No code change to the banking workflow, hook bus, or observability plugin.</a:t>
            </a:r>
          </a:p>
        </p:txBody>
      </p:sp>
      <p:sp>
        <p:nvSpPr>
          <p:cNvPr id="13" name="Rounded Rectangle 12"/>
          <p:cNvSpPr/>
          <p:nvPr/>
        </p:nvSpPr>
        <p:spPr>
          <a:xfrm>
            <a:off x="566928" y="3977639"/>
            <a:ext cx="11064240" cy="178308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96511"/>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Verified: fails silently, never fails the run</a:t>
            </a:r>
          </a:p>
        </p:txBody>
      </p:sp>
      <p:sp>
        <p:nvSpPr>
          <p:cNvPr id="15" name="TextBox 14"/>
          <p:cNvSpPr txBox="1"/>
          <p:nvPr/>
        </p:nvSpPr>
        <p:spPr>
          <a:xfrm>
            <a:off x="731520" y="4416551"/>
            <a:ext cx="10735056" cy="1234440"/>
          </a:xfrm>
          <a:prstGeom prst="rect">
            <a:avLst/>
          </a:prstGeom>
          <a:noFill/>
        </p:spPr>
        <p:txBody>
          <a:bodyPr wrap="square" anchor="t" lIns="0" rIns="0" tIns="0" bIns="0">
            <a:spAutoFit/>
          </a:bodyPr>
          <a:lstStyle/>
          <a:p>
            <a:pPr algn="l">
              <a:lnSpc>
                <a:spcPct val="122000"/>
              </a:lnSpc>
            </a:pPr>
            <a:r>
              <a:rPr sz="1150" b="0" i="0">
                <a:solidFill>
                  <a:srgbClr val="EEF2F8"/>
                </a:solidFill>
                <a:latin typeface="Arial"/>
              </a:rPr>
              <a:t>With no collector listening at the configured endpoint, the SDK's own BatchSpanProcessor retries and logs a warning rather than raising — confirmed by a direct test asserting no exception propagates, and by the expected StatusCode.UNAVAILABLE warnings appearing during every offline test run in an environment with no Jaeger collector running. Exporting telemetry must never be able to fail an experiment.</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2 OF 5 — SECURITY MECHANISM PLUGINS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300" b="1" i="0">
                <a:solidFill>
                  <a:srgbClr val="EEF2F8"/>
                </a:solidFill>
                <a:latin typeface="Arial Black"/>
              </a:rPr>
              <a:t>A defense, through the same interface as an attack</a:t>
            </a:r>
          </a:p>
        </p:txBody>
      </p:sp>
      <p:graphicFrame>
        <p:nvGraphicFramePr>
          <p:cNvPr id="7" name="Table 6"/>
          <p:cNvGraphicFramePr>
            <a:graphicFrameLocks noGrp="1"/>
          </p:cNvGraphicFramePr>
          <p:nvPr/>
        </p:nvGraphicFramePr>
        <p:xfrm>
          <a:off x="566928" y="1645920"/>
          <a:ext cx="11064239" cy="3017520"/>
        </p:xfrm>
        <a:graphic>
          <a:graphicData uri="http://schemas.openxmlformats.org/drawingml/2006/table">
            <a:tbl>
              <a:tblPr firstRow="0" bandRow="0">
                <a:tableStyleId>{5C22544A-7EE6-4342-B048-85BDC9FD1C3A}</a:tableStyleId>
              </a:tblPr>
              <a:tblGrid>
                <a:gridCol w="2645796"/>
                <a:gridCol w="8418443"/>
              </a:tblGrid>
              <a:tr h="603504">
                <a:tc>
                  <a:txBody>
                    <a:bodyPr/>
                    <a:lstStyle/>
                    <a:p>
                      <a:r>
                        <a:rPr sz="900" b="1">
                          <a:solidFill>
                            <a:srgbClr val="FF8A5C"/>
                          </a:solidFill>
                          <a:latin typeface="Consolas"/>
                        </a:rPr>
                        <a:t>STEP</a:t>
                      </a:r>
                    </a:p>
                  </a:txBody>
                  <a:tcPr marL="82296" marR="82296" marT="45720" marB="45720" anchor="ctr">
                    <a:solidFill>
                      <a:srgbClr val="0D2043"/>
                    </a:solidFill>
                  </a:tcPr>
                </a:tc>
                <a:tc>
                  <a:txBody>
                    <a:bodyPr/>
                    <a:lstStyle/>
                    <a:p>
                      <a:r>
                        <a:rPr sz="900" b="1">
                          <a:solidFill>
                            <a:srgbClr val="FF8A5C"/>
                          </a:solidFill>
                          <a:latin typeface="Consolas"/>
                        </a:rPr>
                        <a:t>WHAT HAPPENED (LIVE, REAL MODEL)</a:t>
                      </a:r>
                    </a:p>
                  </a:txBody>
                  <a:tcPr marL="82296" marR="82296" marT="45720" marB="45720" anchor="ctr">
                    <a:solidFill>
                      <a:srgbClr val="0D2043"/>
                    </a:solidFill>
                  </a:tcPr>
                </a:tc>
              </a:tr>
              <a:tr h="603504">
                <a:tc>
                  <a:txBody>
                    <a:bodyPr wrap="square"/>
                    <a:lstStyle/>
                    <a:p>
                      <a:pPr>
                        <a:lnSpc>
                          <a:spcPct val="108000"/>
                        </a:lnSpc>
                      </a:pPr>
                      <a:r>
                        <a:rPr sz="1150" b="1">
                          <a:solidFill>
                            <a:srgbClr val="EEF2F8"/>
                          </a:solidFill>
                          <a:latin typeface="Arial"/>
                        </a:rPr>
                        <a:t>1. Legitimate call</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execute_transfer called with a real $125.50 transfer, source CHK-002 → EXT-998.</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2. Attack mutates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tool_mutation (Paper 1's own plugin) rewrites the call to $5,000 → account HACKER-9999.</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3. Guardrail evaluates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amount_limit_guardrail (max $2,000) sees the already-mutated call and denies it.</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4. Backend never sees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The call never reaches the banking backend. The agent reports a payment-limit restriction to the customer.</a:t>
                      </a:r>
                    </a:p>
                  </a:txBody>
                  <a:tcPr marL="82296" marR="82296" marT="54864" marB="54864" anchor="ctr">
                    <a:solidFill>
                      <a:srgbClr val="14274A"/>
                    </a:solidFill>
                  </a:tcPr>
                </a:tc>
              </a:tr>
            </a:tbl>
          </a:graphicData>
        </a:graphic>
      </p:graphicFrame>
      <p:sp>
        <p:nvSpPr>
          <p:cNvPr id="8" name="Rounded Rectangle 7"/>
          <p:cNvSpPr/>
          <p:nvPr/>
        </p:nvSpPr>
        <p:spPr>
          <a:xfrm>
            <a:off x="566928" y="4800600"/>
            <a:ext cx="11064240" cy="96012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91947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Why order matters</a:t>
            </a:r>
          </a:p>
        </p:txBody>
      </p:sp>
      <p:sp>
        <p:nvSpPr>
          <p:cNvPr id="10" name="TextBox 9"/>
          <p:cNvSpPr txBox="1"/>
          <p:nvPr/>
        </p:nvSpPr>
        <p:spPr>
          <a:xfrm>
            <a:off x="731520" y="5239512"/>
            <a:ext cx="10735056" cy="41148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Guardrails register on the hook bus after any configured attack — the same reason Paper 1 registers observability last. A defense that only sees the original, unmutated call isn't testing anything real.</a:t>
            </a:r>
          </a:p>
        </p:txBody>
      </p:sp>
      <p:cxnSp>
        <p:nvCxnSpPr>
          <p:cNvPr id="11" name="Connector 10"/>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4" name="TextBox 13"/>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3 OF 5 — ZERO TRUST BACKPLANE</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100" b="1" i="0">
                <a:solidFill>
                  <a:srgbClr val="EEF2F8"/>
                </a:solidFill>
                <a:latin typeface="Arial Black"/>
              </a:rPr>
              <a:t>A real, independent Zero Trust project — and where MANTIS plugs in</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The real project</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A separate, substantially more complete Zero Trust Backplane already exists for this same banking testbed: source-code scanning, PEP placement, a signed PDP, and short-lived signed Permit Leases — already protecting real read and write operations.</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MANTIS's role</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That project discovers agents/tools by scanning source code into a canonical-ID manifest. MANTIS's inventory() already reports that same information live — a substitute data source for its scanner, not a competing implementation.</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What we built here</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A representative slice, kept entirely outside MANTIS's own code: a policy generator (default-deny by domain) and an enforcement plugin, registered into the same hook bus every attack plugin uses. It self-registers only when explicitly imported — MANTIS never depends on it existing.</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3 OF 5 — ZERO TRUST BACKPLANE</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000" b="1" i="0">
                <a:solidFill>
                  <a:srgbClr val="EEF2F8"/>
                </a:solidFill>
                <a:latin typeface="Arial Black"/>
              </a:rPr>
              <a:t>Building the policy generator found a real gap in Paper 1's own inventory</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The problem</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A default-deny-by-domain policy is meaningless if every domain reports being able to call every tool. That's exactly what inventory() did — every domain got the full merged tool list, not its own real subset.</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The fix</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Tools ARE domain-tagged — by which module a domain's agents actually import from. Fixed inventory() to report each domain's real tool subset; added regression tests confirming a back-office-only tool is unreachable from front/mid office.</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Verified live: transparent to legitimate operation</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50" b="0" i="0">
                <a:solidFill>
                  <a:srgbClr val="EEF2F8"/>
                </a:solidFill>
                <a:latin typeface="Arial"/>
              </a:rPr>
              <a:t>Ran the enforcement plugin against an ordinary, unattacked front-office scenario: zero policy denials, identical tool-use-correctness and workflow-outcome scores to the undefended baseline. A default-deny policy that also blocks legitimate traffic isn't usable — this confirms it doesn't.</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4 OF 5 — ADDITIONAL BANKING WORKLOADS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300" b="1" i="0">
                <a:solidFill>
                  <a:srgbClr val="EEF2F8"/>
                </a:solidFill>
                <a:latin typeface="Arial Black"/>
              </a:rPr>
              <a:t>A genuinely new process, not a new prompt</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What it is</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Dispute filing and status lookup — a third route under the front-office router, alongside the existing transaction-review and chatbot workflows. A new tool-backed agent and a real case record, not a new prompt into an existing workflow.</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Distinct from the existing chatbot</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The chatbot already answers "how do I dispute a transaction" as an FAQ. This is different: it actually files a case, persists it, and returns a real dispute ID the customer can reference.</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What three live trials with zero tool calls taught us</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First attempt: real routing worked, but the agent called no tool at all, three times in a row. Cause: the scenario prompt never stated a customer id, unlike every other scenario in the codebase — and file_dispute needs one. Fixed the prompt, not the tool. Next run: real case filed, real ID returned, correct customer message.</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5 OF 5 — MINIMAL UI</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200" b="1" i="0">
                <a:solidFill>
                  <a:srgbClr val="EEF2F8"/>
                </a:solidFill>
                <a:latin typeface="Arial Black"/>
              </a:rPr>
              <a:t>A thin layer over the real CLI, not a second implementation</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What it is</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A schema-driven experiment editor and trace viewer. Domain/workflow/scenario/plugin dropdowns are populated live from the same registries the CLI reads — not a hardcoded list that can drift.</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"No separate business logic", verified</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Validate and Run shell out to the real mantis CLI as a subprocess. Submitted a config with a deliberately invalid domain: got the real CLI's own "Unknown domain" error back, not a UI-side check.</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Confirmed as a real running server</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50" b="0" i="0">
                <a:solidFill>
                  <a:srgbClr val="EEF2F8"/>
                </a:solidFill>
                <a:latin typeface="Arial"/>
              </a:rPr>
              <a:t>Launched via mantis --ui and queried over real HTTP, not just an in-process test client: correctly reported the live inventory (32 agents, 22 tools) and every existing run artifact (27 runs) at the time of this check.</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EVALUATION SUMMARY</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36 new tests, all against real data — 179 total</a:t>
            </a:r>
          </a:p>
        </p:txBody>
      </p:sp>
      <p:graphicFrame>
        <p:nvGraphicFramePr>
          <p:cNvPr id="7" name="Table 6"/>
          <p:cNvGraphicFramePr>
            <a:graphicFrameLocks noGrp="1"/>
          </p:cNvGraphicFramePr>
          <p:nvPr/>
        </p:nvGraphicFramePr>
        <p:xfrm>
          <a:off x="566928" y="1691640"/>
          <a:ext cx="11064239" cy="3246120"/>
        </p:xfrm>
        <a:graphic>
          <a:graphicData uri="http://schemas.openxmlformats.org/drawingml/2006/table">
            <a:tbl>
              <a:tblPr firstRow="0" bandRow="0">
                <a:tableStyleId>{5C22544A-7EE6-4342-B048-85BDC9FD1C3A}</a:tableStyleId>
              </a:tblPr>
              <a:tblGrid>
                <a:gridCol w="2252013"/>
                <a:gridCol w="979136"/>
                <a:gridCol w="7833090"/>
              </a:tblGrid>
              <a:tr h="541020">
                <a:tc>
                  <a:txBody>
                    <a:bodyPr/>
                    <a:lstStyle/>
                    <a:p>
                      <a:r>
                        <a:rPr sz="900" b="1">
                          <a:solidFill>
                            <a:srgbClr val="FF8A5C"/>
                          </a:solidFill>
                          <a:latin typeface="Consolas"/>
                        </a:rPr>
                        <a:t>EXTENSION</a:t>
                      </a:r>
                    </a:p>
                  </a:txBody>
                  <a:tcPr marL="82296" marR="82296" marT="45720" marB="45720" anchor="ctr">
                    <a:solidFill>
                      <a:srgbClr val="0D2043"/>
                    </a:solidFill>
                  </a:tcPr>
                </a:tc>
                <a:tc>
                  <a:txBody>
                    <a:bodyPr/>
                    <a:lstStyle/>
                    <a:p>
                      <a:r>
                        <a:rPr sz="900" b="1">
                          <a:solidFill>
                            <a:srgbClr val="FF8A5C"/>
                          </a:solidFill>
                          <a:latin typeface="Consolas"/>
                        </a:rPr>
                        <a:t>TESTS</a:t>
                      </a:r>
                    </a:p>
                  </a:txBody>
                  <a:tcPr marL="82296" marR="82296" marT="45720" marB="45720" anchor="ctr">
                    <a:solidFill>
                      <a:srgbClr val="0D2043"/>
                    </a:solidFill>
                  </a:tcPr>
                </a:tc>
                <a:tc>
                  <a:txBody>
                    <a:bodyPr/>
                    <a:lstStyle/>
                    <a:p>
                      <a:r>
                        <a:rPr sz="900" b="1">
                          <a:solidFill>
                            <a:srgbClr val="FF8A5C"/>
                          </a:solidFill>
                          <a:latin typeface="Consolas"/>
                        </a:rPr>
                        <a:t>LIVE EVIDENCE</a:t>
                      </a:r>
                    </a:p>
                  </a:txBody>
                  <a:tcPr marL="82296" marR="82296" marT="45720" marB="45720" anchor="ctr">
                    <a:solidFill>
                      <a:srgbClr val="0D2043"/>
                    </a:solidFill>
                  </a:tcPr>
                </a:tc>
              </a:tr>
              <a:tr h="541020">
                <a:tc>
                  <a:txBody>
                    <a:bodyPr wrap="square"/>
                    <a:lstStyle/>
                    <a:p>
                      <a:pPr>
                        <a:lnSpc>
                          <a:spcPct val="108000"/>
                        </a:lnSpc>
                      </a:pPr>
                      <a:r>
                        <a:rPr sz="1130" b="1">
                          <a:solidFill>
                            <a:srgbClr val="EEF2F8"/>
                          </a:solidFill>
                          <a:latin typeface="Arial"/>
                        </a:rPr>
                        <a:t>Jaeger exporter</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4</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Real span processor attached; confirmed silent-safe with no collector listening.</a:t>
                      </a:r>
                    </a:p>
                  </a:txBody>
                  <a:tcPr marL="82296" marR="82296" marT="54864" marB="54864" anchor="ctr">
                    <a:solidFill>
                      <a:srgbClr val="14274A"/>
                    </a:solidFill>
                  </a:tcPr>
                </a:tc>
              </a:tr>
              <a:tr h="541020">
                <a:tc>
                  <a:txBody>
                    <a:bodyPr wrap="square"/>
                    <a:lstStyle/>
                    <a:p>
                      <a:pPr>
                        <a:lnSpc>
                          <a:spcPct val="108000"/>
                        </a:lnSpc>
                      </a:pPr>
                      <a:r>
                        <a:rPr sz="1130" b="1">
                          <a:solidFill>
                            <a:srgbClr val="EEF2F8"/>
                          </a:solidFill>
                          <a:latin typeface="Arial"/>
                        </a:rPr>
                        <a:t>Guardrail plugin</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6</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Live $5,000 mutated transfer denied before reaching the backend; correctly classified as POLICY_EVENT.</a:t>
                      </a:r>
                    </a:p>
                  </a:txBody>
                  <a:tcPr marL="82296" marR="82296" marT="54864" marB="54864" anchor="ctr">
                    <a:solidFill>
                      <a:srgbClr val="14274A"/>
                    </a:solidFill>
                  </a:tcPr>
                </a:tc>
              </a:tr>
              <a:tr h="541020">
                <a:tc>
                  <a:txBody>
                    <a:bodyPr wrap="square"/>
                    <a:lstStyle/>
                    <a:p>
                      <a:pPr>
                        <a:lnSpc>
                          <a:spcPct val="108000"/>
                        </a:lnSpc>
                      </a:pPr>
                      <a:r>
                        <a:rPr sz="1130" b="1">
                          <a:solidFill>
                            <a:srgbClr val="EEF2F8"/>
                          </a:solidFill>
                          <a:latin typeface="Arial"/>
                        </a:rPr>
                        <a:t>Zero Trust</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7 + 2</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Zero spurious denials on a real unattacked run; cross-domain denial confirmed; surfaced a real inventory defect.</a:t>
                      </a:r>
                    </a:p>
                  </a:txBody>
                  <a:tcPr marL="82296" marR="82296" marT="54864" marB="54864" anchor="ctr">
                    <a:solidFill>
                      <a:srgbClr val="14274A"/>
                    </a:solidFill>
                  </a:tcPr>
                </a:tc>
              </a:tr>
              <a:tr h="541020">
                <a:tc>
                  <a:txBody>
                    <a:bodyPr wrap="square"/>
                    <a:lstStyle/>
                    <a:p>
                      <a:pPr>
                        <a:lnSpc>
                          <a:spcPct val="108000"/>
                        </a:lnSpc>
                      </a:pPr>
                      <a:r>
                        <a:rPr sz="1130" b="1">
                          <a:solidFill>
                            <a:srgbClr val="EEF2F8"/>
                          </a:solidFill>
                          <a:latin typeface="Arial"/>
                        </a:rPr>
                        <a:t>Dispute workload</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7</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Real case filed and persisted, after correcting a scenario defect found only by reading the trace.</a:t>
                      </a:r>
                    </a:p>
                  </a:txBody>
                  <a:tcPr marL="82296" marR="82296" marT="54864" marB="54864" anchor="ctr">
                    <a:solidFill>
                      <a:srgbClr val="14274A"/>
                    </a:solidFill>
                  </a:tcPr>
                </a:tc>
              </a:tr>
              <a:tr h="541020">
                <a:tc>
                  <a:txBody>
                    <a:bodyPr wrap="square"/>
                    <a:lstStyle/>
                    <a:p>
                      <a:pPr>
                        <a:lnSpc>
                          <a:spcPct val="108000"/>
                        </a:lnSpc>
                      </a:pPr>
                      <a:r>
                        <a:rPr sz="1130" b="1">
                          <a:solidFill>
                            <a:srgbClr val="EEF2F8"/>
                          </a:solidFill>
                          <a:latin typeface="Arial"/>
                        </a:rPr>
                        <a:t>Minimal UI</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10</a:t>
                      </a:r>
                    </a:p>
                  </a:txBody>
                  <a:tcPr marL="82296" marR="82296" marT="54864" marB="54864" anchor="ctr">
                    <a:solidFill>
                      <a:srgbClr val="14274A"/>
                    </a:solidFill>
                  </a:tcPr>
                </a:tc>
                <a:tc>
                  <a:txBody>
                    <a:bodyPr wrap="square"/>
                    <a:lstStyle/>
                    <a:p>
                      <a:pPr>
                        <a:lnSpc>
                          <a:spcPct val="108000"/>
                        </a:lnSpc>
                      </a:pPr>
                      <a:r>
                        <a:rPr sz="1080" b="0">
                          <a:solidFill>
                            <a:srgbClr val="AEBBD2"/>
                          </a:solidFill>
                          <a:latin typeface="Arial"/>
                        </a:rPr>
                        <a:t>Real invalid config rejected with the real CLI's own error; real server confirmed over live HTTP.</a:t>
                      </a:r>
                    </a:p>
                  </a:txBody>
                  <a:tcPr marL="82296" marR="82296" marT="54864" marB="54864" anchor="ctr">
                    <a:solidFill>
                      <a:srgbClr val="14274A"/>
                    </a:solidFill>
                  </a:tcPr>
                </a:tc>
              </a:tr>
            </a:tbl>
          </a:graphicData>
        </a:graphic>
      </p:graphicFrame>
      <p:sp>
        <p:nvSpPr>
          <p:cNvPr id="8" name="Rounded Rectangle 7"/>
          <p:cNvSpPr/>
          <p:nvPr/>
        </p:nvSpPr>
        <p:spPr>
          <a:xfrm>
            <a:off x="566928" y="512064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21208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179</a:t>
            </a:r>
          </a:p>
        </p:txBody>
      </p:sp>
      <p:sp>
        <p:nvSpPr>
          <p:cNvPr id="10" name="TextBox 9"/>
          <p:cNvSpPr txBox="1"/>
          <p:nvPr/>
        </p:nvSpPr>
        <p:spPr>
          <a:xfrm>
            <a:off x="694944" y="566928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offline tests passing, up from 143 before this work</a:t>
            </a:r>
          </a:p>
        </p:txBody>
      </p:sp>
      <p:sp>
        <p:nvSpPr>
          <p:cNvPr id="11" name="Rounded Rectangle 10"/>
          <p:cNvSpPr/>
          <p:nvPr/>
        </p:nvSpPr>
        <p:spPr>
          <a:xfrm>
            <a:off x="4315967" y="512064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3983" y="521208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0</a:t>
            </a:r>
          </a:p>
        </p:txBody>
      </p:sp>
      <p:sp>
        <p:nvSpPr>
          <p:cNvPr id="13" name="TextBox 12"/>
          <p:cNvSpPr txBox="1"/>
          <p:nvPr/>
        </p:nvSpPr>
        <p:spPr>
          <a:xfrm>
            <a:off x="4443983" y="566928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changes required to mantis.core, mantis.hooks, or the banking workflow modules</a:t>
            </a:r>
          </a:p>
        </p:txBody>
      </p:sp>
      <p:sp>
        <p:nvSpPr>
          <p:cNvPr id="14" name="Rounded Rectangle 13"/>
          <p:cNvSpPr/>
          <p:nvPr/>
        </p:nvSpPr>
        <p:spPr>
          <a:xfrm>
            <a:off x="8065007" y="512064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3" y="521208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2</a:t>
            </a:r>
          </a:p>
        </p:txBody>
      </p:sp>
      <p:sp>
        <p:nvSpPr>
          <p:cNvPr id="16" name="TextBox 15"/>
          <p:cNvSpPr txBox="1"/>
          <p:nvPr/>
        </p:nvSpPr>
        <p:spPr>
          <a:xfrm>
            <a:off x="8193023" y="566928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real defects found and fixed while building these extensions, both invisible from a clean exit code</a:t>
            </a:r>
          </a:p>
        </p:txBody>
      </p:sp>
      <p:cxnSp>
        <p:nvCxnSpPr>
          <p:cNvPr id="17" name="Connector 16"/>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20" name="TextBox 19"/>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THANK YOU</a:t>
            </a:r>
          </a:p>
        </p:txBody>
      </p:sp>
      <p:sp>
        <p:nvSpPr>
          <p:cNvPr id="6" name="TextBox 5"/>
          <p:cNvSpPr txBox="1"/>
          <p:nvPr/>
        </p:nvSpPr>
        <p:spPr>
          <a:xfrm>
            <a:off x="566928" y="2788920"/>
            <a:ext cx="10607040" cy="1188720"/>
          </a:xfrm>
          <a:prstGeom prst="rect">
            <a:avLst/>
          </a:prstGeom>
          <a:noFill/>
        </p:spPr>
        <p:txBody>
          <a:bodyPr wrap="square" anchor="t" lIns="0" rIns="0" tIns="0" bIns="0">
            <a:spAutoFit/>
          </a:bodyPr>
          <a:lstStyle/>
          <a:p>
            <a:pPr algn="l">
              <a:lnSpc>
                <a:spcPct val="104000"/>
              </a:lnSpc>
            </a:pPr>
            <a:r>
              <a:rPr sz="2600" b="1" i="0">
                <a:solidFill>
                  <a:srgbClr val="EEF2F8"/>
                </a:solidFill>
                <a:latin typeface="Arial Black"/>
              </a:rPr>
              <a:t>Five extensions, zero core changes, real evidence for each</a:t>
            </a:r>
          </a:p>
        </p:txBody>
      </p:sp>
      <p:sp>
        <p:nvSpPr>
          <p:cNvPr id="7" name="TextBox 6"/>
          <p:cNvSpPr txBox="1"/>
          <p:nvPr/>
        </p:nvSpPr>
        <p:spPr>
          <a:xfrm>
            <a:off x="566928" y="3611880"/>
            <a:ext cx="9144000" cy="822960"/>
          </a:xfrm>
          <a:prstGeom prst="rect">
            <a:avLst/>
          </a:prstGeom>
          <a:noFill/>
        </p:spPr>
        <p:txBody>
          <a:bodyPr wrap="square" anchor="t" lIns="0" rIns="0" tIns="0" bIns="0">
            <a:spAutoFit/>
          </a:bodyPr>
          <a:lstStyle/>
          <a:p>
            <a:pPr algn="l">
              <a:lnSpc>
                <a:spcPct val="130000"/>
              </a:lnSpc>
            </a:pPr>
            <a:r>
              <a:rPr sz="1400" b="0" i="1">
                <a:solidFill>
                  <a:srgbClr val="AEBBD2"/>
                </a:solidFill>
                <a:latin typeface="Georgia"/>
              </a:rPr>
              <a:t>Paper 1's interfaces held up exactly as designed. Happy to walk through any extension live,</a:t>
            </a:r>
          </a:p>
          <a:p>
            <a:pPr algn="l">
              <a:lnSpc>
                <a:spcPct val="130000"/>
              </a:lnSpc>
            </a:pPr>
            <a:r>
              <a:rPr sz="1400" b="0" i="1">
                <a:solidFill>
                  <a:srgbClr val="AEBBD2"/>
                </a:solidFill>
                <a:latin typeface="Georgia"/>
              </a:rPr>
              <a:t>or discuss where a production Zero Trust integration goes next.</a:t>
            </a:r>
          </a:p>
        </p:txBody>
      </p:sp>
      <p:sp>
        <p:nvSpPr>
          <p:cNvPr id="8" name="TextBox 7"/>
          <p:cNvSpPr txBox="1"/>
          <p:nvPr/>
        </p:nvSpPr>
        <p:spPr>
          <a:xfrm>
            <a:off x="566928" y="4526280"/>
            <a:ext cx="7315200" cy="457200"/>
          </a:xfrm>
          <a:prstGeom prst="rect">
            <a:avLst/>
          </a:prstGeom>
          <a:noFill/>
        </p:spPr>
        <p:txBody>
          <a:bodyPr wrap="square" anchor="t" lIns="0" rIns="0" tIns="0" bIns="0">
            <a:spAutoFit/>
          </a:bodyPr>
          <a:lstStyle/>
          <a:p>
            <a:pPr algn="l">
              <a:lnSpc>
                <a:spcPct val="115000"/>
              </a:lnSpc>
            </a:pPr>
            <a:r>
              <a:rPr sz="1500" b="0" i="0">
                <a:solidFill>
                  <a:srgbClr val="AEBBD2"/>
                </a:solidFill>
                <a:latin typeface="Consolas"/>
              </a:rPr>
              <a:t>github.com/smartsystemslab-uf/MANTIS</a:t>
            </a:r>
          </a:p>
        </p:txBody>
      </p:sp>
      <p:cxnSp>
        <p:nvCxnSpPr>
          <p:cNvPr id="9" name="Connector 8"/>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Leading the Charge, Charging Ahead</a:t>
            </a:r>
          </a:p>
        </p:txBody>
      </p:sp>
      <p:sp>
        <p:nvSpPr>
          <p:cNvPr id="12" name="TextBox 11"/>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