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companion deck to Paper 2 -- MANTIS Extended.</a:t>
            </a:r>
          </a:p>
          <a:p/>
          <a:p>
            <a:r>
              <a:t>Quick framing: the first MANTIS paper scoped itself narrowly on purpose and named five extensions it deliberately deferred rather than attempted under that schedule. This deck covers all five, each with live evidence, not just a description.</a:t>
            </a:r>
          </a:p>
          <a:p/>
          <a:p>
            <a:r>
              <a:t>Paper 1 and its own deck are unchanged -- this is additive, a second paper building on the first, not a revision of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items on this slide are quoted directly from Paper 1's own coding plan section 11, "Post-Paper Extensions" -- not a list we assembled after the fact. A fifth item on that same list, a Zero Trust Backplane integration, was also explored to the same live-verified standard, but is being carried forward as a separate, dedicated effort with a real independent Zero Trust Backplane project rather than reported as part of this deck's own evidence.</a:t>
            </a:r>
          </a:p>
          <a:p/>
          <a:p>
            <a:r>
              <a:t>Walk the four briefly: more telemetry backends, defensive plugins through the same interface as attacks, more banking processes, and a thin UI over the CLI.</a:t>
            </a:r>
          </a:p>
          <a:p/>
          <a:p>
            <a:r>
              <a:t>Key point: each of the next four sections covers exactly one of these, in the same order, with live evidence for each.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extension: additional observability exporters. All four of the coding plan's named backends are now built, not just Jaeger.</a:t>
            </a:r>
          </a:p>
          <a:p/>
          <a:p>
            <a:r>
              <a:t>Jaeger, Grafana Tempo, and Phoenix all accept OTLP natively over gRPC, so they're the same adapter shape -- a thin wrapper around the TracerProvider Paper 1's OpenTelemetry setup already creates, differing only in endpoint and an optional auth header for their managed cloud offerings. Langfuse is the one that's genuinely different: its ingestion endpoint is HTTP-only and always requires Basic auth, even self-hosted, so that adapter is built on a different OTLP transport package entirely.</a:t>
            </a:r>
          </a:p>
          <a:p/>
          <a:p>
            <a:r>
              <a:t>Enabling any of them is still one line in the observability.export list plus an endpoint -- no code change anywhere in the banking workflow or the hook bus.</a:t>
            </a:r>
          </a:p>
          <a:p/>
          <a:p>
            <a:r>
              <a:t>Key point, and this is the one to land: we verified the failure path, not just the happy path, for all four. And Langfuse got a stronger check than a local no-collector test can offer -- run it with no credentials against the real hosted Langfuse endpoint, and it came back with a genuine 401 Unauthorized over the real network, which confirms the wiring is correct end to end against the actual service.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extension: a concrete guardrail plugin, evaluated through the exact same plugin interface as an attack -- Paper 1 shipped this interface with no implementation behind it.</a:t>
            </a:r>
          </a:p>
          <a:p/>
          <a:p>
            <a:r>
              <a:t>Walk the table top to bottom -- this is a real, live run against a real model, not a simulation. A legitimate $125.50 transfer gets mutated by Paper 1's own tool-mutation attack to $5,000 into an account called HACKER-9999. The guardrail, configured with a $2,000 limit, evaluates that already-mutated call and denies it. The real banking backend never sees it, and the agent correctly tells the customer it's a payment-limit restriction, not a generic failure.</a:t>
            </a:r>
          </a:p>
          <a:p/>
          <a:p>
            <a:r>
              <a:t>Key point on ordering: the guardrail is registered after the attack on the hook bus, specifically so it evaluates what the attack actually did, not the original clean call. A defense that only ever sees clean traffic isn't proving anything.</a:t>
            </a:r>
          </a:p>
          <a:p/>
          <a:p>
            <a:r>
              <a:t>One more detail worth mentioning if asked: we also had to teach the observability layer a new event type, POLICY_EVENT, distinct from ATTACK_INJECTED -- a guardrail denying a call is the system working as intended, not an attack, and the trace now says so explicitly.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extension: a genuinely new banking process, not a new prompt into an existing workflow -- filing and tracking a transaction dispute, as a third route under the front-office router.</a:t>
            </a:r>
          </a:p>
          <a:p/>
          <a:p>
            <a:r>
              <a:t>Worth distinguishing from something that already existed: the chatbot already answers "how do I dispute a transaction" as an FAQ. This is different -- it actually files a real case with a real generated ID, persisted in the same database the manual-review process already uses.</a:t>
            </a:r>
          </a:p>
          <a:p/>
          <a:p>
            <a:r>
              <a:t>The honest part of this story: the first version produced zero tool calls across three consecutive live trials, with correct routing every time. The cause wasn't a code defect -- it was that our scenario prompt never stated a customer id, which the tool needs, and which every other scenario in this codebase states explicitly. We fixed the prompt, not the tool, and the very next live run filed a real case correctly.</a:t>
            </a:r>
          </a:p>
          <a:p/>
          <a:p>
            <a:r>
              <a:t>Key point: a clean exit and correct routing both looked fine; only checking the actual tool-call events revealed nothing had happened.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extension: the minimal UI Paper 1's coding plan named last -- a schema-driven editor and trace viewer, explicitly constrained to invoke the same CLI, not implement a second version of anything.</a:t>
            </a:r>
          </a:p>
          <a:p/>
          <a:p>
            <a:r>
              <a:t>The dropdowns for domain, workflow, scenario, and plugin are populated live from the same registries the CLI itself reads from -- not a hardcoded list baked into the page that could quietly drift from the real system.</a:t>
            </a:r>
          </a:p>
          <a:p/>
          <a:p>
            <a:r>
              <a:t>Key point, and we verified this directly rather than assuming it from the code structure: submitted a configuration with a deliberately invalid domain through the UI, and got back the real CLI's own "Unknown domain" error text -- because it's the same subprocess, not a UI-side reimplementation of that check.</a:t>
            </a:r>
          </a:p>
          <a:p/>
          <a:p>
            <a:r>
              <a:t>We also confirmed it as a real running server, not just passing an internal test client -- launched it for real and queried it over HTTP, and it correctly reported the live system: 32 agents, 22 tools, 27 existing run artifacts, at the time we checked.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slide -- every extension checked against real data or a real live run, the same standard Paper 1 set for itself.</a:t>
            </a:r>
          </a:p>
          <a:p/>
          <a:p>
            <a:r>
              <a:t>The offline suite stands at 139 tests -- covering all four extensions, including the three additional exporters added in this revision -- all still running in under a minute with no live model key required.</a:t>
            </a:r>
          </a:p>
          <a:p/>
          <a:p>
            <a:r>
              <a:t>The three numbers at the bottom are the ones worth pausing on: zero changes required to any of MANTIS's core interfaces to add any of these four extensions -- the plugin and inventory interfaces held up exactly as designed. And one real defect found and fixed along the way, invisible from a clean process exit -- a scenario-prompt gap in the dispute workflow found only by checking the actual tool-call events.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MANTIS Extended.</a:t>
            </a:r>
          </a:p>
          <a:p/>
          <a:p>
            <a:r>
              <a:t>Closing message: the headline result of this second paper isn't any single extension -- it's that Paper 1's plugin and inventory interfaces held up completely unmodified across all four, including a defensive plugin, four separate telemetry backends, a new banking process, and a UI. A fifth item, Zero Trust Backplane integration, was explored to the same standard and is being carried forward as its own dedicated effort with a real independent project, separate from this repository.</a:t>
            </a:r>
          </a:p>
          <a:p/>
          <a:p>
            <a:r>
              <a:t>Everything shown today is reproducible from the checked-in configs in the repository, same as Paper 1. Thank you, and happy to take questions or walk through any extension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66928" y="292608"/>
            <a:ext cx="310896" cy="310896"/>
          </a:xfrm>
          <a:prstGeom prst="roundRect">
            <a:avLst>
              <a:gd name="adj" fmla="val 16000"/>
            </a:avLst>
          </a:prstGeom>
          <a:solidFill>
            <a:srgbClr val="071022"/>
          </a:solidFill>
          <a:ln w="15875">
            <a:solidFill>
              <a:srgbClr val="EEF2F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EEF2F8"/>
                </a:solidFill>
                <a:latin typeface="Arial"/>
              </a:rPr>
              <a:t>UF</a:t>
            </a:r>
          </a:p>
        </p:txBody>
      </p:sp>
      <p:sp>
        <p:nvSpPr>
          <p:cNvPr id="4" name="TextBox 3"/>
          <p:cNvSpPr txBox="1"/>
          <p:nvPr/>
        </p:nvSpPr>
        <p:spPr>
          <a:xfrm>
            <a:off x="969264" y="256032"/>
            <a:ext cx="3291840" cy="384048"/>
          </a:xfrm>
          <a:prstGeom prst="rect">
            <a:avLst/>
          </a:prstGeom>
          <a:noFill/>
        </p:spPr>
        <p:txBody>
          <a:bodyPr wrap="square" anchor="t" lIns="0" rIns="0" tIns="0" bIns="0">
            <a:spAutoFit/>
          </a:bodyPr>
          <a:lstStyle/>
          <a:p>
            <a:pPr algn="l">
              <a:lnSpc>
                <a:spcPct val="100000"/>
              </a:lnSpc>
              <a:spcAft>
                <a:spcPts val="0"/>
              </a:spcAft>
            </a:pPr>
            <a:r>
              <a:rPr sz="1050" b="1" i="0">
                <a:solidFill>
                  <a:srgbClr val="EEF2F8"/>
                </a:solidFill>
                <a:latin typeface="Arial"/>
              </a:rPr>
              <a:t>Herbert Wertheim</a:t>
            </a:r>
          </a:p>
          <a:p>
            <a:pPr algn="l">
              <a:lnSpc>
                <a:spcPct val="100000"/>
              </a:lnSpc>
              <a:spcAft>
                <a:spcPts val="0"/>
              </a:spcAft>
            </a:pPr>
            <a:r>
              <a:rPr sz="900" b="0" i="1">
                <a:solidFill>
                  <a:srgbClr val="AEBBD2"/>
                </a:solidFill>
                <a:latin typeface="Georgia"/>
              </a:rPr>
              <a:t>College of Engineering</a:t>
            </a:r>
          </a:p>
        </p:txBody>
      </p:sp>
      <p:sp>
        <p:nvSpPr>
          <p:cNvPr id="5" name="TextBox 4"/>
          <p:cNvSpPr txBox="1"/>
          <p:nvPr/>
        </p:nvSpPr>
        <p:spPr>
          <a:xfrm>
            <a:off x="566928" y="2331720"/>
            <a:ext cx="8229600" cy="274320"/>
          </a:xfrm>
          <a:prstGeom prst="rect">
            <a:avLst/>
          </a:prstGeom>
          <a:noFill/>
        </p:spPr>
        <p:txBody>
          <a:bodyPr wrap="square" anchor="t" lIns="0" rIns="0" tIns="0" bIns="0">
            <a:spAutoFit/>
          </a:bodyPr>
          <a:lstStyle/>
          <a:p>
            <a:pPr algn="l">
              <a:lnSpc>
                <a:spcPct val="115000"/>
              </a:lnSpc>
            </a:pPr>
            <a:r>
              <a:rPr sz="1100" b="1" i="0">
                <a:solidFill>
                  <a:srgbClr val="FF8A5C"/>
                </a:solidFill>
                <a:latin typeface="Consolas"/>
              </a:rPr>
              <a:t>PAPER 2 — POST-PAPER EXTENSIONS</a:t>
            </a:r>
          </a:p>
        </p:txBody>
      </p:sp>
      <p:sp>
        <p:nvSpPr>
          <p:cNvPr id="6" name="TextBox 5"/>
          <p:cNvSpPr txBox="1"/>
          <p:nvPr/>
        </p:nvSpPr>
        <p:spPr>
          <a:xfrm>
            <a:off x="566928" y="2651760"/>
            <a:ext cx="10607040" cy="1188720"/>
          </a:xfrm>
          <a:prstGeom prst="rect">
            <a:avLst/>
          </a:prstGeom>
          <a:noFill/>
        </p:spPr>
        <p:txBody>
          <a:bodyPr wrap="square" anchor="t" lIns="0" rIns="0" tIns="0" bIns="0">
            <a:spAutoFit/>
          </a:bodyPr>
          <a:lstStyle/>
          <a:p>
            <a:pPr algn="l">
              <a:lnSpc>
                <a:spcPct val="104000"/>
              </a:lnSpc>
            </a:pPr>
            <a:r>
              <a:rPr sz="4800" b="1" i="0">
                <a:solidFill>
                  <a:srgbClr val="EEF2F8"/>
                </a:solidFill>
                <a:latin typeface="Arial Black"/>
              </a:rPr>
              <a:t>MANTIS Extended</a:t>
            </a:r>
          </a:p>
        </p:txBody>
      </p:sp>
      <p:sp>
        <p:nvSpPr>
          <p:cNvPr id="7" name="TextBox 6"/>
          <p:cNvSpPr txBox="1"/>
          <p:nvPr/>
        </p:nvSpPr>
        <p:spPr>
          <a:xfrm>
            <a:off x="566928" y="3429000"/>
            <a:ext cx="9418320" cy="822960"/>
          </a:xfrm>
          <a:prstGeom prst="rect">
            <a:avLst/>
          </a:prstGeom>
          <a:noFill/>
        </p:spPr>
        <p:txBody>
          <a:bodyPr wrap="square" anchor="t" lIns="0" rIns="0" tIns="0" bIns="0">
            <a:spAutoFit/>
          </a:bodyPr>
          <a:lstStyle/>
          <a:p>
            <a:pPr algn="l">
              <a:lnSpc>
                <a:spcPct val="130000"/>
              </a:lnSpc>
            </a:pPr>
            <a:r>
              <a:rPr sz="1450" b="0" i="1">
                <a:solidFill>
                  <a:srgbClr val="AEBBD2"/>
                </a:solidFill>
                <a:latin typeface="Georgia"/>
              </a:rPr>
              <a:t>Five extensions Paper 1 deliberately deferred — additional exporters, security-mechanism</a:t>
            </a:r>
          </a:p>
          <a:p>
            <a:pPr algn="l">
              <a:lnSpc>
                <a:spcPct val="130000"/>
              </a:lnSpc>
            </a:pPr>
            <a:r>
              <a:rPr sz="1450" b="0" i="1">
                <a:solidFill>
                  <a:srgbClr val="AEBBD2"/>
                </a:solidFill>
                <a:latin typeface="Georgia"/>
              </a:rPr>
              <a:t>plugins, a Zero Trust integration surface, new banking workloads, and a minimal UI — each built,</a:t>
            </a:r>
          </a:p>
          <a:p>
            <a:pPr algn="l">
              <a:lnSpc>
                <a:spcPct val="130000"/>
              </a:lnSpc>
            </a:pPr>
            <a:r>
              <a:rPr sz="1450" b="0" i="1">
                <a:solidFill>
                  <a:srgbClr val="AEBBD2"/>
                </a:solidFill>
                <a:latin typeface="Georgia"/>
              </a:rPr>
              <a:t>each live-verified.</a:t>
            </a:r>
          </a:p>
        </p:txBody>
      </p:sp>
      <p:cxnSp>
        <p:nvCxnSpPr>
          <p:cNvPr id="8" name="Connector 7"/>
          <p:cNvCxnSpPr/>
          <p:nvPr/>
        </p:nvCxnSpPr>
        <p:spPr>
          <a:xfrm>
            <a:off x="566928" y="6382512"/>
            <a:ext cx="2377440" cy="0"/>
          </a:xfrm>
          <a:prstGeom prst="line">
            <a:avLst/>
          </a:prstGeom>
          <a:ln w="9525">
            <a:solidFill>
              <a:srgbClr val="7E8FA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326880" y="6382512"/>
            <a:ext cx="2286000" cy="0"/>
          </a:xfrm>
          <a:prstGeom prst="line">
            <a:avLst/>
          </a:prstGeom>
          <a:ln w="9525">
            <a:solidFill>
              <a:srgbClr val="7E8FA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017520" y="6281928"/>
            <a:ext cx="6217920" cy="256032"/>
          </a:xfrm>
          <a:prstGeom prst="rect">
            <a:avLst/>
          </a:prstGeom>
          <a:noFill/>
        </p:spPr>
        <p:txBody>
          <a:bodyPr wrap="square" anchor="t" lIns="0" rIns="0" tIns="0" bIns="0">
            <a:spAutoFit/>
          </a:bodyPr>
          <a:lstStyle/>
          <a:p>
            <a:pPr algn="ctr">
              <a:lnSpc>
                <a:spcPct val="115000"/>
              </a:lnSpc>
            </a:pPr>
            <a:r>
              <a:rPr sz="800" b="0" i="0">
                <a:solidFill>
                  <a:srgbClr val="7E8FAE"/>
                </a:solidFill>
                <a:latin typeface="Consolas"/>
              </a:rPr>
              <a:t>smartsystemslab-uf/MANTIS · Paper 2</a:t>
            </a:r>
          </a:p>
        </p:txBody>
      </p:sp>
      <p:sp>
        <p:nvSpPr>
          <p:cNvPr id="11" name="TextBox 10"/>
          <p:cNvSpPr txBox="1"/>
          <p:nvPr/>
        </p:nvSpPr>
        <p:spPr>
          <a:xfrm>
            <a:off x="11430000" y="6281928"/>
            <a:ext cx="548640" cy="256032"/>
          </a:xfrm>
          <a:prstGeom prst="rect">
            <a:avLst/>
          </a:prstGeom>
          <a:noFill/>
        </p:spPr>
        <p:txBody>
          <a:bodyPr wrap="square" anchor="t" lIns="0" rIns="0" tIns="0" bIns="0">
            <a:spAutoFit/>
          </a:bodyPr>
          <a:lstStyle/>
          <a:p>
            <a:pPr algn="r">
              <a:lnSpc>
                <a:spcPct val="115000"/>
              </a:lnSpc>
            </a:pPr>
            <a:r>
              <a:rPr sz="900" b="1" i="0">
                <a:solidFill>
                  <a:srgbClr val="AEBBD2"/>
                </a:solidFill>
                <a:latin typeface="Consola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66928" y="292608"/>
            <a:ext cx="310896" cy="310896"/>
          </a:xfrm>
          <a:prstGeom prst="roundRect">
            <a:avLst>
              <a:gd name="adj" fmla="val 16000"/>
            </a:avLst>
          </a:prstGeom>
          <a:solidFill>
            <a:srgbClr val="071022"/>
          </a:solidFill>
          <a:ln w="15875">
            <a:solidFill>
              <a:srgbClr val="EEF2F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EEF2F8"/>
                </a:solidFill>
                <a:latin typeface="Arial"/>
              </a:rPr>
              <a:t>UF</a:t>
            </a:r>
          </a:p>
        </p:txBody>
      </p:sp>
      <p:sp>
        <p:nvSpPr>
          <p:cNvPr id="4" name="TextBox 3"/>
          <p:cNvSpPr txBox="1"/>
          <p:nvPr/>
        </p:nvSpPr>
        <p:spPr>
          <a:xfrm>
            <a:off x="969264" y="256032"/>
            <a:ext cx="3291840" cy="384048"/>
          </a:xfrm>
          <a:prstGeom prst="rect">
            <a:avLst/>
          </a:prstGeom>
          <a:noFill/>
        </p:spPr>
        <p:txBody>
          <a:bodyPr wrap="square" anchor="t" lIns="0" rIns="0" tIns="0" bIns="0">
            <a:spAutoFit/>
          </a:bodyPr>
          <a:lstStyle/>
          <a:p>
            <a:pPr algn="l">
              <a:lnSpc>
                <a:spcPct val="100000"/>
              </a:lnSpc>
              <a:spcAft>
                <a:spcPts val="0"/>
              </a:spcAft>
            </a:pPr>
            <a:r>
              <a:rPr sz="1050" b="1" i="0">
                <a:solidFill>
                  <a:srgbClr val="EEF2F8"/>
                </a:solidFill>
                <a:latin typeface="Arial"/>
              </a:rPr>
              <a:t>Herbert Wertheim</a:t>
            </a:r>
          </a:p>
          <a:p>
            <a:pPr algn="l">
              <a:lnSpc>
                <a:spcPct val="100000"/>
              </a:lnSpc>
              <a:spcAft>
                <a:spcPts val="0"/>
              </a:spcAft>
            </a:pPr>
            <a:r>
              <a:rPr sz="900" b="0" i="1">
                <a:solidFill>
                  <a:srgbClr val="AEBBD2"/>
                </a:solidFill>
                <a:latin typeface="Georgia"/>
              </a:rPr>
              <a:t>College of Engineering</a:t>
            </a:r>
          </a:p>
        </p:txBody>
      </p:sp>
      <p:sp>
        <p:nvSpPr>
          <p:cNvPr id="5" name="TextBox 4"/>
          <p:cNvSpPr txBox="1"/>
          <p:nvPr/>
        </p:nvSpPr>
        <p:spPr>
          <a:xfrm>
            <a:off x="566928" y="896112"/>
            <a:ext cx="8229600" cy="274320"/>
          </a:xfrm>
          <a:prstGeom prst="rect">
            <a:avLst/>
          </a:prstGeom>
          <a:noFill/>
        </p:spPr>
        <p:txBody>
          <a:bodyPr wrap="square" anchor="t" lIns="0" rIns="0" tIns="0" bIns="0">
            <a:spAutoFit/>
          </a:bodyPr>
          <a:lstStyle/>
          <a:p>
            <a:pPr algn="l">
              <a:lnSpc>
                <a:spcPct val="115000"/>
              </a:lnSpc>
            </a:pPr>
            <a:r>
              <a:rPr sz="1100" b="1" i="0">
                <a:solidFill>
                  <a:srgbClr val="FF8A5C"/>
                </a:solidFill>
                <a:latin typeface="Consolas"/>
              </a:rPr>
              <a:t>WHERE PAPER 1 LEFT OFF</a:t>
            </a:r>
          </a:p>
        </p:txBody>
      </p:sp>
      <p:sp>
        <p:nvSpPr>
          <p:cNvPr id="6" name="TextBox 5"/>
          <p:cNvSpPr txBox="1"/>
          <p:nvPr/>
        </p:nvSpPr>
        <p:spPr>
          <a:xfrm>
            <a:off x="566928" y="1115568"/>
            <a:ext cx="10607040" cy="1188720"/>
          </a:xfrm>
          <a:prstGeom prst="rect">
            <a:avLst/>
          </a:prstGeom>
          <a:noFill/>
        </p:spPr>
        <p:txBody>
          <a:bodyPr wrap="square" anchor="t" lIns="0" rIns="0" tIns="0" bIns="0">
            <a:spAutoFit/>
          </a:bodyPr>
          <a:lstStyle/>
          <a:p>
            <a:pPr algn="l">
              <a:lnSpc>
                <a:spcPct val="104000"/>
              </a:lnSpc>
            </a:pPr>
            <a:r>
              <a:rPr sz="2400" b="1" i="0">
                <a:solidFill>
                  <a:srgbClr val="EEF2F8"/>
                </a:solidFill>
                <a:latin typeface="Arial Black"/>
              </a:rPr>
              <a:t>Four extensions, named and deferred on purpose</a:t>
            </a:r>
          </a:p>
        </p:txBody>
      </p:sp>
      <p:sp>
        <p:nvSpPr>
          <p:cNvPr id="7" name="TextBox 6"/>
          <p:cNvSpPr txBox="1"/>
          <p:nvPr/>
        </p:nvSpPr>
        <p:spPr>
          <a:xfrm>
            <a:off x="566928" y="1627632"/>
            <a:ext cx="9601200" cy="457200"/>
          </a:xfrm>
          <a:prstGeom prst="rect">
            <a:avLst/>
          </a:prstGeom>
          <a:noFill/>
        </p:spPr>
        <p:txBody>
          <a:bodyPr wrap="square" anchor="t" lIns="0" rIns="0" tIns="0" bIns="0">
            <a:spAutoFit/>
          </a:bodyPr>
          <a:lstStyle/>
          <a:p>
            <a:pPr algn="l">
              <a:lnSpc>
                <a:spcPct val="115000"/>
              </a:lnSpc>
            </a:pPr>
            <a:r>
              <a:rPr sz="1350" b="0" i="1">
                <a:solidFill>
                  <a:srgbClr val="AEBBD2"/>
                </a:solidFill>
                <a:latin typeface="Georgia"/>
              </a:rPr>
              <a:t>Paper 1's own coding plan listed these explicitly — not gaps found later, but scope cut deliberately to ship on schedule.</a:t>
            </a:r>
          </a:p>
        </p:txBody>
      </p:sp>
      <p:sp>
        <p:nvSpPr>
          <p:cNvPr id="8" name="Rounded Rectangle 7"/>
          <p:cNvSpPr/>
          <p:nvPr/>
        </p:nvSpPr>
        <p:spPr>
          <a:xfrm>
            <a:off x="566928" y="2286000"/>
            <a:ext cx="2606040" cy="3566160"/>
          </a:xfrm>
          <a:prstGeom prst="roundRect">
            <a:avLst>
              <a:gd name="adj" fmla="val 7000"/>
            </a:avLst>
          </a:prstGeom>
          <a:solidFill>
            <a:srgbClr val="14274A"/>
          </a:solidFill>
          <a:ln w="9525">
            <a:solidFill>
              <a:srgbClr val="2E4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404872"/>
            <a:ext cx="2276856" cy="274320"/>
          </a:xfrm>
          <a:prstGeom prst="rect">
            <a:avLst/>
          </a:prstGeom>
          <a:noFill/>
        </p:spPr>
        <p:txBody>
          <a:bodyPr wrap="square" anchor="t" lIns="0" rIns="0" tIns="0" bIns="0">
            <a:spAutoFit/>
          </a:bodyPr>
          <a:lstStyle/>
          <a:p>
            <a:pPr algn="l">
              <a:lnSpc>
                <a:spcPct val="115000"/>
              </a:lnSpc>
            </a:pPr>
            <a:r>
              <a:rPr sz="1250" b="1" i="0">
                <a:solidFill>
                  <a:srgbClr val="EEF2F8"/>
                </a:solidFill>
                <a:latin typeface="Arial"/>
              </a:rPr>
              <a:t>Additional exporters</a:t>
            </a:r>
          </a:p>
        </p:txBody>
      </p:sp>
      <p:sp>
        <p:nvSpPr>
          <p:cNvPr id="10" name="TextBox 9"/>
          <p:cNvSpPr txBox="1"/>
          <p:nvPr/>
        </p:nvSpPr>
        <p:spPr>
          <a:xfrm>
            <a:off x="731520" y="2724912"/>
            <a:ext cx="2276856" cy="3017520"/>
          </a:xfrm>
          <a:prstGeom prst="rect">
            <a:avLst/>
          </a:prstGeom>
          <a:noFill/>
        </p:spPr>
        <p:txBody>
          <a:bodyPr wrap="square" anchor="t" lIns="0" rIns="0" tIns="0" bIns="0">
            <a:spAutoFit/>
          </a:bodyPr>
          <a:lstStyle/>
          <a:p>
            <a:pPr algn="l">
              <a:lnSpc>
                <a:spcPct val="122000"/>
              </a:lnSpc>
            </a:pPr>
            <a:r>
              <a:rPr sz="1050" b="0" i="0">
                <a:solidFill>
                  <a:srgbClr val="AEBBD2"/>
                </a:solidFill>
                <a:latin typeface="Arial"/>
              </a:rPr>
              <a:t>Jaeger, Grafana, Langfuse, Phoenix — beyond the OTel/MLflow/JSONL Paper 1 shipped.</a:t>
            </a:r>
          </a:p>
        </p:txBody>
      </p:sp>
      <p:sp>
        <p:nvSpPr>
          <p:cNvPr id="11" name="Rounded Rectangle 10"/>
          <p:cNvSpPr/>
          <p:nvPr/>
        </p:nvSpPr>
        <p:spPr>
          <a:xfrm>
            <a:off x="3310128" y="2286000"/>
            <a:ext cx="2606040" cy="3566160"/>
          </a:xfrm>
          <a:prstGeom prst="roundRect">
            <a:avLst>
              <a:gd name="adj" fmla="val 7000"/>
            </a:avLst>
          </a:prstGeom>
          <a:solidFill>
            <a:srgbClr val="14274A"/>
          </a:solidFill>
          <a:ln w="9525">
            <a:solidFill>
              <a:srgbClr val="2E4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2404872"/>
            <a:ext cx="2276856" cy="274320"/>
          </a:xfrm>
          <a:prstGeom prst="rect">
            <a:avLst/>
          </a:prstGeom>
          <a:noFill/>
        </p:spPr>
        <p:txBody>
          <a:bodyPr wrap="square" anchor="t" lIns="0" rIns="0" tIns="0" bIns="0">
            <a:spAutoFit/>
          </a:bodyPr>
          <a:lstStyle/>
          <a:p>
            <a:pPr algn="l">
              <a:lnSpc>
                <a:spcPct val="115000"/>
              </a:lnSpc>
            </a:pPr>
            <a:r>
              <a:rPr sz="1250" b="1" i="0">
                <a:solidFill>
                  <a:srgbClr val="EEF2F8"/>
                </a:solidFill>
                <a:latin typeface="Arial"/>
              </a:rPr>
              <a:t>Security mechanism plugins</a:t>
            </a:r>
          </a:p>
        </p:txBody>
      </p:sp>
      <p:sp>
        <p:nvSpPr>
          <p:cNvPr id="13" name="TextBox 12"/>
          <p:cNvSpPr txBox="1"/>
          <p:nvPr/>
        </p:nvSpPr>
        <p:spPr>
          <a:xfrm>
            <a:off x="3474720" y="2724912"/>
            <a:ext cx="2276856" cy="3017520"/>
          </a:xfrm>
          <a:prstGeom prst="rect">
            <a:avLst/>
          </a:prstGeom>
          <a:noFill/>
        </p:spPr>
        <p:txBody>
          <a:bodyPr wrap="square" anchor="t" lIns="0" rIns="0" tIns="0" bIns="0">
            <a:spAutoFit/>
          </a:bodyPr>
          <a:lstStyle/>
          <a:p>
            <a:pPr algn="l">
              <a:lnSpc>
                <a:spcPct val="122000"/>
              </a:lnSpc>
            </a:pPr>
            <a:r>
              <a:rPr sz="1050" b="0" i="0">
                <a:solidFill>
                  <a:srgbClr val="AEBBD2"/>
                </a:solidFill>
                <a:latin typeface="Arial"/>
              </a:rPr>
              <a:t>Guardrails, policy checks, rate limits — evaluated through the same framework as attacks.</a:t>
            </a:r>
          </a:p>
        </p:txBody>
      </p:sp>
      <p:sp>
        <p:nvSpPr>
          <p:cNvPr id="14" name="Rounded Rectangle 13"/>
          <p:cNvSpPr/>
          <p:nvPr/>
        </p:nvSpPr>
        <p:spPr>
          <a:xfrm>
            <a:off x="6053328" y="2286000"/>
            <a:ext cx="2606040" cy="3566160"/>
          </a:xfrm>
          <a:prstGeom prst="roundRect">
            <a:avLst>
              <a:gd name="adj" fmla="val 7000"/>
            </a:avLst>
          </a:prstGeom>
          <a:solidFill>
            <a:srgbClr val="14274A"/>
          </a:solidFill>
          <a:ln w="9525">
            <a:solidFill>
              <a:srgbClr val="2E4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2404872"/>
            <a:ext cx="2276856" cy="274320"/>
          </a:xfrm>
          <a:prstGeom prst="rect">
            <a:avLst/>
          </a:prstGeom>
          <a:noFill/>
        </p:spPr>
        <p:txBody>
          <a:bodyPr wrap="square" anchor="t" lIns="0" rIns="0" tIns="0" bIns="0">
            <a:spAutoFit/>
          </a:bodyPr>
          <a:lstStyle/>
          <a:p>
            <a:pPr algn="l">
              <a:lnSpc>
                <a:spcPct val="115000"/>
              </a:lnSpc>
            </a:pPr>
            <a:r>
              <a:rPr sz="1250" b="1" i="0">
                <a:solidFill>
                  <a:srgbClr val="EEF2F8"/>
                </a:solidFill>
                <a:latin typeface="Arial"/>
              </a:rPr>
              <a:t>Additional banking workloads</a:t>
            </a:r>
          </a:p>
        </p:txBody>
      </p:sp>
      <p:sp>
        <p:nvSpPr>
          <p:cNvPr id="16" name="TextBox 15"/>
          <p:cNvSpPr txBox="1"/>
          <p:nvPr/>
        </p:nvSpPr>
        <p:spPr>
          <a:xfrm>
            <a:off x="6217920" y="2724912"/>
            <a:ext cx="2276856" cy="3017520"/>
          </a:xfrm>
          <a:prstGeom prst="rect">
            <a:avLst/>
          </a:prstGeom>
          <a:noFill/>
        </p:spPr>
        <p:txBody>
          <a:bodyPr wrap="square" anchor="t" lIns="0" rIns="0" tIns="0" bIns="0">
            <a:spAutoFit/>
          </a:bodyPr>
          <a:lstStyle/>
          <a:p>
            <a:pPr algn="l">
              <a:lnSpc>
                <a:spcPct val="122000"/>
              </a:lnSpc>
            </a:pPr>
            <a:r>
              <a:rPr sz="1050" b="0" i="0">
                <a:solidFill>
                  <a:srgbClr val="AEBBD2"/>
                </a:solidFill>
                <a:latin typeface="Arial"/>
              </a:rPr>
              <a:t>More banking processes and workflow patterns beyond Paper 1's evaluation set.</a:t>
            </a:r>
          </a:p>
        </p:txBody>
      </p:sp>
      <p:sp>
        <p:nvSpPr>
          <p:cNvPr id="17" name="Rounded Rectangle 16"/>
          <p:cNvSpPr/>
          <p:nvPr/>
        </p:nvSpPr>
        <p:spPr>
          <a:xfrm>
            <a:off x="8796528" y="2286000"/>
            <a:ext cx="2606040" cy="3566160"/>
          </a:xfrm>
          <a:prstGeom prst="roundRect">
            <a:avLst>
              <a:gd name="adj" fmla="val 7000"/>
            </a:avLst>
          </a:prstGeom>
          <a:solidFill>
            <a:srgbClr val="14274A"/>
          </a:solidFill>
          <a:ln w="9525">
            <a:solidFill>
              <a:srgbClr val="2E4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0" y="2404872"/>
            <a:ext cx="2276856" cy="274320"/>
          </a:xfrm>
          <a:prstGeom prst="rect">
            <a:avLst/>
          </a:prstGeom>
          <a:noFill/>
        </p:spPr>
        <p:txBody>
          <a:bodyPr wrap="square" anchor="t" lIns="0" rIns="0" tIns="0" bIns="0">
            <a:spAutoFit/>
          </a:bodyPr>
          <a:lstStyle/>
          <a:p>
            <a:pPr algn="l">
              <a:lnSpc>
                <a:spcPct val="115000"/>
              </a:lnSpc>
            </a:pPr>
            <a:r>
              <a:rPr sz="1250" b="1" i="0">
                <a:solidFill>
                  <a:srgbClr val="EEF2F8"/>
                </a:solidFill>
                <a:latin typeface="Arial"/>
              </a:rPr>
              <a:t>Minimal UI</a:t>
            </a:r>
          </a:p>
        </p:txBody>
      </p:sp>
      <p:sp>
        <p:nvSpPr>
          <p:cNvPr id="19" name="TextBox 18"/>
          <p:cNvSpPr txBox="1"/>
          <p:nvPr/>
        </p:nvSpPr>
        <p:spPr>
          <a:xfrm>
            <a:off x="8961120" y="2724912"/>
            <a:ext cx="2276856" cy="3017520"/>
          </a:xfrm>
          <a:prstGeom prst="rect">
            <a:avLst/>
          </a:prstGeom>
          <a:noFill/>
        </p:spPr>
        <p:txBody>
          <a:bodyPr wrap="square" anchor="t" lIns="0" rIns="0" tIns="0" bIns="0">
            <a:spAutoFit/>
          </a:bodyPr>
          <a:lstStyle/>
          <a:p>
            <a:pPr algn="l">
              <a:lnSpc>
                <a:spcPct val="122000"/>
              </a:lnSpc>
            </a:pPr>
            <a:r>
              <a:rPr sz="1050" b="0" i="0">
                <a:solidFill>
                  <a:srgbClr val="AEBBD2"/>
                </a:solidFill>
                <a:latin typeface="Arial"/>
              </a:rPr>
              <a:t>A schema-driven editor and trace viewer over the existing CLI — no separate business logic.</a:t>
            </a:r>
          </a:p>
        </p:txBody>
      </p:sp>
      <p:cxnSp>
        <p:nvCxnSpPr>
          <p:cNvPr id="20" name="Connector 19"/>
          <p:cNvCxnSpPr/>
          <p:nvPr/>
        </p:nvCxnSpPr>
        <p:spPr>
          <a:xfrm>
            <a:off x="566928" y="6382512"/>
            <a:ext cx="2377440" cy="0"/>
          </a:xfrm>
          <a:prstGeom prst="line">
            <a:avLst/>
          </a:prstGeom>
          <a:ln w="9525">
            <a:solidFill>
              <a:srgbClr val="7E8FA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326880" y="6382512"/>
            <a:ext cx="2286000" cy="0"/>
          </a:xfrm>
          <a:prstGeom prst="line">
            <a:avLst/>
          </a:prstGeom>
          <a:ln w="9525">
            <a:solidFill>
              <a:srgbClr val="7E8FA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017520" y="6281928"/>
            <a:ext cx="6217920" cy="256032"/>
          </a:xfrm>
          <a:prstGeom prst="rect">
            <a:avLst/>
          </a:prstGeom>
          <a:noFill/>
        </p:spPr>
        <p:txBody>
          <a:bodyPr wrap="square" anchor="t" lIns="0" rIns="0" tIns="0" bIns="0">
            <a:spAutoFit/>
          </a:bodyPr>
          <a:lstStyle/>
          <a:p>
            <a:pPr algn="ctr">
              <a:lnSpc>
                <a:spcPct val="115000"/>
              </a:lnSpc>
            </a:pPr>
            <a:r>
              <a:rPr sz="800" b="0" i="0">
                <a:solidFill>
                  <a:srgbClr val="7E8FAE"/>
                </a:solidFill>
                <a:latin typeface="Consolas"/>
              </a:rPr>
              <a:t>MANTIS EXTENDED — POST-PAPER EXTENSIONS</a:t>
            </a:r>
          </a:p>
        </p:txBody>
      </p:sp>
      <p:sp>
        <p:nvSpPr>
          <p:cNvPr id="23" name="TextBox 22"/>
          <p:cNvSpPr txBox="1"/>
          <p:nvPr/>
        </p:nvSpPr>
        <p:spPr>
          <a:xfrm>
            <a:off x="11430000" y="6281928"/>
            <a:ext cx="548640" cy="256032"/>
          </a:xfrm>
          <a:prstGeom prst="rect">
            <a:avLst/>
          </a:prstGeom>
          <a:noFill/>
        </p:spPr>
        <p:txBody>
          <a:bodyPr wrap="square" anchor="t" lIns="0" rIns="0" tIns="0" bIns="0">
            <a:spAutoFit/>
          </a:bodyPr>
          <a:lstStyle/>
          <a:p>
            <a:pPr algn="r">
              <a:lnSpc>
                <a:spcPct val="115000"/>
              </a:lnSpc>
            </a:pPr>
            <a:r>
              <a:rPr sz="900" b="1" i="0">
                <a:solidFill>
                  <a:srgbClr val="AEBBD2"/>
                </a:solidFill>
                <a:latin typeface="Consola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66928" y="292608"/>
            <a:ext cx="310896" cy="310896"/>
          </a:xfrm>
          <a:prstGeom prst="roundRect">
            <a:avLst>
              <a:gd name="adj" fmla="val 16000"/>
            </a:avLst>
          </a:prstGeom>
          <a:solidFill>
            <a:srgbClr val="071022"/>
          </a:solidFill>
          <a:ln w="15875">
            <a:solidFill>
              <a:srgbClr val="EEF2F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EEF2F8"/>
                </a:solidFill>
                <a:latin typeface="Arial"/>
              </a:rPr>
              <a:t>UF</a:t>
            </a:r>
          </a:p>
        </p:txBody>
      </p:sp>
      <p:sp>
        <p:nvSpPr>
          <p:cNvPr id="4" name="TextBox 3"/>
          <p:cNvSpPr txBox="1"/>
          <p:nvPr/>
        </p:nvSpPr>
        <p:spPr>
          <a:xfrm>
            <a:off x="969264" y="256032"/>
            <a:ext cx="3291840" cy="384048"/>
          </a:xfrm>
          <a:prstGeom prst="rect">
            <a:avLst/>
          </a:prstGeom>
          <a:noFill/>
        </p:spPr>
        <p:txBody>
          <a:bodyPr wrap="square" anchor="t" lIns="0" rIns="0" tIns="0" bIns="0">
            <a:spAutoFit/>
          </a:bodyPr>
          <a:lstStyle/>
          <a:p>
            <a:pPr algn="l">
              <a:lnSpc>
                <a:spcPct val="100000"/>
              </a:lnSpc>
              <a:spcAft>
                <a:spcPts val="0"/>
              </a:spcAft>
            </a:pPr>
            <a:r>
              <a:rPr sz="1050" b="1" i="0">
                <a:solidFill>
                  <a:srgbClr val="EEF2F8"/>
                </a:solidFill>
                <a:latin typeface="Arial"/>
              </a:rPr>
              <a:t>Herbert Wertheim</a:t>
            </a:r>
          </a:p>
          <a:p>
            <a:pPr algn="l">
              <a:lnSpc>
                <a:spcPct val="100000"/>
              </a:lnSpc>
              <a:spcAft>
                <a:spcPts val="0"/>
              </a:spcAft>
            </a:pPr>
            <a:r>
              <a:rPr sz="900" b="0" i="1">
                <a:solidFill>
                  <a:srgbClr val="AEBBD2"/>
                </a:solidFill>
                <a:latin typeface="Georgia"/>
              </a:rPr>
              <a:t>College of Engineering</a:t>
            </a:r>
          </a:p>
        </p:txBody>
      </p:sp>
      <p:sp>
        <p:nvSpPr>
          <p:cNvPr id="5" name="TextBox 4"/>
          <p:cNvSpPr txBox="1"/>
          <p:nvPr/>
        </p:nvSpPr>
        <p:spPr>
          <a:xfrm>
            <a:off x="566928" y="896112"/>
            <a:ext cx="8229600" cy="274320"/>
          </a:xfrm>
          <a:prstGeom prst="rect">
            <a:avLst/>
          </a:prstGeom>
          <a:noFill/>
        </p:spPr>
        <p:txBody>
          <a:bodyPr wrap="square" anchor="t" lIns="0" rIns="0" tIns="0" bIns="0">
            <a:spAutoFit/>
          </a:bodyPr>
          <a:lstStyle/>
          <a:p>
            <a:pPr algn="l">
              <a:lnSpc>
                <a:spcPct val="115000"/>
              </a:lnSpc>
            </a:pPr>
            <a:r>
              <a:rPr sz="1100" b="1" i="0">
                <a:solidFill>
                  <a:srgbClr val="FF8A5C"/>
                </a:solidFill>
                <a:latin typeface="Consolas"/>
              </a:rPr>
              <a:t>EXTENSION 1 OF 4 — ADDITIONAL EXPORTERS</a:t>
            </a:r>
          </a:p>
        </p:txBody>
      </p:sp>
      <p:sp>
        <p:nvSpPr>
          <p:cNvPr id="6" name="TextBox 5"/>
          <p:cNvSpPr txBox="1"/>
          <p:nvPr/>
        </p:nvSpPr>
        <p:spPr>
          <a:xfrm>
            <a:off x="566928" y="1115568"/>
            <a:ext cx="10607040" cy="1188720"/>
          </a:xfrm>
          <a:prstGeom prst="rect">
            <a:avLst/>
          </a:prstGeom>
          <a:noFill/>
        </p:spPr>
        <p:txBody>
          <a:bodyPr wrap="square" anchor="t" lIns="0" rIns="0" tIns="0" bIns="0">
            <a:spAutoFit/>
          </a:bodyPr>
          <a:lstStyle/>
          <a:p>
            <a:pPr algn="l">
              <a:lnSpc>
                <a:spcPct val="104000"/>
              </a:lnSpc>
            </a:pPr>
            <a:r>
              <a:rPr sz="2200" b="1" i="0">
                <a:solidFill>
                  <a:srgbClr val="EEF2F8"/>
                </a:solidFill>
                <a:latin typeface="Arial Black"/>
              </a:rPr>
              <a:t>Four telemetry backends, one adapter pattern, config-only</a:t>
            </a:r>
          </a:p>
        </p:txBody>
      </p:sp>
      <p:sp>
        <p:nvSpPr>
          <p:cNvPr id="7" name="Rounded Rectangle 6"/>
          <p:cNvSpPr/>
          <p:nvPr/>
        </p:nvSpPr>
        <p:spPr>
          <a:xfrm>
            <a:off x="566928" y="1691640"/>
            <a:ext cx="5349240" cy="2103120"/>
          </a:xfrm>
          <a:prstGeom prst="roundRect">
            <a:avLst>
              <a:gd name="adj" fmla="val 7000"/>
            </a:avLst>
          </a:prstGeom>
          <a:solidFill>
            <a:srgbClr val="14274A"/>
          </a:solidFill>
          <a:ln w="9525">
            <a:solidFill>
              <a:srgbClr val="2E4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10512"/>
            <a:ext cx="5020056" cy="274320"/>
          </a:xfrm>
          <a:prstGeom prst="rect">
            <a:avLst/>
          </a:prstGeom>
          <a:noFill/>
        </p:spPr>
        <p:txBody>
          <a:bodyPr wrap="square" anchor="t" lIns="0" rIns="0" tIns="0" bIns="0">
            <a:spAutoFit/>
          </a:bodyPr>
          <a:lstStyle/>
          <a:p>
            <a:pPr algn="l">
              <a:lnSpc>
                <a:spcPct val="115000"/>
              </a:lnSpc>
            </a:pPr>
            <a:r>
              <a:rPr sz="1250" b="1" i="0">
                <a:solidFill>
                  <a:srgbClr val="EEF2F8"/>
                </a:solidFill>
                <a:latin typeface="Arial"/>
              </a:rPr>
              <a:t>All four built</a:t>
            </a:r>
          </a:p>
        </p:txBody>
      </p:sp>
      <p:sp>
        <p:nvSpPr>
          <p:cNvPr id="9" name="TextBox 8"/>
          <p:cNvSpPr txBox="1"/>
          <p:nvPr/>
        </p:nvSpPr>
        <p:spPr>
          <a:xfrm>
            <a:off x="731520" y="2130552"/>
            <a:ext cx="5020056" cy="1554480"/>
          </a:xfrm>
          <a:prstGeom prst="rect">
            <a:avLst/>
          </a:prstGeom>
          <a:noFill/>
        </p:spPr>
        <p:txBody>
          <a:bodyPr wrap="square" anchor="t" lIns="0" rIns="0" tIns="0" bIns="0">
            <a:spAutoFit/>
          </a:bodyPr>
          <a:lstStyle/>
          <a:p>
            <a:pPr algn="l">
              <a:lnSpc>
                <a:spcPct val="122000"/>
              </a:lnSpc>
            </a:pPr>
            <a:r>
              <a:rPr sz="1050" b="0" i="0">
                <a:solidFill>
                  <a:srgbClr val="AEBBD2"/>
                </a:solidFill>
                <a:latin typeface="Arial"/>
              </a:rPr>
              <a:t>Jaeger, Grafana (Tempo), and Phoenix are the same thin OTLP-over-gRPC wrapper around Paper 1's own TracerProvider, differing only in default endpoint and an optional cloud-auth header. Langfuse genuinely differs — its endpoint is HTTP-only and always requires Basic auth, even self-hosted — so it's built on the OTLP/HTTP exporter instead.</a:t>
            </a:r>
          </a:p>
        </p:txBody>
      </p:sp>
      <p:sp>
        <p:nvSpPr>
          <p:cNvPr id="10" name="Rounded Rectangle 9"/>
          <p:cNvSpPr/>
          <p:nvPr/>
        </p:nvSpPr>
        <p:spPr>
          <a:xfrm>
            <a:off x="6080760" y="1691640"/>
            <a:ext cx="5532120" cy="2103120"/>
          </a:xfrm>
          <a:prstGeom prst="roundRect">
            <a:avLst>
              <a:gd name="adj" fmla="val 7000"/>
            </a:avLst>
          </a:prstGeom>
          <a:solidFill>
            <a:srgbClr val="14274A"/>
          </a:solidFill>
          <a:ln w="9525">
            <a:solidFill>
              <a:srgbClr val="2E4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45352" y="1810512"/>
            <a:ext cx="5202936" cy="274320"/>
          </a:xfrm>
          <a:prstGeom prst="rect">
            <a:avLst/>
          </a:prstGeom>
          <a:noFill/>
        </p:spPr>
        <p:txBody>
          <a:bodyPr wrap="square" anchor="t" lIns="0" rIns="0" tIns="0" bIns="0">
            <a:spAutoFit/>
          </a:bodyPr>
          <a:lstStyle/>
          <a:p>
            <a:pPr algn="l">
              <a:lnSpc>
                <a:spcPct val="115000"/>
              </a:lnSpc>
            </a:pPr>
            <a:r>
              <a:rPr sz="1250" b="1" i="0">
                <a:solidFill>
                  <a:srgbClr val="EEF2F8"/>
                </a:solidFill>
                <a:latin typeface="Arial"/>
              </a:rPr>
              <a:t>How you use it</a:t>
            </a:r>
          </a:p>
        </p:txBody>
      </p:sp>
      <p:sp>
        <p:nvSpPr>
          <p:cNvPr id="12" name="TextBox 11"/>
          <p:cNvSpPr txBox="1"/>
          <p:nvPr/>
        </p:nvSpPr>
        <p:spPr>
          <a:xfrm>
            <a:off x="6245352" y="2130552"/>
            <a:ext cx="5202936" cy="1554480"/>
          </a:xfrm>
          <a:prstGeom prst="rect">
            <a:avLst/>
          </a:prstGeom>
          <a:noFill/>
        </p:spPr>
        <p:txBody>
          <a:bodyPr wrap="square" anchor="t" lIns="0" rIns="0" tIns="0" bIns="0">
            <a:spAutoFit/>
          </a:bodyPr>
          <a:lstStyle/>
          <a:p>
            <a:pPr algn="l">
              <a:lnSpc>
                <a:spcPct val="122000"/>
              </a:lnSpc>
            </a:pPr>
            <a:r>
              <a:rPr sz="1100" b="0" i="0">
                <a:solidFill>
                  <a:srgbClr val="AEBBD2"/>
                </a:solidFill>
                <a:latin typeface="Arial"/>
              </a:rPr>
              <a:t>observability:</a:t>
            </a:r>
          </a:p>
          <a:p>
            <a:pPr algn="l">
              <a:lnSpc>
                <a:spcPct val="122000"/>
              </a:lnSpc>
            </a:pPr>
            <a:r>
              <a:rPr sz="1100" b="0" i="0">
                <a:solidFill>
                  <a:srgbClr val="AEBBD2"/>
                </a:solidFill>
                <a:latin typeface="Arial"/>
              </a:rPr>
              <a:t>  export: [jsonl, jaeger]   # or grafana / phoenix / langfuse</a:t>
            </a:r>
          </a:p>
          <a:p>
            <a:pPr algn="l">
              <a:lnSpc>
                <a:spcPct val="122000"/>
              </a:lnSpc>
            </a:pPr>
            <a:r>
              <a:rPr sz="1100" b="0" i="0">
                <a:solidFill>
                  <a:srgbClr val="AEBBD2"/>
                </a:solidFill>
                <a:latin typeface="Arial"/>
              </a:rPr>
              <a:t>  jaeger_endpoint: http://localhost:4317</a:t>
            </a:r>
          </a:p>
          <a:p>
            <a:pPr algn="l">
              <a:lnSpc>
                <a:spcPct val="122000"/>
              </a:lnSpc>
            </a:pPr>
            <a:r>
              <a:rPr sz="1100" b="0" i="0">
                <a:solidFill>
                  <a:srgbClr val="AEBBD2"/>
                </a:solidFill>
                <a:latin typeface="Arial"/>
              </a:rPr>
              <a:t/>
            </a:r>
          </a:p>
          <a:p>
            <a:pPr algn="l">
              <a:lnSpc>
                <a:spcPct val="122000"/>
              </a:lnSpc>
            </a:pPr>
            <a:r>
              <a:rPr sz="1100" b="0" i="0">
                <a:solidFill>
                  <a:srgbClr val="AEBBD2"/>
                </a:solidFill>
                <a:latin typeface="Arial"/>
              </a:rPr>
              <a:t>No code change to the banking workflow, hook bus, or observability plugin — same one-line pattern for all four.</a:t>
            </a:r>
          </a:p>
        </p:txBody>
      </p:sp>
      <p:sp>
        <p:nvSpPr>
          <p:cNvPr id="13" name="Rounded Rectangle 12"/>
          <p:cNvSpPr/>
          <p:nvPr/>
        </p:nvSpPr>
        <p:spPr>
          <a:xfrm>
            <a:off x="566928" y="3977639"/>
            <a:ext cx="11064240" cy="1783080"/>
          </a:xfrm>
          <a:prstGeom prst="roundRect">
            <a:avLst>
              <a:gd name="adj" fmla="val 7000"/>
            </a:avLst>
          </a:prstGeom>
          <a:solidFill>
            <a:srgbClr val="331E14"/>
          </a:solidFill>
          <a:ln w="9525">
            <a:solidFill>
              <a:srgbClr val="FA46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096511"/>
            <a:ext cx="10735056" cy="274320"/>
          </a:xfrm>
          <a:prstGeom prst="rect">
            <a:avLst/>
          </a:prstGeom>
          <a:noFill/>
        </p:spPr>
        <p:txBody>
          <a:bodyPr wrap="square" anchor="t" lIns="0" rIns="0" tIns="0" bIns="0">
            <a:spAutoFit/>
          </a:bodyPr>
          <a:lstStyle/>
          <a:p>
            <a:pPr algn="l">
              <a:lnSpc>
                <a:spcPct val="115000"/>
              </a:lnSpc>
            </a:pPr>
            <a:r>
              <a:rPr sz="1250" b="1" i="0">
                <a:solidFill>
                  <a:srgbClr val="FF8A5C"/>
                </a:solidFill>
                <a:latin typeface="Arial"/>
              </a:rPr>
              <a:t>Verified: fails silently, and one got a real response back</a:t>
            </a:r>
          </a:p>
        </p:txBody>
      </p:sp>
      <p:sp>
        <p:nvSpPr>
          <p:cNvPr id="15" name="TextBox 14"/>
          <p:cNvSpPr txBox="1"/>
          <p:nvPr/>
        </p:nvSpPr>
        <p:spPr>
          <a:xfrm>
            <a:off x="731520" y="4416551"/>
            <a:ext cx="10735056" cy="1234440"/>
          </a:xfrm>
          <a:prstGeom prst="rect">
            <a:avLst/>
          </a:prstGeom>
          <a:noFill/>
        </p:spPr>
        <p:txBody>
          <a:bodyPr wrap="square" anchor="t" lIns="0" rIns="0" tIns="0" bIns="0">
            <a:spAutoFit/>
          </a:bodyPr>
          <a:lstStyle/>
          <a:p>
            <a:pPr algn="l">
              <a:lnSpc>
                <a:spcPct val="122000"/>
              </a:lnSpc>
            </a:pPr>
            <a:r>
              <a:rPr sz="1100" b="0" i="0">
                <a:solidFill>
                  <a:srgbClr val="EEF2F8"/>
                </a:solidFill>
                <a:latin typeface="Arial"/>
              </a:rPr>
              <a:t>With no collector listening, the SDK's own BatchSpanProcessor retries and logs a warning rather than raising — confirmed for all four. Langfuse got a stronger check: run with no credentials against its real hosted endpoint, it reached cloud.langfuse.com over the network and got back a genuine HTTP 401 — proof the transport and endpoint wiring are correct against the real service, not just an absent local collector.</a:t>
            </a:r>
          </a:p>
        </p:txBody>
      </p:sp>
      <p:cxnSp>
        <p:nvCxnSpPr>
          <p:cNvPr id="16" name="Connector 15"/>
          <p:cNvCxnSpPr/>
          <p:nvPr/>
        </p:nvCxnSpPr>
        <p:spPr>
          <a:xfrm>
            <a:off x="566928" y="6382512"/>
            <a:ext cx="2377440" cy="0"/>
          </a:xfrm>
          <a:prstGeom prst="line">
            <a:avLst/>
          </a:prstGeom>
          <a:ln w="9525">
            <a:solidFill>
              <a:srgbClr val="7E8FA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326880" y="6382512"/>
            <a:ext cx="2286000" cy="0"/>
          </a:xfrm>
          <a:prstGeom prst="line">
            <a:avLst/>
          </a:prstGeom>
          <a:ln w="9525">
            <a:solidFill>
              <a:srgbClr val="7E8FA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017520" y="6281928"/>
            <a:ext cx="6217920" cy="256032"/>
          </a:xfrm>
          <a:prstGeom prst="rect">
            <a:avLst/>
          </a:prstGeom>
          <a:noFill/>
        </p:spPr>
        <p:txBody>
          <a:bodyPr wrap="square" anchor="t" lIns="0" rIns="0" tIns="0" bIns="0">
            <a:spAutoFit/>
          </a:bodyPr>
          <a:lstStyle/>
          <a:p>
            <a:pPr algn="ctr">
              <a:lnSpc>
                <a:spcPct val="115000"/>
              </a:lnSpc>
            </a:pPr>
            <a:r>
              <a:rPr sz="800" b="0" i="0">
                <a:solidFill>
                  <a:srgbClr val="7E8FAE"/>
                </a:solidFill>
                <a:latin typeface="Consolas"/>
              </a:rPr>
              <a:t>MANTIS EXTENDED — POST-PAPER EXTENSIONS</a:t>
            </a:r>
          </a:p>
        </p:txBody>
      </p:sp>
      <p:sp>
        <p:nvSpPr>
          <p:cNvPr id="19" name="TextBox 18"/>
          <p:cNvSpPr txBox="1"/>
          <p:nvPr/>
        </p:nvSpPr>
        <p:spPr>
          <a:xfrm>
            <a:off x="11430000" y="6281928"/>
            <a:ext cx="548640" cy="256032"/>
          </a:xfrm>
          <a:prstGeom prst="rect">
            <a:avLst/>
          </a:prstGeom>
          <a:noFill/>
        </p:spPr>
        <p:txBody>
          <a:bodyPr wrap="square" anchor="t" lIns="0" rIns="0" tIns="0" bIns="0">
            <a:spAutoFit/>
          </a:bodyPr>
          <a:lstStyle/>
          <a:p>
            <a:pPr algn="r">
              <a:lnSpc>
                <a:spcPct val="115000"/>
              </a:lnSpc>
            </a:pPr>
            <a:r>
              <a:rPr sz="900" b="1" i="0">
                <a:solidFill>
                  <a:srgbClr val="AEBBD2"/>
                </a:solidFill>
                <a:latin typeface="Consola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66928" y="292608"/>
            <a:ext cx="310896" cy="310896"/>
          </a:xfrm>
          <a:prstGeom prst="roundRect">
            <a:avLst>
              <a:gd name="adj" fmla="val 16000"/>
            </a:avLst>
          </a:prstGeom>
          <a:solidFill>
            <a:srgbClr val="071022"/>
          </a:solidFill>
          <a:ln w="15875">
            <a:solidFill>
              <a:srgbClr val="EEF2F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EEF2F8"/>
                </a:solidFill>
                <a:latin typeface="Arial"/>
              </a:rPr>
              <a:t>UF</a:t>
            </a:r>
          </a:p>
        </p:txBody>
      </p:sp>
      <p:sp>
        <p:nvSpPr>
          <p:cNvPr id="4" name="TextBox 3"/>
          <p:cNvSpPr txBox="1"/>
          <p:nvPr/>
        </p:nvSpPr>
        <p:spPr>
          <a:xfrm>
            <a:off x="969264" y="256032"/>
            <a:ext cx="3291840" cy="384048"/>
          </a:xfrm>
          <a:prstGeom prst="rect">
            <a:avLst/>
          </a:prstGeom>
          <a:noFill/>
        </p:spPr>
        <p:txBody>
          <a:bodyPr wrap="square" anchor="t" lIns="0" rIns="0" tIns="0" bIns="0">
            <a:spAutoFit/>
          </a:bodyPr>
          <a:lstStyle/>
          <a:p>
            <a:pPr algn="l">
              <a:lnSpc>
                <a:spcPct val="100000"/>
              </a:lnSpc>
              <a:spcAft>
                <a:spcPts val="0"/>
              </a:spcAft>
            </a:pPr>
            <a:r>
              <a:rPr sz="1050" b="1" i="0">
                <a:solidFill>
                  <a:srgbClr val="EEF2F8"/>
                </a:solidFill>
                <a:latin typeface="Arial"/>
              </a:rPr>
              <a:t>Herbert Wertheim</a:t>
            </a:r>
          </a:p>
          <a:p>
            <a:pPr algn="l">
              <a:lnSpc>
                <a:spcPct val="100000"/>
              </a:lnSpc>
              <a:spcAft>
                <a:spcPts val="0"/>
              </a:spcAft>
            </a:pPr>
            <a:r>
              <a:rPr sz="900" b="0" i="1">
                <a:solidFill>
                  <a:srgbClr val="AEBBD2"/>
                </a:solidFill>
                <a:latin typeface="Georgia"/>
              </a:rPr>
              <a:t>College of Engineering</a:t>
            </a:r>
          </a:p>
        </p:txBody>
      </p:sp>
      <p:sp>
        <p:nvSpPr>
          <p:cNvPr id="5" name="TextBox 4"/>
          <p:cNvSpPr txBox="1"/>
          <p:nvPr/>
        </p:nvSpPr>
        <p:spPr>
          <a:xfrm>
            <a:off x="566928" y="896112"/>
            <a:ext cx="8229600" cy="274320"/>
          </a:xfrm>
          <a:prstGeom prst="rect">
            <a:avLst/>
          </a:prstGeom>
          <a:noFill/>
        </p:spPr>
        <p:txBody>
          <a:bodyPr wrap="square" anchor="t" lIns="0" rIns="0" tIns="0" bIns="0">
            <a:spAutoFit/>
          </a:bodyPr>
          <a:lstStyle/>
          <a:p>
            <a:pPr algn="l">
              <a:lnSpc>
                <a:spcPct val="115000"/>
              </a:lnSpc>
            </a:pPr>
            <a:r>
              <a:rPr sz="1100" b="1" i="0">
                <a:solidFill>
                  <a:srgbClr val="FF8A5C"/>
                </a:solidFill>
                <a:latin typeface="Consolas"/>
              </a:rPr>
              <a:t>EXTENSION 2 OF 4 — SECURITY MECHANISM PLUGINS</a:t>
            </a:r>
          </a:p>
        </p:txBody>
      </p:sp>
      <p:sp>
        <p:nvSpPr>
          <p:cNvPr id="6" name="TextBox 5"/>
          <p:cNvSpPr txBox="1"/>
          <p:nvPr/>
        </p:nvSpPr>
        <p:spPr>
          <a:xfrm>
            <a:off x="566928" y="1115568"/>
            <a:ext cx="10607040" cy="1188720"/>
          </a:xfrm>
          <a:prstGeom prst="rect">
            <a:avLst/>
          </a:prstGeom>
          <a:noFill/>
        </p:spPr>
        <p:txBody>
          <a:bodyPr wrap="square" anchor="t" lIns="0" rIns="0" tIns="0" bIns="0">
            <a:spAutoFit/>
          </a:bodyPr>
          <a:lstStyle/>
          <a:p>
            <a:pPr algn="l">
              <a:lnSpc>
                <a:spcPct val="104000"/>
              </a:lnSpc>
            </a:pPr>
            <a:r>
              <a:rPr sz="2300" b="1" i="0">
                <a:solidFill>
                  <a:srgbClr val="EEF2F8"/>
                </a:solidFill>
                <a:latin typeface="Arial Black"/>
              </a:rPr>
              <a:t>A defense, through the same interface as an attack</a:t>
            </a:r>
          </a:p>
        </p:txBody>
      </p:sp>
      <p:graphicFrame>
        <p:nvGraphicFramePr>
          <p:cNvPr id="7" name="Table 6"/>
          <p:cNvGraphicFramePr>
            <a:graphicFrameLocks noGrp="1"/>
          </p:cNvGraphicFramePr>
          <p:nvPr/>
        </p:nvGraphicFramePr>
        <p:xfrm>
          <a:off x="566928" y="1645920"/>
          <a:ext cx="11064239" cy="3017520"/>
        </p:xfrm>
        <a:graphic>
          <a:graphicData uri="http://schemas.openxmlformats.org/drawingml/2006/table">
            <a:tbl>
              <a:tblPr firstRow="0" bandRow="0">
                <a:tableStyleId>{5C22544A-7EE6-4342-B048-85BDC9FD1C3A}</a:tableStyleId>
              </a:tblPr>
              <a:tblGrid>
                <a:gridCol w="2645796"/>
                <a:gridCol w="8418443"/>
              </a:tblGrid>
              <a:tr h="603504">
                <a:tc>
                  <a:txBody>
                    <a:bodyPr/>
                    <a:lstStyle/>
                    <a:p>
                      <a:r>
                        <a:rPr sz="900" b="1">
                          <a:solidFill>
                            <a:srgbClr val="FF8A5C"/>
                          </a:solidFill>
                          <a:latin typeface="Consolas"/>
                        </a:rPr>
                        <a:t>STEP</a:t>
                      </a:r>
                    </a:p>
                  </a:txBody>
                  <a:tcPr marL="82296" marR="82296" marT="45720" marB="45720" anchor="ctr">
                    <a:solidFill>
                      <a:srgbClr val="0D2043"/>
                    </a:solidFill>
                  </a:tcPr>
                </a:tc>
                <a:tc>
                  <a:txBody>
                    <a:bodyPr/>
                    <a:lstStyle/>
                    <a:p>
                      <a:r>
                        <a:rPr sz="900" b="1">
                          <a:solidFill>
                            <a:srgbClr val="FF8A5C"/>
                          </a:solidFill>
                          <a:latin typeface="Consolas"/>
                        </a:rPr>
                        <a:t>WHAT HAPPENED (LIVE, REAL MODEL)</a:t>
                      </a:r>
                    </a:p>
                  </a:txBody>
                  <a:tcPr marL="82296" marR="82296" marT="45720" marB="45720" anchor="ctr">
                    <a:solidFill>
                      <a:srgbClr val="0D2043"/>
                    </a:solidFill>
                  </a:tcPr>
                </a:tc>
              </a:tr>
              <a:tr h="603504">
                <a:tc>
                  <a:txBody>
                    <a:bodyPr wrap="square"/>
                    <a:lstStyle/>
                    <a:p>
                      <a:pPr>
                        <a:lnSpc>
                          <a:spcPct val="108000"/>
                        </a:lnSpc>
                      </a:pPr>
                      <a:r>
                        <a:rPr sz="1150" b="1">
                          <a:solidFill>
                            <a:srgbClr val="EEF2F8"/>
                          </a:solidFill>
                          <a:latin typeface="Arial"/>
                        </a:rPr>
                        <a:t>1. Legitimate call</a:t>
                      </a:r>
                    </a:p>
                  </a:txBody>
                  <a:tcPr marL="82296" marR="82296" marT="54864" marB="54864" anchor="ctr">
                    <a:solidFill>
                      <a:srgbClr val="14274A"/>
                    </a:solidFill>
                  </a:tcPr>
                </a:tc>
                <a:tc>
                  <a:txBody>
                    <a:bodyPr wrap="square"/>
                    <a:lstStyle/>
                    <a:p>
                      <a:pPr>
                        <a:lnSpc>
                          <a:spcPct val="108000"/>
                        </a:lnSpc>
                      </a:pPr>
                      <a:r>
                        <a:rPr sz="1100" b="0">
                          <a:solidFill>
                            <a:srgbClr val="AEBBD2"/>
                          </a:solidFill>
                          <a:latin typeface="Arial"/>
                        </a:rPr>
                        <a:t>execute_transfer called with a real $125.50 transfer, source CHK-002 → EXT-998.</a:t>
                      </a:r>
                    </a:p>
                  </a:txBody>
                  <a:tcPr marL="82296" marR="82296" marT="54864" marB="54864" anchor="ctr">
                    <a:solidFill>
                      <a:srgbClr val="14274A"/>
                    </a:solidFill>
                  </a:tcPr>
                </a:tc>
              </a:tr>
              <a:tr h="603504">
                <a:tc>
                  <a:txBody>
                    <a:bodyPr wrap="square"/>
                    <a:lstStyle/>
                    <a:p>
                      <a:pPr>
                        <a:lnSpc>
                          <a:spcPct val="108000"/>
                        </a:lnSpc>
                      </a:pPr>
                      <a:r>
                        <a:rPr sz="1150" b="1">
                          <a:solidFill>
                            <a:srgbClr val="EEF2F8"/>
                          </a:solidFill>
                          <a:latin typeface="Arial"/>
                        </a:rPr>
                        <a:t>2. Attack mutates it</a:t>
                      </a:r>
                    </a:p>
                  </a:txBody>
                  <a:tcPr marL="82296" marR="82296" marT="54864" marB="54864" anchor="ctr">
                    <a:solidFill>
                      <a:srgbClr val="14274A"/>
                    </a:solidFill>
                  </a:tcPr>
                </a:tc>
                <a:tc>
                  <a:txBody>
                    <a:bodyPr wrap="square"/>
                    <a:lstStyle/>
                    <a:p>
                      <a:pPr>
                        <a:lnSpc>
                          <a:spcPct val="108000"/>
                        </a:lnSpc>
                      </a:pPr>
                      <a:r>
                        <a:rPr sz="1100" b="0">
                          <a:solidFill>
                            <a:srgbClr val="AEBBD2"/>
                          </a:solidFill>
                          <a:latin typeface="Arial"/>
                        </a:rPr>
                        <a:t>tool_mutation (Paper 1's own plugin) rewrites the call to $5,000 → account HACKER-9999.</a:t>
                      </a:r>
                    </a:p>
                  </a:txBody>
                  <a:tcPr marL="82296" marR="82296" marT="54864" marB="54864" anchor="ctr">
                    <a:solidFill>
                      <a:srgbClr val="14274A"/>
                    </a:solidFill>
                  </a:tcPr>
                </a:tc>
              </a:tr>
              <a:tr h="603504">
                <a:tc>
                  <a:txBody>
                    <a:bodyPr wrap="square"/>
                    <a:lstStyle/>
                    <a:p>
                      <a:pPr>
                        <a:lnSpc>
                          <a:spcPct val="108000"/>
                        </a:lnSpc>
                      </a:pPr>
                      <a:r>
                        <a:rPr sz="1150" b="1">
                          <a:solidFill>
                            <a:srgbClr val="EEF2F8"/>
                          </a:solidFill>
                          <a:latin typeface="Arial"/>
                        </a:rPr>
                        <a:t>3. Guardrail evaluates it</a:t>
                      </a:r>
                    </a:p>
                  </a:txBody>
                  <a:tcPr marL="82296" marR="82296" marT="54864" marB="54864" anchor="ctr">
                    <a:solidFill>
                      <a:srgbClr val="14274A"/>
                    </a:solidFill>
                  </a:tcPr>
                </a:tc>
                <a:tc>
                  <a:txBody>
                    <a:bodyPr wrap="square"/>
                    <a:lstStyle/>
                    <a:p>
                      <a:pPr>
                        <a:lnSpc>
                          <a:spcPct val="108000"/>
                        </a:lnSpc>
                      </a:pPr>
                      <a:r>
                        <a:rPr sz="1100" b="0">
                          <a:solidFill>
                            <a:srgbClr val="AEBBD2"/>
                          </a:solidFill>
                          <a:latin typeface="Arial"/>
                        </a:rPr>
                        <a:t>amount_limit_guardrail (max $2,000) sees the already-mutated call and denies it.</a:t>
                      </a:r>
                    </a:p>
                  </a:txBody>
                  <a:tcPr marL="82296" marR="82296" marT="54864" marB="54864" anchor="ctr">
                    <a:solidFill>
                      <a:srgbClr val="14274A"/>
                    </a:solidFill>
                  </a:tcPr>
                </a:tc>
              </a:tr>
              <a:tr h="603504">
                <a:tc>
                  <a:txBody>
                    <a:bodyPr wrap="square"/>
                    <a:lstStyle/>
                    <a:p>
                      <a:pPr>
                        <a:lnSpc>
                          <a:spcPct val="108000"/>
                        </a:lnSpc>
                      </a:pPr>
                      <a:r>
                        <a:rPr sz="1150" b="1">
                          <a:solidFill>
                            <a:srgbClr val="EEF2F8"/>
                          </a:solidFill>
                          <a:latin typeface="Arial"/>
                        </a:rPr>
                        <a:t>4. Backend never sees it</a:t>
                      </a:r>
                    </a:p>
                  </a:txBody>
                  <a:tcPr marL="82296" marR="82296" marT="54864" marB="54864" anchor="ctr">
                    <a:solidFill>
                      <a:srgbClr val="14274A"/>
                    </a:solidFill>
                  </a:tcPr>
                </a:tc>
                <a:tc>
                  <a:txBody>
                    <a:bodyPr wrap="square"/>
                    <a:lstStyle/>
                    <a:p>
                      <a:pPr>
                        <a:lnSpc>
                          <a:spcPct val="108000"/>
                        </a:lnSpc>
                      </a:pPr>
                      <a:r>
                        <a:rPr sz="1100" b="0">
                          <a:solidFill>
                            <a:srgbClr val="AEBBD2"/>
                          </a:solidFill>
                          <a:latin typeface="Arial"/>
                        </a:rPr>
                        <a:t>The call never reaches the banking backend. The agent reports a payment-limit restriction to the customer.</a:t>
                      </a:r>
                    </a:p>
                  </a:txBody>
                  <a:tcPr marL="82296" marR="82296" marT="54864" marB="54864" anchor="ctr">
                    <a:solidFill>
                      <a:srgbClr val="14274A"/>
                    </a:solidFill>
                  </a:tcPr>
                </a:tc>
              </a:tr>
            </a:tbl>
          </a:graphicData>
        </a:graphic>
      </p:graphicFrame>
      <p:sp>
        <p:nvSpPr>
          <p:cNvPr id="8" name="Rounded Rectangle 7"/>
          <p:cNvSpPr/>
          <p:nvPr/>
        </p:nvSpPr>
        <p:spPr>
          <a:xfrm>
            <a:off x="566928" y="4800600"/>
            <a:ext cx="11064240" cy="960120"/>
          </a:xfrm>
          <a:prstGeom prst="roundRect">
            <a:avLst>
              <a:gd name="adj" fmla="val 7000"/>
            </a:avLst>
          </a:prstGeom>
          <a:solidFill>
            <a:srgbClr val="331E14"/>
          </a:solidFill>
          <a:ln w="9525">
            <a:solidFill>
              <a:srgbClr val="FA46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919472"/>
            <a:ext cx="10735056" cy="274320"/>
          </a:xfrm>
          <a:prstGeom prst="rect">
            <a:avLst/>
          </a:prstGeom>
          <a:noFill/>
        </p:spPr>
        <p:txBody>
          <a:bodyPr wrap="square" anchor="t" lIns="0" rIns="0" tIns="0" bIns="0">
            <a:spAutoFit/>
          </a:bodyPr>
          <a:lstStyle/>
          <a:p>
            <a:pPr algn="l">
              <a:lnSpc>
                <a:spcPct val="115000"/>
              </a:lnSpc>
            </a:pPr>
            <a:r>
              <a:rPr sz="1250" b="1" i="0">
                <a:solidFill>
                  <a:srgbClr val="FF8A5C"/>
                </a:solidFill>
                <a:latin typeface="Arial"/>
              </a:rPr>
              <a:t>Why order matters</a:t>
            </a:r>
          </a:p>
        </p:txBody>
      </p:sp>
      <p:sp>
        <p:nvSpPr>
          <p:cNvPr id="10" name="TextBox 9"/>
          <p:cNvSpPr txBox="1"/>
          <p:nvPr/>
        </p:nvSpPr>
        <p:spPr>
          <a:xfrm>
            <a:off x="731520" y="5239512"/>
            <a:ext cx="10735056" cy="411480"/>
          </a:xfrm>
          <a:prstGeom prst="rect">
            <a:avLst/>
          </a:prstGeom>
          <a:noFill/>
        </p:spPr>
        <p:txBody>
          <a:bodyPr wrap="square" anchor="t" lIns="0" rIns="0" tIns="0" bIns="0">
            <a:spAutoFit/>
          </a:bodyPr>
          <a:lstStyle/>
          <a:p>
            <a:pPr algn="l">
              <a:lnSpc>
                <a:spcPct val="122000"/>
              </a:lnSpc>
            </a:pPr>
            <a:r>
              <a:rPr sz="1100" b="0" i="0">
                <a:solidFill>
                  <a:srgbClr val="EEF2F8"/>
                </a:solidFill>
                <a:latin typeface="Arial"/>
              </a:rPr>
              <a:t>Guardrails register on the hook bus after any configured attack — the same reason Paper 1 registers observability last. A defense that only sees the original, unmutated call isn't testing anything real.</a:t>
            </a:r>
          </a:p>
        </p:txBody>
      </p:sp>
      <p:cxnSp>
        <p:nvCxnSpPr>
          <p:cNvPr id="11" name="Connector 10"/>
          <p:cNvCxnSpPr/>
          <p:nvPr/>
        </p:nvCxnSpPr>
        <p:spPr>
          <a:xfrm>
            <a:off x="566928" y="6382512"/>
            <a:ext cx="2377440" cy="0"/>
          </a:xfrm>
          <a:prstGeom prst="line">
            <a:avLst/>
          </a:prstGeom>
          <a:ln w="9525">
            <a:solidFill>
              <a:srgbClr val="7E8FA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326880" y="6382512"/>
            <a:ext cx="2286000" cy="0"/>
          </a:xfrm>
          <a:prstGeom prst="line">
            <a:avLst/>
          </a:prstGeom>
          <a:ln w="9525">
            <a:solidFill>
              <a:srgbClr val="7E8FA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017520" y="6281928"/>
            <a:ext cx="6217920" cy="256032"/>
          </a:xfrm>
          <a:prstGeom prst="rect">
            <a:avLst/>
          </a:prstGeom>
          <a:noFill/>
        </p:spPr>
        <p:txBody>
          <a:bodyPr wrap="square" anchor="t" lIns="0" rIns="0" tIns="0" bIns="0">
            <a:spAutoFit/>
          </a:bodyPr>
          <a:lstStyle/>
          <a:p>
            <a:pPr algn="ctr">
              <a:lnSpc>
                <a:spcPct val="115000"/>
              </a:lnSpc>
            </a:pPr>
            <a:r>
              <a:rPr sz="800" b="0" i="0">
                <a:solidFill>
                  <a:srgbClr val="7E8FAE"/>
                </a:solidFill>
                <a:latin typeface="Consolas"/>
              </a:rPr>
              <a:t>MANTIS EXTENDED — POST-PAPER EXTENSIONS</a:t>
            </a:r>
          </a:p>
        </p:txBody>
      </p:sp>
      <p:sp>
        <p:nvSpPr>
          <p:cNvPr id="14" name="TextBox 13"/>
          <p:cNvSpPr txBox="1"/>
          <p:nvPr/>
        </p:nvSpPr>
        <p:spPr>
          <a:xfrm>
            <a:off x="11430000" y="6281928"/>
            <a:ext cx="548640" cy="256032"/>
          </a:xfrm>
          <a:prstGeom prst="rect">
            <a:avLst/>
          </a:prstGeom>
          <a:noFill/>
        </p:spPr>
        <p:txBody>
          <a:bodyPr wrap="square" anchor="t" lIns="0" rIns="0" tIns="0" bIns="0">
            <a:spAutoFit/>
          </a:bodyPr>
          <a:lstStyle/>
          <a:p>
            <a:pPr algn="r">
              <a:lnSpc>
                <a:spcPct val="115000"/>
              </a:lnSpc>
            </a:pPr>
            <a:r>
              <a:rPr sz="900" b="1" i="0">
                <a:solidFill>
                  <a:srgbClr val="AEBBD2"/>
                </a:solidFill>
                <a:latin typeface="Consola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66928" y="292608"/>
            <a:ext cx="310896" cy="310896"/>
          </a:xfrm>
          <a:prstGeom prst="roundRect">
            <a:avLst>
              <a:gd name="adj" fmla="val 16000"/>
            </a:avLst>
          </a:prstGeom>
          <a:solidFill>
            <a:srgbClr val="071022"/>
          </a:solidFill>
          <a:ln w="15875">
            <a:solidFill>
              <a:srgbClr val="EEF2F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EEF2F8"/>
                </a:solidFill>
                <a:latin typeface="Arial"/>
              </a:rPr>
              <a:t>UF</a:t>
            </a:r>
          </a:p>
        </p:txBody>
      </p:sp>
      <p:sp>
        <p:nvSpPr>
          <p:cNvPr id="4" name="TextBox 3"/>
          <p:cNvSpPr txBox="1"/>
          <p:nvPr/>
        </p:nvSpPr>
        <p:spPr>
          <a:xfrm>
            <a:off x="969264" y="256032"/>
            <a:ext cx="3291840" cy="384048"/>
          </a:xfrm>
          <a:prstGeom prst="rect">
            <a:avLst/>
          </a:prstGeom>
          <a:noFill/>
        </p:spPr>
        <p:txBody>
          <a:bodyPr wrap="square" anchor="t" lIns="0" rIns="0" tIns="0" bIns="0">
            <a:spAutoFit/>
          </a:bodyPr>
          <a:lstStyle/>
          <a:p>
            <a:pPr algn="l">
              <a:lnSpc>
                <a:spcPct val="100000"/>
              </a:lnSpc>
              <a:spcAft>
                <a:spcPts val="0"/>
              </a:spcAft>
            </a:pPr>
            <a:r>
              <a:rPr sz="1050" b="1" i="0">
                <a:solidFill>
                  <a:srgbClr val="EEF2F8"/>
                </a:solidFill>
                <a:latin typeface="Arial"/>
              </a:rPr>
              <a:t>Herbert Wertheim</a:t>
            </a:r>
          </a:p>
          <a:p>
            <a:pPr algn="l">
              <a:lnSpc>
                <a:spcPct val="100000"/>
              </a:lnSpc>
              <a:spcAft>
                <a:spcPts val="0"/>
              </a:spcAft>
            </a:pPr>
            <a:r>
              <a:rPr sz="900" b="0" i="1">
                <a:solidFill>
                  <a:srgbClr val="AEBBD2"/>
                </a:solidFill>
                <a:latin typeface="Georgia"/>
              </a:rPr>
              <a:t>College of Engineering</a:t>
            </a:r>
          </a:p>
        </p:txBody>
      </p:sp>
      <p:sp>
        <p:nvSpPr>
          <p:cNvPr id="5" name="TextBox 4"/>
          <p:cNvSpPr txBox="1"/>
          <p:nvPr/>
        </p:nvSpPr>
        <p:spPr>
          <a:xfrm>
            <a:off x="566928" y="896112"/>
            <a:ext cx="8229600" cy="274320"/>
          </a:xfrm>
          <a:prstGeom prst="rect">
            <a:avLst/>
          </a:prstGeom>
          <a:noFill/>
        </p:spPr>
        <p:txBody>
          <a:bodyPr wrap="square" anchor="t" lIns="0" rIns="0" tIns="0" bIns="0">
            <a:spAutoFit/>
          </a:bodyPr>
          <a:lstStyle/>
          <a:p>
            <a:pPr algn="l">
              <a:lnSpc>
                <a:spcPct val="115000"/>
              </a:lnSpc>
            </a:pPr>
            <a:r>
              <a:rPr sz="1100" b="1" i="0">
                <a:solidFill>
                  <a:srgbClr val="FF8A5C"/>
                </a:solidFill>
                <a:latin typeface="Consolas"/>
              </a:rPr>
              <a:t>EXTENSION 3 OF 4 — ADDITIONAL BANKING WORKLOADS</a:t>
            </a:r>
          </a:p>
        </p:txBody>
      </p:sp>
      <p:sp>
        <p:nvSpPr>
          <p:cNvPr id="6" name="TextBox 5"/>
          <p:cNvSpPr txBox="1"/>
          <p:nvPr/>
        </p:nvSpPr>
        <p:spPr>
          <a:xfrm>
            <a:off x="566928" y="1115568"/>
            <a:ext cx="10607040" cy="1188720"/>
          </a:xfrm>
          <a:prstGeom prst="rect">
            <a:avLst/>
          </a:prstGeom>
          <a:noFill/>
        </p:spPr>
        <p:txBody>
          <a:bodyPr wrap="square" anchor="t" lIns="0" rIns="0" tIns="0" bIns="0">
            <a:spAutoFit/>
          </a:bodyPr>
          <a:lstStyle/>
          <a:p>
            <a:pPr algn="l">
              <a:lnSpc>
                <a:spcPct val="104000"/>
              </a:lnSpc>
            </a:pPr>
            <a:r>
              <a:rPr sz="2300" b="1" i="0">
                <a:solidFill>
                  <a:srgbClr val="EEF2F8"/>
                </a:solidFill>
                <a:latin typeface="Arial Black"/>
              </a:rPr>
              <a:t>A genuinely new process, not a new prompt</a:t>
            </a:r>
          </a:p>
        </p:txBody>
      </p:sp>
      <p:sp>
        <p:nvSpPr>
          <p:cNvPr id="7" name="Rounded Rectangle 6"/>
          <p:cNvSpPr/>
          <p:nvPr/>
        </p:nvSpPr>
        <p:spPr>
          <a:xfrm>
            <a:off x="566928" y="1691640"/>
            <a:ext cx="5349240" cy="2331720"/>
          </a:xfrm>
          <a:prstGeom prst="roundRect">
            <a:avLst>
              <a:gd name="adj" fmla="val 7000"/>
            </a:avLst>
          </a:prstGeom>
          <a:solidFill>
            <a:srgbClr val="14274A"/>
          </a:solidFill>
          <a:ln w="9525">
            <a:solidFill>
              <a:srgbClr val="2E4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10512"/>
            <a:ext cx="5020056" cy="274320"/>
          </a:xfrm>
          <a:prstGeom prst="rect">
            <a:avLst/>
          </a:prstGeom>
          <a:noFill/>
        </p:spPr>
        <p:txBody>
          <a:bodyPr wrap="square" anchor="t" lIns="0" rIns="0" tIns="0" bIns="0">
            <a:spAutoFit/>
          </a:bodyPr>
          <a:lstStyle/>
          <a:p>
            <a:pPr algn="l">
              <a:lnSpc>
                <a:spcPct val="115000"/>
              </a:lnSpc>
            </a:pPr>
            <a:r>
              <a:rPr sz="1250" b="1" i="0">
                <a:solidFill>
                  <a:srgbClr val="EEF2F8"/>
                </a:solidFill>
                <a:latin typeface="Arial"/>
              </a:rPr>
              <a:t>What it is</a:t>
            </a:r>
          </a:p>
        </p:txBody>
      </p:sp>
      <p:sp>
        <p:nvSpPr>
          <p:cNvPr id="9" name="TextBox 8"/>
          <p:cNvSpPr txBox="1"/>
          <p:nvPr/>
        </p:nvSpPr>
        <p:spPr>
          <a:xfrm>
            <a:off x="731520" y="2130552"/>
            <a:ext cx="5020056" cy="1783080"/>
          </a:xfrm>
          <a:prstGeom prst="rect">
            <a:avLst/>
          </a:prstGeom>
          <a:noFill/>
        </p:spPr>
        <p:txBody>
          <a:bodyPr wrap="square" anchor="t" lIns="0" rIns="0" tIns="0" bIns="0">
            <a:spAutoFit/>
          </a:bodyPr>
          <a:lstStyle/>
          <a:p>
            <a:pPr algn="l">
              <a:lnSpc>
                <a:spcPct val="122000"/>
              </a:lnSpc>
            </a:pPr>
            <a:r>
              <a:rPr sz="1100" b="0" i="0">
                <a:solidFill>
                  <a:srgbClr val="AEBBD2"/>
                </a:solidFill>
                <a:latin typeface="Arial"/>
              </a:rPr>
              <a:t>Dispute filing and status lookup — a third route under the front-office router, alongside the existing transaction-review and chatbot workflows. A new tool-backed agent and a real case record, not a new prompt into an existing workflow.</a:t>
            </a:r>
          </a:p>
        </p:txBody>
      </p:sp>
      <p:sp>
        <p:nvSpPr>
          <p:cNvPr id="10" name="Rounded Rectangle 9"/>
          <p:cNvSpPr/>
          <p:nvPr/>
        </p:nvSpPr>
        <p:spPr>
          <a:xfrm>
            <a:off x="6080760" y="1691640"/>
            <a:ext cx="5532120" cy="2331720"/>
          </a:xfrm>
          <a:prstGeom prst="roundRect">
            <a:avLst>
              <a:gd name="adj" fmla="val 7000"/>
            </a:avLst>
          </a:prstGeom>
          <a:solidFill>
            <a:srgbClr val="14274A"/>
          </a:solidFill>
          <a:ln w="9525">
            <a:solidFill>
              <a:srgbClr val="2E4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45352" y="1810512"/>
            <a:ext cx="5202936" cy="274320"/>
          </a:xfrm>
          <a:prstGeom prst="rect">
            <a:avLst/>
          </a:prstGeom>
          <a:noFill/>
        </p:spPr>
        <p:txBody>
          <a:bodyPr wrap="square" anchor="t" lIns="0" rIns="0" tIns="0" bIns="0">
            <a:spAutoFit/>
          </a:bodyPr>
          <a:lstStyle/>
          <a:p>
            <a:pPr algn="l">
              <a:lnSpc>
                <a:spcPct val="115000"/>
              </a:lnSpc>
            </a:pPr>
            <a:r>
              <a:rPr sz="1250" b="1" i="0">
                <a:solidFill>
                  <a:srgbClr val="EEF2F8"/>
                </a:solidFill>
                <a:latin typeface="Arial"/>
              </a:rPr>
              <a:t>Distinct from the existing chatbot</a:t>
            </a:r>
          </a:p>
        </p:txBody>
      </p:sp>
      <p:sp>
        <p:nvSpPr>
          <p:cNvPr id="12" name="TextBox 11"/>
          <p:cNvSpPr txBox="1"/>
          <p:nvPr/>
        </p:nvSpPr>
        <p:spPr>
          <a:xfrm>
            <a:off x="6245352" y="2130552"/>
            <a:ext cx="5202936" cy="1783080"/>
          </a:xfrm>
          <a:prstGeom prst="rect">
            <a:avLst/>
          </a:prstGeom>
          <a:noFill/>
        </p:spPr>
        <p:txBody>
          <a:bodyPr wrap="square" anchor="t" lIns="0" rIns="0" tIns="0" bIns="0">
            <a:spAutoFit/>
          </a:bodyPr>
          <a:lstStyle/>
          <a:p>
            <a:pPr algn="l">
              <a:lnSpc>
                <a:spcPct val="122000"/>
              </a:lnSpc>
            </a:pPr>
            <a:r>
              <a:rPr sz="1100" b="0" i="0">
                <a:solidFill>
                  <a:srgbClr val="AEBBD2"/>
                </a:solidFill>
                <a:latin typeface="Arial"/>
              </a:rPr>
              <a:t>The chatbot already answers "how do I dispute a transaction" as an FAQ. This is different: it actually files a case, persists it, and returns a real dispute ID the customer can reference.</a:t>
            </a:r>
          </a:p>
        </p:txBody>
      </p:sp>
      <p:sp>
        <p:nvSpPr>
          <p:cNvPr id="13" name="Rounded Rectangle 12"/>
          <p:cNvSpPr/>
          <p:nvPr/>
        </p:nvSpPr>
        <p:spPr>
          <a:xfrm>
            <a:off x="566928" y="4160520"/>
            <a:ext cx="11064240" cy="1600200"/>
          </a:xfrm>
          <a:prstGeom prst="roundRect">
            <a:avLst>
              <a:gd name="adj" fmla="val 7000"/>
            </a:avLst>
          </a:prstGeom>
          <a:solidFill>
            <a:srgbClr val="331E14"/>
          </a:solidFill>
          <a:ln w="9525">
            <a:solidFill>
              <a:srgbClr val="FA46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79392"/>
            <a:ext cx="10735056" cy="274320"/>
          </a:xfrm>
          <a:prstGeom prst="rect">
            <a:avLst/>
          </a:prstGeom>
          <a:noFill/>
        </p:spPr>
        <p:txBody>
          <a:bodyPr wrap="square" anchor="t" lIns="0" rIns="0" tIns="0" bIns="0">
            <a:spAutoFit/>
          </a:bodyPr>
          <a:lstStyle/>
          <a:p>
            <a:pPr algn="l">
              <a:lnSpc>
                <a:spcPct val="115000"/>
              </a:lnSpc>
            </a:pPr>
            <a:r>
              <a:rPr sz="1250" b="1" i="0">
                <a:solidFill>
                  <a:srgbClr val="FF8A5C"/>
                </a:solidFill>
                <a:latin typeface="Arial"/>
              </a:rPr>
              <a:t>What three live trials with zero tool calls taught us</a:t>
            </a:r>
          </a:p>
        </p:txBody>
      </p:sp>
      <p:sp>
        <p:nvSpPr>
          <p:cNvPr id="15" name="TextBox 14"/>
          <p:cNvSpPr txBox="1"/>
          <p:nvPr/>
        </p:nvSpPr>
        <p:spPr>
          <a:xfrm>
            <a:off x="731520" y="4599432"/>
            <a:ext cx="10735056" cy="1051560"/>
          </a:xfrm>
          <a:prstGeom prst="rect">
            <a:avLst/>
          </a:prstGeom>
          <a:noFill/>
        </p:spPr>
        <p:txBody>
          <a:bodyPr wrap="square" anchor="t" lIns="0" rIns="0" tIns="0" bIns="0">
            <a:spAutoFit/>
          </a:bodyPr>
          <a:lstStyle/>
          <a:p>
            <a:pPr algn="l">
              <a:lnSpc>
                <a:spcPct val="122000"/>
              </a:lnSpc>
            </a:pPr>
            <a:r>
              <a:rPr sz="1100" b="0" i="0">
                <a:solidFill>
                  <a:srgbClr val="EEF2F8"/>
                </a:solidFill>
                <a:latin typeface="Arial"/>
              </a:rPr>
              <a:t>First attempt: real routing worked, but the agent called no tool at all, three times in a row. Cause: the scenario prompt never stated a customer id, unlike every other scenario in the codebase — and file_dispute needs one. Fixed the prompt, not the tool. Next run: real case filed, real ID returned, correct customer message.</a:t>
            </a:r>
          </a:p>
        </p:txBody>
      </p:sp>
      <p:cxnSp>
        <p:nvCxnSpPr>
          <p:cNvPr id="16" name="Connector 15"/>
          <p:cNvCxnSpPr/>
          <p:nvPr/>
        </p:nvCxnSpPr>
        <p:spPr>
          <a:xfrm>
            <a:off x="566928" y="6382512"/>
            <a:ext cx="2377440" cy="0"/>
          </a:xfrm>
          <a:prstGeom prst="line">
            <a:avLst/>
          </a:prstGeom>
          <a:ln w="9525">
            <a:solidFill>
              <a:srgbClr val="7E8FA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326880" y="6382512"/>
            <a:ext cx="2286000" cy="0"/>
          </a:xfrm>
          <a:prstGeom prst="line">
            <a:avLst/>
          </a:prstGeom>
          <a:ln w="9525">
            <a:solidFill>
              <a:srgbClr val="7E8FA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017520" y="6281928"/>
            <a:ext cx="6217920" cy="256032"/>
          </a:xfrm>
          <a:prstGeom prst="rect">
            <a:avLst/>
          </a:prstGeom>
          <a:noFill/>
        </p:spPr>
        <p:txBody>
          <a:bodyPr wrap="square" anchor="t" lIns="0" rIns="0" tIns="0" bIns="0">
            <a:spAutoFit/>
          </a:bodyPr>
          <a:lstStyle/>
          <a:p>
            <a:pPr algn="ctr">
              <a:lnSpc>
                <a:spcPct val="115000"/>
              </a:lnSpc>
            </a:pPr>
            <a:r>
              <a:rPr sz="800" b="0" i="0">
                <a:solidFill>
                  <a:srgbClr val="7E8FAE"/>
                </a:solidFill>
                <a:latin typeface="Consolas"/>
              </a:rPr>
              <a:t>MANTIS EXTENDED — POST-PAPER EXTENSIONS</a:t>
            </a:r>
          </a:p>
        </p:txBody>
      </p:sp>
      <p:sp>
        <p:nvSpPr>
          <p:cNvPr id="19" name="TextBox 18"/>
          <p:cNvSpPr txBox="1"/>
          <p:nvPr/>
        </p:nvSpPr>
        <p:spPr>
          <a:xfrm>
            <a:off x="11430000" y="6281928"/>
            <a:ext cx="548640" cy="256032"/>
          </a:xfrm>
          <a:prstGeom prst="rect">
            <a:avLst/>
          </a:prstGeom>
          <a:noFill/>
        </p:spPr>
        <p:txBody>
          <a:bodyPr wrap="square" anchor="t" lIns="0" rIns="0" tIns="0" bIns="0">
            <a:spAutoFit/>
          </a:bodyPr>
          <a:lstStyle/>
          <a:p>
            <a:pPr algn="r">
              <a:lnSpc>
                <a:spcPct val="115000"/>
              </a:lnSpc>
            </a:pPr>
            <a:r>
              <a:rPr sz="900" b="1" i="0">
                <a:solidFill>
                  <a:srgbClr val="AEBBD2"/>
                </a:solidFill>
                <a:latin typeface="Consola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66928" y="292608"/>
            <a:ext cx="310896" cy="310896"/>
          </a:xfrm>
          <a:prstGeom prst="roundRect">
            <a:avLst>
              <a:gd name="adj" fmla="val 16000"/>
            </a:avLst>
          </a:prstGeom>
          <a:solidFill>
            <a:srgbClr val="071022"/>
          </a:solidFill>
          <a:ln w="15875">
            <a:solidFill>
              <a:srgbClr val="EEF2F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EEF2F8"/>
                </a:solidFill>
                <a:latin typeface="Arial"/>
              </a:rPr>
              <a:t>UF</a:t>
            </a:r>
          </a:p>
        </p:txBody>
      </p:sp>
      <p:sp>
        <p:nvSpPr>
          <p:cNvPr id="4" name="TextBox 3"/>
          <p:cNvSpPr txBox="1"/>
          <p:nvPr/>
        </p:nvSpPr>
        <p:spPr>
          <a:xfrm>
            <a:off x="969264" y="256032"/>
            <a:ext cx="3291840" cy="384048"/>
          </a:xfrm>
          <a:prstGeom prst="rect">
            <a:avLst/>
          </a:prstGeom>
          <a:noFill/>
        </p:spPr>
        <p:txBody>
          <a:bodyPr wrap="square" anchor="t" lIns="0" rIns="0" tIns="0" bIns="0">
            <a:spAutoFit/>
          </a:bodyPr>
          <a:lstStyle/>
          <a:p>
            <a:pPr algn="l">
              <a:lnSpc>
                <a:spcPct val="100000"/>
              </a:lnSpc>
              <a:spcAft>
                <a:spcPts val="0"/>
              </a:spcAft>
            </a:pPr>
            <a:r>
              <a:rPr sz="1050" b="1" i="0">
                <a:solidFill>
                  <a:srgbClr val="EEF2F8"/>
                </a:solidFill>
                <a:latin typeface="Arial"/>
              </a:rPr>
              <a:t>Herbert Wertheim</a:t>
            </a:r>
          </a:p>
          <a:p>
            <a:pPr algn="l">
              <a:lnSpc>
                <a:spcPct val="100000"/>
              </a:lnSpc>
              <a:spcAft>
                <a:spcPts val="0"/>
              </a:spcAft>
            </a:pPr>
            <a:r>
              <a:rPr sz="900" b="0" i="1">
                <a:solidFill>
                  <a:srgbClr val="AEBBD2"/>
                </a:solidFill>
                <a:latin typeface="Georgia"/>
              </a:rPr>
              <a:t>College of Engineering</a:t>
            </a:r>
          </a:p>
        </p:txBody>
      </p:sp>
      <p:sp>
        <p:nvSpPr>
          <p:cNvPr id="5" name="TextBox 4"/>
          <p:cNvSpPr txBox="1"/>
          <p:nvPr/>
        </p:nvSpPr>
        <p:spPr>
          <a:xfrm>
            <a:off x="566928" y="896112"/>
            <a:ext cx="8229600" cy="274320"/>
          </a:xfrm>
          <a:prstGeom prst="rect">
            <a:avLst/>
          </a:prstGeom>
          <a:noFill/>
        </p:spPr>
        <p:txBody>
          <a:bodyPr wrap="square" anchor="t" lIns="0" rIns="0" tIns="0" bIns="0">
            <a:spAutoFit/>
          </a:bodyPr>
          <a:lstStyle/>
          <a:p>
            <a:pPr algn="l">
              <a:lnSpc>
                <a:spcPct val="115000"/>
              </a:lnSpc>
            </a:pPr>
            <a:r>
              <a:rPr sz="1100" b="1" i="0">
                <a:solidFill>
                  <a:srgbClr val="FF8A5C"/>
                </a:solidFill>
                <a:latin typeface="Consolas"/>
              </a:rPr>
              <a:t>EXTENSION 4 OF 4 — MINIMAL UI</a:t>
            </a:r>
          </a:p>
        </p:txBody>
      </p:sp>
      <p:sp>
        <p:nvSpPr>
          <p:cNvPr id="6" name="TextBox 5"/>
          <p:cNvSpPr txBox="1"/>
          <p:nvPr/>
        </p:nvSpPr>
        <p:spPr>
          <a:xfrm>
            <a:off x="566928" y="1115568"/>
            <a:ext cx="10607040" cy="1188720"/>
          </a:xfrm>
          <a:prstGeom prst="rect">
            <a:avLst/>
          </a:prstGeom>
          <a:noFill/>
        </p:spPr>
        <p:txBody>
          <a:bodyPr wrap="square" anchor="t" lIns="0" rIns="0" tIns="0" bIns="0">
            <a:spAutoFit/>
          </a:bodyPr>
          <a:lstStyle/>
          <a:p>
            <a:pPr algn="l">
              <a:lnSpc>
                <a:spcPct val="104000"/>
              </a:lnSpc>
            </a:pPr>
            <a:r>
              <a:rPr sz="2200" b="1" i="0">
                <a:solidFill>
                  <a:srgbClr val="EEF2F8"/>
                </a:solidFill>
                <a:latin typeface="Arial Black"/>
              </a:rPr>
              <a:t>A thin layer over the real CLI, not a second implementation</a:t>
            </a:r>
          </a:p>
        </p:txBody>
      </p:sp>
      <p:sp>
        <p:nvSpPr>
          <p:cNvPr id="7" name="Rounded Rectangle 6"/>
          <p:cNvSpPr/>
          <p:nvPr/>
        </p:nvSpPr>
        <p:spPr>
          <a:xfrm>
            <a:off x="566928" y="1691640"/>
            <a:ext cx="5349240" cy="2331720"/>
          </a:xfrm>
          <a:prstGeom prst="roundRect">
            <a:avLst>
              <a:gd name="adj" fmla="val 7000"/>
            </a:avLst>
          </a:prstGeom>
          <a:solidFill>
            <a:srgbClr val="14274A"/>
          </a:solidFill>
          <a:ln w="9525">
            <a:solidFill>
              <a:srgbClr val="2E4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10512"/>
            <a:ext cx="5020056" cy="274320"/>
          </a:xfrm>
          <a:prstGeom prst="rect">
            <a:avLst/>
          </a:prstGeom>
          <a:noFill/>
        </p:spPr>
        <p:txBody>
          <a:bodyPr wrap="square" anchor="t" lIns="0" rIns="0" tIns="0" bIns="0">
            <a:spAutoFit/>
          </a:bodyPr>
          <a:lstStyle/>
          <a:p>
            <a:pPr algn="l">
              <a:lnSpc>
                <a:spcPct val="115000"/>
              </a:lnSpc>
            </a:pPr>
            <a:r>
              <a:rPr sz="1250" b="1" i="0">
                <a:solidFill>
                  <a:srgbClr val="EEF2F8"/>
                </a:solidFill>
                <a:latin typeface="Arial"/>
              </a:rPr>
              <a:t>What it is</a:t>
            </a:r>
          </a:p>
        </p:txBody>
      </p:sp>
      <p:sp>
        <p:nvSpPr>
          <p:cNvPr id="9" name="TextBox 8"/>
          <p:cNvSpPr txBox="1"/>
          <p:nvPr/>
        </p:nvSpPr>
        <p:spPr>
          <a:xfrm>
            <a:off x="731520" y="2130552"/>
            <a:ext cx="5020056" cy="1783080"/>
          </a:xfrm>
          <a:prstGeom prst="rect">
            <a:avLst/>
          </a:prstGeom>
          <a:noFill/>
        </p:spPr>
        <p:txBody>
          <a:bodyPr wrap="square" anchor="t" lIns="0" rIns="0" tIns="0" bIns="0">
            <a:spAutoFit/>
          </a:bodyPr>
          <a:lstStyle/>
          <a:p>
            <a:pPr algn="l">
              <a:lnSpc>
                <a:spcPct val="122000"/>
              </a:lnSpc>
            </a:pPr>
            <a:r>
              <a:rPr sz="1100" b="0" i="0">
                <a:solidFill>
                  <a:srgbClr val="AEBBD2"/>
                </a:solidFill>
                <a:latin typeface="Arial"/>
              </a:rPr>
              <a:t>A schema-driven experiment editor and trace viewer. Domain/workflow/scenario/plugin dropdowns are populated live from the same registries the CLI reads — not a hardcoded list that can drift.</a:t>
            </a:r>
          </a:p>
        </p:txBody>
      </p:sp>
      <p:sp>
        <p:nvSpPr>
          <p:cNvPr id="10" name="Rounded Rectangle 9"/>
          <p:cNvSpPr/>
          <p:nvPr/>
        </p:nvSpPr>
        <p:spPr>
          <a:xfrm>
            <a:off x="6080760" y="1691640"/>
            <a:ext cx="5532120" cy="2331720"/>
          </a:xfrm>
          <a:prstGeom prst="roundRect">
            <a:avLst>
              <a:gd name="adj" fmla="val 7000"/>
            </a:avLst>
          </a:prstGeom>
          <a:solidFill>
            <a:srgbClr val="14274A"/>
          </a:solidFill>
          <a:ln w="9525">
            <a:solidFill>
              <a:srgbClr val="2E4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45352" y="1810512"/>
            <a:ext cx="5202936" cy="274320"/>
          </a:xfrm>
          <a:prstGeom prst="rect">
            <a:avLst/>
          </a:prstGeom>
          <a:noFill/>
        </p:spPr>
        <p:txBody>
          <a:bodyPr wrap="square" anchor="t" lIns="0" rIns="0" tIns="0" bIns="0">
            <a:spAutoFit/>
          </a:bodyPr>
          <a:lstStyle/>
          <a:p>
            <a:pPr algn="l">
              <a:lnSpc>
                <a:spcPct val="115000"/>
              </a:lnSpc>
            </a:pPr>
            <a:r>
              <a:rPr sz="1250" b="1" i="0">
                <a:solidFill>
                  <a:srgbClr val="EEF2F8"/>
                </a:solidFill>
                <a:latin typeface="Arial"/>
              </a:rPr>
              <a:t>"No separate business logic", verified</a:t>
            </a:r>
          </a:p>
        </p:txBody>
      </p:sp>
      <p:sp>
        <p:nvSpPr>
          <p:cNvPr id="12" name="TextBox 11"/>
          <p:cNvSpPr txBox="1"/>
          <p:nvPr/>
        </p:nvSpPr>
        <p:spPr>
          <a:xfrm>
            <a:off x="6245352" y="2130552"/>
            <a:ext cx="5202936" cy="1783080"/>
          </a:xfrm>
          <a:prstGeom prst="rect">
            <a:avLst/>
          </a:prstGeom>
          <a:noFill/>
        </p:spPr>
        <p:txBody>
          <a:bodyPr wrap="square" anchor="t" lIns="0" rIns="0" tIns="0" bIns="0">
            <a:spAutoFit/>
          </a:bodyPr>
          <a:lstStyle/>
          <a:p>
            <a:pPr algn="l">
              <a:lnSpc>
                <a:spcPct val="122000"/>
              </a:lnSpc>
            </a:pPr>
            <a:r>
              <a:rPr sz="1100" b="0" i="0">
                <a:solidFill>
                  <a:srgbClr val="AEBBD2"/>
                </a:solidFill>
                <a:latin typeface="Arial"/>
              </a:rPr>
              <a:t>Validate and Run shell out to the real mantis CLI as a subprocess. Submitted a config with a deliberately invalid domain: got the real CLI's own "Unknown domain" error back, not a UI-side check.</a:t>
            </a:r>
          </a:p>
        </p:txBody>
      </p:sp>
      <p:sp>
        <p:nvSpPr>
          <p:cNvPr id="13" name="Rounded Rectangle 12"/>
          <p:cNvSpPr/>
          <p:nvPr/>
        </p:nvSpPr>
        <p:spPr>
          <a:xfrm>
            <a:off x="566928" y="4160520"/>
            <a:ext cx="11064240" cy="1600200"/>
          </a:xfrm>
          <a:prstGeom prst="roundRect">
            <a:avLst>
              <a:gd name="adj" fmla="val 7000"/>
            </a:avLst>
          </a:prstGeom>
          <a:solidFill>
            <a:srgbClr val="331E14"/>
          </a:solidFill>
          <a:ln w="9525">
            <a:solidFill>
              <a:srgbClr val="FA46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79392"/>
            <a:ext cx="10735056" cy="274320"/>
          </a:xfrm>
          <a:prstGeom prst="rect">
            <a:avLst/>
          </a:prstGeom>
          <a:noFill/>
        </p:spPr>
        <p:txBody>
          <a:bodyPr wrap="square" anchor="t" lIns="0" rIns="0" tIns="0" bIns="0">
            <a:spAutoFit/>
          </a:bodyPr>
          <a:lstStyle/>
          <a:p>
            <a:pPr algn="l">
              <a:lnSpc>
                <a:spcPct val="115000"/>
              </a:lnSpc>
            </a:pPr>
            <a:r>
              <a:rPr sz="1250" b="1" i="0">
                <a:solidFill>
                  <a:srgbClr val="FF8A5C"/>
                </a:solidFill>
                <a:latin typeface="Arial"/>
              </a:rPr>
              <a:t>Confirmed as a real running server</a:t>
            </a:r>
          </a:p>
        </p:txBody>
      </p:sp>
      <p:sp>
        <p:nvSpPr>
          <p:cNvPr id="15" name="TextBox 14"/>
          <p:cNvSpPr txBox="1"/>
          <p:nvPr/>
        </p:nvSpPr>
        <p:spPr>
          <a:xfrm>
            <a:off x="731520" y="4599432"/>
            <a:ext cx="10735056" cy="1051560"/>
          </a:xfrm>
          <a:prstGeom prst="rect">
            <a:avLst/>
          </a:prstGeom>
          <a:noFill/>
        </p:spPr>
        <p:txBody>
          <a:bodyPr wrap="square" anchor="t" lIns="0" rIns="0" tIns="0" bIns="0">
            <a:spAutoFit/>
          </a:bodyPr>
          <a:lstStyle/>
          <a:p>
            <a:pPr algn="l">
              <a:lnSpc>
                <a:spcPct val="122000"/>
              </a:lnSpc>
            </a:pPr>
            <a:r>
              <a:rPr sz="1150" b="0" i="0">
                <a:solidFill>
                  <a:srgbClr val="EEF2F8"/>
                </a:solidFill>
                <a:latin typeface="Arial"/>
              </a:rPr>
              <a:t>Launched via mantis --ui and queried over real HTTP, not just an in-process test client: correctly reported the live inventory (32 agents, 22 tools) and every existing run artifact (27 runs) at the time of this check.</a:t>
            </a:r>
          </a:p>
        </p:txBody>
      </p:sp>
      <p:cxnSp>
        <p:nvCxnSpPr>
          <p:cNvPr id="16" name="Connector 15"/>
          <p:cNvCxnSpPr/>
          <p:nvPr/>
        </p:nvCxnSpPr>
        <p:spPr>
          <a:xfrm>
            <a:off x="566928" y="6382512"/>
            <a:ext cx="2377440" cy="0"/>
          </a:xfrm>
          <a:prstGeom prst="line">
            <a:avLst/>
          </a:prstGeom>
          <a:ln w="9525">
            <a:solidFill>
              <a:srgbClr val="7E8FA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326880" y="6382512"/>
            <a:ext cx="2286000" cy="0"/>
          </a:xfrm>
          <a:prstGeom prst="line">
            <a:avLst/>
          </a:prstGeom>
          <a:ln w="9525">
            <a:solidFill>
              <a:srgbClr val="7E8FA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017520" y="6281928"/>
            <a:ext cx="6217920" cy="256032"/>
          </a:xfrm>
          <a:prstGeom prst="rect">
            <a:avLst/>
          </a:prstGeom>
          <a:noFill/>
        </p:spPr>
        <p:txBody>
          <a:bodyPr wrap="square" anchor="t" lIns="0" rIns="0" tIns="0" bIns="0">
            <a:spAutoFit/>
          </a:bodyPr>
          <a:lstStyle/>
          <a:p>
            <a:pPr algn="ctr">
              <a:lnSpc>
                <a:spcPct val="115000"/>
              </a:lnSpc>
            </a:pPr>
            <a:r>
              <a:rPr sz="800" b="0" i="0">
                <a:solidFill>
                  <a:srgbClr val="7E8FAE"/>
                </a:solidFill>
                <a:latin typeface="Consolas"/>
              </a:rPr>
              <a:t>MANTIS EXTENDED — POST-PAPER EXTENSIONS</a:t>
            </a:r>
          </a:p>
        </p:txBody>
      </p:sp>
      <p:sp>
        <p:nvSpPr>
          <p:cNvPr id="19" name="TextBox 18"/>
          <p:cNvSpPr txBox="1"/>
          <p:nvPr/>
        </p:nvSpPr>
        <p:spPr>
          <a:xfrm>
            <a:off x="11430000" y="6281928"/>
            <a:ext cx="548640" cy="256032"/>
          </a:xfrm>
          <a:prstGeom prst="rect">
            <a:avLst/>
          </a:prstGeom>
          <a:noFill/>
        </p:spPr>
        <p:txBody>
          <a:bodyPr wrap="square" anchor="t" lIns="0" rIns="0" tIns="0" bIns="0">
            <a:spAutoFit/>
          </a:bodyPr>
          <a:lstStyle/>
          <a:p>
            <a:pPr algn="r">
              <a:lnSpc>
                <a:spcPct val="115000"/>
              </a:lnSpc>
            </a:pPr>
            <a:r>
              <a:rPr sz="900" b="1" i="0">
                <a:solidFill>
                  <a:srgbClr val="AEBBD2"/>
                </a:solidFill>
                <a:latin typeface="Consola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66928" y="292608"/>
            <a:ext cx="310896" cy="310896"/>
          </a:xfrm>
          <a:prstGeom prst="roundRect">
            <a:avLst>
              <a:gd name="adj" fmla="val 16000"/>
            </a:avLst>
          </a:prstGeom>
          <a:solidFill>
            <a:srgbClr val="071022"/>
          </a:solidFill>
          <a:ln w="15875">
            <a:solidFill>
              <a:srgbClr val="EEF2F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EEF2F8"/>
                </a:solidFill>
                <a:latin typeface="Arial"/>
              </a:rPr>
              <a:t>UF</a:t>
            </a:r>
          </a:p>
        </p:txBody>
      </p:sp>
      <p:sp>
        <p:nvSpPr>
          <p:cNvPr id="4" name="TextBox 3"/>
          <p:cNvSpPr txBox="1"/>
          <p:nvPr/>
        </p:nvSpPr>
        <p:spPr>
          <a:xfrm>
            <a:off x="969264" y="256032"/>
            <a:ext cx="3291840" cy="384048"/>
          </a:xfrm>
          <a:prstGeom prst="rect">
            <a:avLst/>
          </a:prstGeom>
          <a:noFill/>
        </p:spPr>
        <p:txBody>
          <a:bodyPr wrap="square" anchor="t" lIns="0" rIns="0" tIns="0" bIns="0">
            <a:spAutoFit/>
          </a:bodyPr>
          <a:lstStyle/>
          <a:p>
            <a:pPr algn="l">
              <a:lnSpc>
                <a:spcPct val="100000"/>
              </a:lnSpc>
              <a:spcAft>
                <a:spcPts val="0"/>
              </a:spcAft>
            </a:pPr>
            <a:r>
              <a:rPr sz="1050" b="1" i="0">
                <a:solidFill>
                  <a:srgbClr val="EEF2F8"/>
                </a:solidFill>
                <a:latin typeface="Arial"/>
              </a:rPr>
              <a:t>Herbert Wertheim</a:t>
            </a:r>
          </a:p>
          <a:p>
            <a:pPr algn="l">
              <a:lnSpc>
                <a:spcPct val="100000"/>
              </a:lnSpc>
              <a:spcAft>
                <a:spcPts val="0"/>
              </a:spcAft>
            </a:pPr>
            <a:r>
              <a:rPr sz="900" b="0" i="1">
                <a:solidFill>
                  <a:srgbClr val="AEBBD2"/>
                </a:solidFill>
                <a:latin typeface="Georgia"/>
              </a:rPr>
              <a:t>College of Engineering</a:t>
            </a:r>
          </a:p>
        </p:txBody>
      </p:sp>
      <p:sp>
        <p:nvSpPr>
          <p:cNvPr id="5" name="TextBox 4"/>
          <p:cNvSpPr txBox="1"/>
          <p:nvPr/>
        </p:nvSpPr>
        <p:spPr>
          <a:xfrm>
            <a:off x="566928" y="896112"/>
            <a:ext cx="8229600" cy="274320"/>
          </a:xfrm>
          <a:prstGeom prst="rect">
            <a:avLst/>
          </a:prstGeom>
          <a:noFill/>
        </p:spPr>
        <p:txBody>
          <a:bodyPr wrap="square" anchor="t" lIns="0" rIns="0" tIns="0" bIns="0">
            <a:spAutoFit/>
          </a:bodyPr>
          <a:lstStyle/>
          <a:p>
            <a:pPr algn="l">
              <a:lnSpc>
                <a:spcPct val="115000"/>
              </a:lnSpc>
            </a:pPr>
            <a:r>
              <a:rPr sz="1100" b="1" i="0">
                <a:solidFill>
                  <a:srgbClr val="FF8A5C"/>
                </a:solidFill>
                <a:latin typeface="Consolas"/>
              </a:rPr>
              <a:t>EVALUATION SUMMARY</a:t>
            </a:r>
          </a:p>
        </p:txBody>
      </p:sp>
      <p:sp>
        <p:nvSpPr>
          <p:cNvPr id="6" name="TextBox 5"/>
          <p:cNvSpPr txBox="1"/>
          <p:nvPr/>
        </p:nvSpPr>
        <p:spPr>
          <a:xfrm>
            <a:off x="566928" y="1115568"/>
            <a:ext cx="10607040" cy="1188720"/>
          </a:xfrm>
          <a:prstGeom prst="rect">
            <a:avLst/>
          </a:prstGeom>
          <a:noFill/>
        </p:spPr>
        <p:txBody>
          <a:bodyPr wrap="square" anchor="t" lIns="0" rIns="0" tIns="0" bIns="0">
            <a:spAutoFit/>
          </a:bodyPr>
          <a:lstStyle/>
          <a:p>
            <a:pPr algn="l">
              <a:lnSpc>
                <a:spcPct val="104000"/>
              </a:lnSpc>
            </a:pPr>
            <a:r>
              <a:rPr sz="2200" b="1" i="0">
                <a:solidFill>
                  <a:srgbClr val="EEF2F8"/>
                </a:solidFill>
                <a:latin typeface="Arial Black"/>
              </a:rPr>
              <a:t>139 tests, all against real data — every extension live-verified</a:t>
            </a:r>
          </a:p>
        </p:txBody>
      </p:sp>
      <p:graphicFrame>
        <p:nvGraphicFramePr>
          <p:cNvPr id="7" name="Table 6"/>
          <p:cNvGraphicFramePr>
            <a:graphicFrameLocks noGrp="1"/>
          </p:cNvGraphicFramePr>
          <p:nvPr/>
        </p:nvGraphicFramePr>
        <p:xfrm>
          <a:off x="566928" y="1691640"/>
          <a:ext cx="11064239" cy="2880360"/>
        </p:xfrm>
        <a:graphic>
          <a:graphicData uri="http://schemas.openxmlformats.org/drawingml/2006/table">
            <a:tbl>
              <a:tblPr firstRow="0" bandRow="0">
                <a:tableStyleId>{5C22544A-7EE6-4342-B048-85BDC9FD1C3A}</a:tableStyleId>
              </a:tblPr>
              <a:tblGrid>
                <a:gridCol w="2252013"/>
                <a:gridCol w="979136"/>
                <a:gridCol w="7833090"/>
              </a:tblGrid>
              <a:tr h="480060">
                <a:tc>
                  <a:txBody>
                    <a:bodyPr/>
                    <a:lstStyle/>
                    <a:p>
                      <a:r>
                        <a:rPr sz="900" b="1">
                          <a:solidFill>
                            <a:srgbClr val="FF8A5C"/>
                          </a:solidFill>
                          <a:latin typeface="Consolas"/>
                        </a:rPr>
                        <a:t>EXTENSION</a:t>
                      </a:r>
                    </a:p>
                  </a:txBody>
                  <a:tcPr marL="82296" marR="82296" marT="45720" marB="45720" anchor="ctr">
                    <a:solidFill>
                      <a:srgbClr val="0D2043"/>
                    </a:solidFill>
                  </a:tcPr>
                </a:tc>
                <a:tc>
                  <a:txBody>
                    <a:bodyPr/>
                    <a:lstStyle/>
                    <a:p>
                      <a:r>
                        <a:rPr sz="900" b="1">
                          <a:solidFill>
                            <a:srgbClr val="FF8A5C"/>
                          </a:solidFill>
                          <a:latin typeface="Consolas"/>
                        </a:rPr>
                        <a:t>TESTS</a:t>
                      </a:r>
                    </a:p>
                  </a:txBody>
                  <a:tcPr marL="82296" marR="82296" marT="45720" marB="45720" anchor="ctr">
                    <a:solidFill>
                      <a:srgbClr val="0D2043"/>
                    </a:solidFill>
                  </a:tcPr>
                </a:tc>
                <a:tc>
                  <a:txBody>
                    <a:bodyPr/>
                    <a:lstStyle/>
                    <a:p>
                      <a:r>
                        <a:rPr sz="900" b="1">
                          <a:solidFill>
                            <a:srgbClr val="FF8A5C"/>
                          </a:solidFill>
                          <a:latin typeface="Consolas"/>
                        </a:rPr>
                        <a:t>LIVE EVIDENCE</a:t>
                      </a:r>
                    </a:p>
                  </a:txBody>
                  <a:tcPr marL="82296" marR="82296" marT="45720" marB="45720" anchor="ctr">
                    <a:solidFill>
                      <a:srgbClr val="0D2043"/>
                    </a:solidFill>
                  </a:tcPr>
                </a:tc>
              </a:tr>
              <a:tr h="480060">
                <a:tc>
                  <a:txBody>
                    <a:bodyPr wrap="square"/>
                    <a:lstStyle/>
                    <a:p>
                      <a:pPr>
                        <a:lnSpc>
                          <a:spcPct val="108000"/>
                        </a:lnSpc>
                      </a:pPr>
                      <a:r>
                        <a:rPr sz="1100" b="1">
                          <a:solidFill>
                            <a:srgbClr val="EEF2F8"/>
                          </a:solidFill>
                          <a:latin typeface="Arial"/>
                        </a:rPr>
                        <a:t>Jaeger exporter</a:t>
                      </a:r>
                    </a:p>
                  </a:txBody>
                  <a:tcPr marL="82296" marR="82296" marT="54864" marB="54864" anchor="ctr">
                    <a:solidFill>
                      <a:srgbClr val="14274A"/>
                    </a:solidFill>
                  </a:tcPr>
                </a:tc>
                <a:tc>
                  <a:txBody>
                    <a:bodyPr wrap="square"/>
                    <a:lstStyle/>
                    <a:p>
                      <a:pPr>
                        <a:lnSpc>
                          <a:spcPct val="108000"/>
                        </a:lnSpc>
                      </a:pPr>
                      <a:r>
                        <a:rPr sz="1050" b="0">
                          <a:solidFill>
                            <a:srgbClr val="AEBBD2"/>
                          </a:solidFill>
                          <a:latin typeface="Arial"/>
                        </a:rPr>
                        <a:t>4</a:t>
                      </a:r>
                    </a:p>
                  </a:txBody>
                  <a:tcPr marL="82296" marR="82296" marT="54864" marB="54864" anchor="ctr">
                    <a:solidFill>
                      <a:srgbClr val="14274A"/>
                    </a:solidFill>
                  </a:tcPr>
                </a:tc>
                <a:tc>
                  <a:txBody>
                    <a:bodyPr wrap="square"/>
                    <a:lstStyle/>
                    <a:p>
                      <a:pPr>
                        <a:lnSpc>
                          <a:spcPct val="108000"/>
                        </a:lnSpc>
                      </a:pPr>
                      <a:r>
                        <a:rPr sz="1050" b="0">
                          <a:solidFill>
                            <a:srgbClr val="AEBBD2"/>
                          </a:solidFill>
                          <a:latin typeface="Arial"/>
                        </a:rPr>
                        <a:t>Real span processor attached; confirmed silent-safe with no collector listening.</a:t>
                      </a:r>
                    </a:p>
                  </a:txBody>
                  <a:tcPr marL="82296" marR="82296" marT="54864" marB="54864" anchor="ctr">
                    <a:solidFill>
                      <a:srgbClr val="14274A"/>
                    </a:solidFill>
                  </a:tcPr>
                </a:tc>
              </a:tr>
              <a:tr h="480060">
                <a:tc>
                  <a:txBody>
                    <a:bodyPr wrap="square"/>
                    <a:lstStyle/>
                    <a:p>
                      <a:pPr>
                        <a:lnSpc>
                          <a:spcPct val="108000"/>
                        </a:lnSpc>
                      </a:pPr>
                      <a:r>
                        <a:rPr sz="1100" b="1">
                          <a:solidFill>
                            <a:srgbClr val="EEF2F8"/>
                          </a:solidFill>
                          <a:latin typeface="Arial"/>
                        </a:rPr>
                        <a:t>Grafana / Phoenix / Langfuse</a:t>
                      </a:r>
                    </a:p>
                  </a:txBody>
                  <a:tcPr marL="82296" marR="82296" marT="54864" marB="54864" anchor="ctr">
                    <a:solidFill>
                      <a:srgbClr val="14274A"/>
                    </a:solidFill>
                  </a:tcPr>
                </a:tc>
                <a:tc>
                  <a:txBody>
                    <a:bodyPr wrap="square"/>
                    <a:lstStyle/>
                    <a:p>
                      <a:pPr>
                        <a:lnSpc>
                          <a:spcPct val="108000"/>
                        </a:lnSpc>
                      </a:pPr>
                      <a:r>
                        <a:rPr sz="1050" b="0">
                          <a:solidFill>
                            <a:srgbClr val="AEBBD2"/>
                          </a:solidFill>
                          <a:latin typeface="Arial"/>
                        </a:rPr>
                        <a:t>9</a:t>
                      </a:r>
                    </a:p>
                  </a:txBody>
                  <a:tcPr marL="82296" marR="82296" marT="54864" marB="54864" anchor="ctr">
                    <a:solidFill>
                      <a:srgbClr val="14274A"/>
                    </a:solidFill>
                  </a:tcPr>
                </a:tc>
                <a:tc>
                  <a:txBody>
                    <a:bodyPr wrap="square"/>
                    <a:lstStyle/>
                    <a:p>
                      <a:pPr>
                        <a:lnSpc>
                          <a:spcPct val="108000"/>
                        </a:lnSpc>
                      </a:pPr>
                      <a:r>
                        <a:rPr sz="1050" b="0">
                          <a:solidFill>
                            <a:srgbClr val="AEBBD2"/>
                          </a:solidFill>
                          <a:latin typeface="Arial"/>
                        </a:rPr>
                        <a:t>Same OTLP pattern for the first two; Langfuse reached the real hosted endpoint and got a genuine 401 with no credentials.</a:t>
                      </a:r>
                    </a:p>
                  </a:txBody>
                  <a:tcPr marL="82296" marR="82296" marT="54864" marB="54864" anchor="ctr">
                    <a:solidFill>
                      <a:srgbClr val="14274A"/>
                    </a:solidFill>
                  </a:tcPr>
                </a:tc>
              </a:tr>
              <a:tr h="480060">
                <a:tc>
                  <a:txBody>
                    <a:bodyPr wrap="square"/>
                    <a:lstStyle/>
                    <a:p>
                      <a:pPr>
                        <a:lnSpc>
                          <a:spcPct val="108000"/>
                        </a:lnSpc>
                      </a:pPr>
                      <a:r>
                        <a:rPr sz="1100" b="1">
                          <a:solidFill>
                            <a:srgbClr val="EEF2F8"/>
                          </a:solidFill>
                          <a:latin typeface="Arial"/>
                        </a:rPr>
                        <a:t>Guardrail plugin</a:t>
                      </a:r>
                    </a:p>
                  </a:txBody>
                  <a:tcPr marL="82296" marR="82296" marT="54864" marB="54864" anchor="ctr">
                    <a:solidFill>
                      <a:srgbClr val="14274A"/>
                    </a:solidFill>
                  </a:tcPr>
                </a:tc>
                <a:tc>
                  <a:txBody>
                    <a:bodyPr wrap="square"/>
                    <a:lstStyle/>
                    <a:p>
                      <a:pPr>
                        <a:lnSpc>
                          <a:spcPct val="108000"/>
                        </a:lnSpc>
                      </a:pPr>
                      <a:r>
                        <a:rPr sz="1050" b="0">
                          <a:solidFill>
                            <a:srgbClr val="AEBBD2"/>
                          </a:solidFill>
                          <a:latin typeface="Arial"/>
                        </a:rPr>
                        <a:t>6</a:t>
                      </a:r>
                    </a:p>
                  </a:txBody>
                  <a:tcPr marL="82296" marR="82296" marT="54864" marB="54864" anchor="ctr">
                    <a:solidFill>
                      <a:srgbClr val="14274A"/>
                    </a:solidFill>
                  </a:tcPr>
                </a:tc>
                <a:tc>
                  <a:txBody>
                    <a:bodyPr wrap="square"/>
                    <a:lstStyle/>
                    <a:p>
                      <a:pPr>
                        <a:lnSpc>
                          <a:spcPct val="108000"/>
                        </a:lnSpc>
                      </a:pPr>
                      <a:r>
                        <a:rPr sz="1050" b="0">
                          <a:solidFill>
                            <a:srgbClr val="AEBBD2"/>
                          </a:solidFill>
                          <a:latin typeface="Arial"/>
                        </a:rPr>
                        <a:t>Live $5,000 mutated transfer denied before reaching the backend; correctly classified as POLICY_EVENT.</a:t>
                      </a:r>
                    </a:p>
                  </a:txBody>
                  <a:tcPr marL="82296" marR="82296" marT="54864" marB="54864" anchor="ctr">
                    <a:solidFill>
                      <a:srgbClr val="14274A"/>
                    </a:solidFill>
                  </a:tcPr>
                </a:tc>
              </a:tr>
              <a:tr h="480060">
                <a:tc>
                  <a:txBody>
                    <a:bodyPr wrap="square"/>
                    <a:lstStyle/>
                    <a:p>
                      <a:pPr>
                        <a:lnSpc>
                          <a:spcPct val="108000"/>
                        </a:lnSpc>
                      </a:pPr>
                      <a:r>
                        <a:rPr sz="1100" b="1">
                          <a:solidFill>
                            <a:srgbClr val="EEF2F8"/>
                          </a:solidFill>
                          <a:latin typeface="Arial"/>
                        </a:rPr>
                        <a:t>Dispute workload</a:t>
                      </a:r>
                    </a:p>
                  </a:txBody>
                  <a:tcPr marL="82296" marR="82296" marT="54864" marB="54864" anchor="ctr">
                    <a:solidFill>
                      <a:srgbClr val="14274A"/>
                    </a:solidFill>
                  </a:tcPr>
                </a:tc>
                <a:tc>
                  <a:txBody>
                    <a:bodyPr wrap="square"/>
                    <a:lstStyle/>
                    <a:p>
                      <a:pPr>
                        <a:lnSpc>
                          <a:spcPct val="108000"/>
                        </a:lnSpc>
                      </a:pPr>
                      <a:r>
                        <a:rPr sz="1050" b="0">
                          <a:solidFill>
                            <a:srgbClr val="AEBBD2"/>
                          </a:solidFill>
                          <a:latin typeface="Arial"/>
                        </a:rPr>
                        <a:t>7</a:t>
                      </a:r>
                    </a:p>
                  </a:txBody>
                  <a:tcPr marL="82296" marR="82296" marT="54864" marB="54864" anchor="ctr">
                    <a:solidFill>
                      <a:srgbClr val="14274A"/>
                    </a:solidFill>
                  </a:tcPr>
                </a:tc>
                <a:tc>
                  <a:txBody>
                    <a:bodyPr wrap="square"/>
                    <a:lstStyle/>
                    <a:p>
                      <a:pPr>
                        <a:lnSpc>
                          <a:spcPct val="108000"/>
                        </a:lnSpc>
                      </a:pPr>
                      <a:r>
                        <a:rPr sz="1050" b="0">
                          <a:solidFill>
                            <a:srgbClr val="AEBBD2"/>
                          </a:solidFill>
                          <a:latin typeface="Arial"/>
                        </a:rPr>
                        <a:t>Real case filed and persisted, after correcting a scenario defect found only by reading the trace.</a:t>
                      </a:r>
                    </a:p>
                  </a:txBody>
                  <a:tcPr marL="82296" marR="82296" marT="54864" marB="54864" anchor="ctr">
                    <a:solidFill>
                      <a:srgbClr val="14274A"/>
                    </a:solidFill>
                  </a:tcPr>
                </a:tc>
              </a:tr>
              <a:tr h="480060">
                <a:tc>
                  <a:txBody>
                    <a:bodyPr wrap="square"/>
                    <a:lstStyle/>
                    <a:p>
                      <a:pPr>
                        <a:lnSpc>
                          <a:spcPct val="108000"/>
                        </a:lnSpc>
                      </a:pPr>
                      <a:r>
                        <a:rPr sz="1100" b="1">
                          <a:solidFill>
                            <a:srgbClr val="EEF2F8"/>
                          </a:solidFill>
                          <a:latin typeface="Arial"/>
                        </a:rPr>
                        <a:t>Minimal UI</a:t>
                      </a:r>
                    </a:p>
                  </a:txBody>
                  <a:tcPr marL="82296" marR="82296" marT="54864" marB="54864" anchor="ctr">
                    <a:solidFill>
                      <a:srgbClr val="14274A"/>
                    </a:solidFill>
                  </a:tcPr>
                </a:tc>
                <a:tc>
                  <a:txBody>
                    <a:bodyPr wrap="square"/>
                    <a:lstStyle/>
                    <a:p>
                      <a:pPr>
                        <a:lnSpc>
                          <a:spcPct val="108000"/>
                        </a:lnSpc>
                      </a:pPr>
                      <a:r>
                        <a:rPr sz="1050" b="0">
                          <a:solidFill>
                            <a:srgbClr val="AEBBD2"/>
                          </a:solidFill>
                          <a:latin typeface="Arial"/>
                        </a:rPr>
                        <a:t>10</a:t>
                      </a:r>
                    </a:p>
                  </a:txBody>
                  <a:tcPr marL="82296" marR="82296" marT="54864" marB="54864" anchor="ctr">
                    <a:solidFill>
                      <a:srgbClr val="14274A"/>
                    </a:solidFill>
                  </a:tcPr>
                </a:tc>
                <a:tc>
                  <a:txBody>
                    <a:bodyPr wrap="square"/>
                    <a:lstStyle/>
                    <a:p>
                      <a:pPr>
                        <a:lnSpc>
                          <a:spcPct val="108000"/>
                        </a:lnSpc>
                      </a:pPr>
                      <a:r>
                        <a:rPr sz="1050" b="0">
                          <a:solidFill>
                            <a:srgbClr val="AEBBD2"/>
                          </a:solidFill>
                          <a:latin typeface="Arial"/>
                        </a:rPr>
                        <a:t>Real invalid config rejected with the real CLI's own error; real server confirmed over live HTTP.</a:t>
                      </a:r>
                    </a:p>
                  </a:txBody>
                  <a:tcPr marL="82296" marR="82296" marT="54864" marB="54864" anchor="ctr">
                    <a:solidFill>
                      <a:srgbClr val="14274A"/>
                    </a:solidFill>
                  </a:tcPr>
                </a:tc>
              </a:tr>
            </a:tbl>
          </a:graphicData>
        </a:graphic>
      </p:graphicFrame>
      <p:sp>
        <p:nvSpPr>
          <p:cNvPr id="8" name="Rounded Rectangle 7"/>
          <p:cNvSpPr/>
          <p:nvPr/>
        </p:nvSpPr>
        <p:spPr>
          <a:xfrm>
            <a:off x="566928" y="4892040"/>
            <a:ext cx="3566160" cy="1051560"/>
          </a:xfrm>
          <a:prstGeom prst="roundRect">
            <a:avLst>
              <a:gd name="adj" fmla="val 10000"/>
            </a:avLst>
          </a:prstGeom>
          <a:solidFill>
            <a:srgbClr val="14274A"/>
          </a:solidFill>
          <a:ln w="9525">
            <a:solidFill>
              <a:srgbClr val="2E4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4983480"/>
            <a:ext cx="3310128" cy="457200"/>
          </a:xfrm>
          <a:prstGeom prst="rect">
            <a:avLst/>
          </a:prstGeom>
          <a:noFill/>
        </p:spPr>
        <p:txBody>
          <a:bodyPr wrap="square" anchor="t" lIns="0" rIns="0" tIns="0" bIns="0">
            <a:spAutoFit/>
          </a:bodyPr>
          <a:lstStyle/>
          <a:p>
            <a:pPr algn="l">
              <a:lnSpc>
                <a:spcPct val="115000"/>
              </a:lnSpc>
            </a:pPr>
            <a:r>
              <a:rPr sz="2500" b="1" i="0">
                <a:solidFill>
                  <a:srgbClr val="FF8A5C"/>
                </a:solidFill>
                <a:latin typeface="Consolas"/>
              </a:rPr>
              <a:t>139</a:t>
            </a:r>
          </a:p>
        </p:txBody>
      </p:sp>
      <p:sp>
        <p:nvSpPr>
          <p:cNvPr id="10" name="TextBox 9"/>
          <p:cNvSpPr txBox="1"/>
          <p:nvPr/>
        </p:nvSpPr>
        <p:spPr>
          <a:xfrm>
            <a:off x="694944" y="5440680"/>
            <a:ext cx="3310128" cy="429768"/>
          </a:xfrm>
          <a:prstGeom prst="rect">
            <a:avLst/>
          </a:prstGeom>
          <a:noFill/>
        </p:spPr>
        <p:txBody>
          <a:bodyPr wrap="square" anchor="t" lIns="0" rIns="0" tIns="0" bIns="0">
            <a:spAutoFit/>
          </a:bodyPr>
          <a:lstStyle/>
          <a:p>
            <a:pPr algn="l">
              <a:lnSpc>
                <a:spcPct val="115000"/>
              </a:lnSpc>
            </a:pPr>
            <a:r>
              <a:rPr sz="950" b="0" i="0">
                <a:solidFill>
                  <a:srgbClr val="AEBBD2"/>
                </a:solidFill>
                <a:latin typeface="Arial"/>
              </a:rPr>
              <a:t>offline tests passing, all exercised against real data</a:t>
            </a:r>
          </a:p>
        </p:txBody>
      </p:sp>
      <p:sp>
        <p:nvSpPr>
          <p:cNvPr id="11" name="Rounded Rectangle 10"/>
          <p:cNvSpPr/>
          <p:nvPr/>
        </p:nvSpPr>
        <p:spPr>
          <a:xfrm>
            <a:off x="4315967" y="4892040"/>
            <a:ext cx="3566160" cy="1051560"/>
          </a:xfrm>
          <a:prstGeom prst="roundRect">
            <a:avLst>
              <a:gd name="adj" fmla="val 10000"/>
            </a:avLst>
          </a:prstGeom>
          <a:solidFill>
            <a:srgbClr val="14274A"/>
          </a:solidFill>
          <a:ln w="9525">
            <a:solidFill>
              <a:srgbClr val="2E4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43983" y="4983480"/>
            <a:ext cx="3310128" cy="457200"/>
          </a:xfrm>
          <a:prstGeom prst="rect">
            <a:avLst/>
          </a:prstGeom>
          <a:noFill/>
        </p:spPr>
        <p:txBody>
          <a:bodyPr wrap="square" anchor="t" lIns="0" rIns="0" tIns="0" bIns="0">
            <a:spAutoFit/>
          </a:bodyPr>
          <a:lstStyle/>
          <a:p>
            <a:pPr algn="l">
              <a:lnSpc>
                <a:spcPct val="115000"/>
              </a:lnSpc>
            </a:pPr>
            <a:r>
              <a:rPr sz="2500" b="1" i="0">
                <a:solidFill>
                  <a:srgbClr val="FF8A5C"/>
                </a:solidFill>
                <a:latin typeface="Consolas"/>
              </a:rPr>
              <a:t>0</a:t>
            </a:r>
          </a:p>
        </p:txBody>
      </p:sp>
      <p:sp>
        <p:nvSpPr>
          <p:cNvPr id="13" name="TextBox 12"/>
          <p:cNvSpPr txBox="1"/>
          <p:nvPr/>
        </p:nvSpPr>
        <p:spPr>
          <a:xfrm>
            <a:off x="4443983" y="5440680"/>
            <a:ext cx="3310128" cy="429768"/>
          </a:xfrm>
          <a:prstGeom prst="rect">
            <a:avLst/>
          </a:prstGeom>
          <a:noFill/>
        </p:spPr>
        <p:txBody>
          <a:bodyPr wrap="square" anchor="t" lIns="0" rIns="0" tIns="0" bIns="0">
            <a:spAutoFit/>
          </a:bodyPr>
          <a:lstStyle/>
          <a:p>
            <a:pPr algn="l">
              <a:lnSpc>
                <a:spcPct val="115000"/>
              </a:lnSpc>
            </a:pPr>
            <a:r>
              <a:rPr sz="950" b="0" i="0">
                <a:solidFill>
                  <a:srgbClr val="AEBBD2"/>
                </a:solidFill>
                <a:latin typeface="Arial"/>
              </a:rPr>
              <a:t>changes required to mantis.core, mantis.hooks, or the banking workflow modules</a:t>
            </a:r>
          </a:p>
        </p:txBody>
      </p:sp>
      <p:sp>
        <p:nvSpPr>
          <p:cNvPr id="14" name="Rounded Rectangle 13"/>
          <p:cNvSpPr/>
          <p:nvPr/>
        </p:nvSpPr>
        <p:spPr>
          <a:xfrm>
            <a:off x="8065007" y="4892040"/>
            <a:ext cx="3566160" cy="1051560"/>
          </a:xfrm>
          <a:prstGeom prst="roundRect">
            <a:avLst>
              <a:gd name="adj" fmla="val 10000"/>
            </a:avLst>
          </a:prstGeom>
          <a:solidFill>
            <a:srgbClr val="14274A"/>
          </a:solidFill>
          <a:ln w="9525">
            <a:solidFill>
              <a:srgbClr val="2E4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93023" y="4983480"/>
            <a:ext cx="3310128" cy="457200"/>
          </a:xfrm>
          <a:prstGeom prst="rect">
            <a:avLst/>
          </a:prstGeom>
          <a:noFill/>
        </p:spPr>
        <p:txBody>
          <a:bodyPr wrap="square" anchor="t" lIns="0" rIns="0" tIns="0" bIns="0">
            <a:spAutoFit/>
          </a:bodyPr>
          <a:lstStyle/>
          <a:p>
            <a:pPr algn="l">
              <a:lnSpc>
                <a:spcPct val="115000"/>
              </a:lnSpc>
            </a:pPr>
            <a:r>
              <a:rPr sz="2500" b="1" i="0">
                <a:solidFill>
                  <a:srgbClr val="FF8A5C"/>
                </a:solidFill>
                <a:latin typeface="Consolas"/>
              </a:rPr>
              <a:t>1</a:t>
            </a:r>
          </a:p>
        </p:txBody>
      </p:sp>
      <p:sp>
        <p:nvSpPr>
          <p:cNvPr id="16" name="TextBox 15"/>
          <p:cNvSpPr txBox="1"/>
          <p:nvPr/>
        </p:nvSpPr>
        <p:spPr>
          <a:xfrm>
            <a:off x="8193023" y="5440680"/>
            <a:ext cx="3310128" cy="429768"/>
          </a:xfrm>
          <a:prstGeom prst="rect">
            <a:avLst/>
          </a:prstGeom>
          <a:noFill/>
        </p:spPr>
        <p:txBody>
          <a:bodyPr wrap="square" anchor="t" lIns="0" rIns="0" tIns="0" bIns="0">
            <a:spAutoFit/>
          </a:bodyPr>
          <a:lstStyle/>
          <a:p>
            <a:pPr algn="l">
              <a:lnSpc>
                <a:spcPct val="115000"/>
              </a:lnSpc>
            </a:pPr>
            <a:r>
              <a:rPr sz="950" b="0" i="0">
                <a:solidFill>
                  <a:srgbClr val="AEBBD2"/>
                </a:solidFill>
                <a:latin typeface="Arial"/>
              </a:rPr>
              <a:t>real defect found and fixed while building these extensions</a:t>
            </a:r>
          </a:p>
        </p:txBody>
      </p:sp>
      <p:cxnSp>
        <p:nvCxnSpPr>
          <p:cNvPr id="17" name="Connector 16"/>
          <p:cNvCxnSpPr/>
          <p:nvPr/>
        </p:nvCxnSpPr>
        <p:spPr>
          <a:xfrm>
            <a:off x="566928" y="6382512"/>
            <a:ext cx="2377440" cy="0"/>
          </a:xfrm>
          <a:prstGeom prst="line">
            <a:avLst/>
          </a:prstGeom>
          <a:ln w="9525">
            <a:solidFill>
              <a:srgbClr val="7E8FA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326880" y="6382512"/>
            <a:ext cx="2286000" cy="0"/>
          </a:xfrm>
          <a:prstGeom prst="line">
            <a:avLst/>
          </a:prstGeom>
          <a:ln w="9525">
            <a:solidFill>
              <a:srgbClr val="7E8FA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017520" y="6281928"/>
            <a:ext cx="6217920" cy="256032"/>
          </a:xfrm>
          <a:prstGeom prst="rect">
            <a:avLst/>
          </a:prstGeom>
          <a:noFill/>
        </p:spPr>
        <p:txBody>
          <a:bodyPr wrap="square" anchor="t" lIns="0" rIns="0" tIns="0" bIns="0">
            <a:spAutoFit/>
          </a:bodyPr>
          <a:lstStyle/>
          <a:p>
            <a:pPr algn="ctr">
              <a:lnSpc>
                <a:spcPct val="115000"/>
              </a:lnSpc>
            </a:pPr>
            <a:r>
              <a:rPr sz="800" b="0" i="0">
                <a:solidFill>
                  <a:srgbClr val="7E8FAE"/>
                </a:solidFill>
                <a:latin typeface="Consolas"/>
              </a:rPr>
              <a:t>MANTIS EXTENDED — POST-PAPER EXTENSIONS</a:t>
            </a:r>
          </a:p>
        </p:txBody>
      </p:sp>
      <p:sp>
        <p:nvSpPr>
          <p:cNvPr id="20" name="TextBox 19"/>
          <p:cNvSpPr txBox="1"/>
          <p:nvPr/>
        </p:nvSpPr>
        <p:spPr>
          <a:xfrm>
            <a:off x="11430000" y="6281928"/>
            <a:ext cx="548640" cy="256032"/>
          </a:xfrm>
          <a:prstGeom prst="rect">
            <a:avLst/>
          </a:prstGeom>
          <a:noFill/>
        </p:spPr>
        <p:txBody>
          <a:bodyPr wrap="square" anchor="t" lIns="0" rIns="0" tIns="0" bIns="0">
            <a:spAutoFit/>
          </a:bodyPr>
          <a:lstStyle/>
          <a:p>
            <a:pPr algn="r">
              <a:lnSpc>
                <a:spcPct val="115000"/>
              </a:lnSpc>
            </a:pPr>
            <a:r>
              <a:rPr sz="900" b="1" i="0">
                <a:solidFill>
                  <a:srgbClr val="AEBBD2"/>
                </a:solidFill>
                <a:latin typeface="Consola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66928" y="292608"/>
            <a:ext cx="310896" cy="310896"/>
          </a:xfrm>
          <a:prstGeom prst="roundRect">
            <a:avLst>
              <a:gd name="adj" fmla="val 16000"/>
            </a:avLst>
          </a:prstGeom>
          <a:solidFill>
            <a:srgbClr val="071022"/>
          </a:solidFill>
          <a:ln w="15875">
            <a:solidFill>
              <a:srgbClr val="EEF2F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EEF2F8"/>
                </a:solidFill>
                <a:latin typeface="Arial"/>
              </a:rPr>
              <a:t>UF</a:t>
            </a:r>
          </a:p>
        </p:txBody>
      </p:sp>
      <p:sp>
        <p:nvSpPr>
          <p:cNvPr id="4" name="TextBox 3"/>
          <p:cNvSpPr txBox="1"/>
          <p:nvPr/>
        </p:nvSpPr>
        <p:spPr>
          <a:xfrm>
            <a:off x="969264" y="256032"/>
            <a:ext cx="3291840" cy="384048"/>
          </a:xfrm>
          <a:prstGeom prst="rect">
            <a:avLst/>
          </a:prstGeom>
          <a:noFill/>
        </p:spPr>
        <p:txBody>
          <a:bodyPr wrap="square" anchor="t" lIns="0" rIns="0" tIns="0" bIns="0">
            <a:spAutoFit/>
          </a:bodyPr>
          <a:lstStyle/>
          <a:p>
            <a:pPr algn="l">
              <a:lnSpc>
                <a:spcPct val="100000"/>
              </a:lnSpc>
              <a:spcAft>
                <a:spcPts val="0"/>
              </a:spcAft>
            </a:pPr>
            <a:r>
              <a:rPr sz="1050" b="1" i="0">
                <a:solidFill>
                  <a:srgbClr val="EEF2F8"/>
                </a:solidFill>
                <a:latin typeface="Arial"/>
              </a:rPr>
              <a:t>Herbert Wertheim</a:t>
            </a:r>
          </a:p>
          <a:p>
            <a:pPr algn="l">
              <a:lnSpc>
                <a:spcPct val="100000"/>
              </a:lnSpc>
              <a:spcAft>
                <a:spcPts val="0"/>
              </a:spcAft>
            </a:pPr>
            <a:r>
              <a:rPr sz="900" b="0" i="1">
                <a:solidFill>
                  <a:srgbClr val="AEBBD2"/>
                </a:solidFill>
                <a:latin typeface="Georgia"/>
              </a:rPr>
              <a:t>College of Engineering</a:t>
            </a:r>
          </a:p>
        </p:txBody>
      </p:sp>
      <p:sp>
        <p:nvSpPr>
          <p:cNvPr id="5" name="TextBox 4"/>
          <p:cNvSpPr txBox="1"/>
          <p:nvPr/>
        </p:nvSpPr>
        <p:spPr>
          <a:xfrm>
            <a:off x="566928" y="896112"/>
            <a:ext cx="8229600" cy="274320"/>
          </a:xfrm>
          <a:prstGeom prst="rect">
            <a:avLst/>
          </a:prstGeom>
          <a:noFill/>
        </p:spPr>
        <p:txBody>
          <a:bodyPr wrap="square" anchor="t" lIns="0" rIns="0" tIns="0" bIns="0">
            <a:spAutoFit/>
          </a:bodyPr>
          <a:lstStyle/>
          <a:p>
            <a:pPr algn="l">
              <a:lnSpc>
                <a:spcPct val="115000"/>
              </a:lnSpc>
            </a:pPr>
            <a:r>
              <a:rPr sz="1100" b="1" i="0">
                <a:solidFill>
                  <a:srgbClr val="FF8A5C"/>
                </a:solidFill>
                <a:latin typeface="Consolas"/>
              </a:rPr>
              <a:t>THANK YOU</a:t>
            </a:r>
          </a:p>
        </p:txBody>
      </p:sp>
      <p:sp>
        <p:nvSpPr>
          <p:cNvPr id="6" name="TextBox 5"/>
          <p:cNvSpPr txBox="1"/>
          <p:nvPr/>
        </p:nvSpPr>
        <p:spPr>
          <a:xfrm>
            <a:off x="566928" y="2788920"/>
            <a:ext cx="10607040" cy="1188720"/>
          </a:xfrm>
          <a:prstGeom prst="rect">
            <a:avLst/>
          </a:prstGeom>
          <a:noFill/>
        </p:spPr>
        <p:txBody>
          <a:bodyPr wrap="square" anchor="t" lIns="0" rIns="0" tIns="0" bIns="0">
            <a:spAutoFit/>
          </a:bodyPr>
          <a:lstStyle/>
          <a:p>
            <a:pPr algn="l">
              <a:lnSpc>
                <a:spcPct val="104000"/>
              </a:lnSpc>
            </a:pPr>
            <a:r>
              <a:rPr sz="2600" b="1" i="0">
                <a:solidFill>
                  <a:srgbClr val="EEF2F8"/>
                </a:solidFill>
                <a:latin typeface="Arial Black"/>
              </a:rPr>
              <a:t>Four extensions, zero core changes, real evidence for each</a:t>
            </a:r>
          </a:p>
        </p:txBody>
      </p:sp>
      <p:sp>
        <p:nvSpPr>
          <p:cNvPr id="7" name="TextBox 6"/>
          <p:cNvSpPr txBox="1"/>
          <p:nvPr/>
        </p:nvSpPr>
        <p:spPr>
          <a:xfrm>
            <a:off x="566928" y="3611880"/>
            <a:ext cx="9144000" cy="822960"/>
          </a:xfrm>
          <a:prstGeom prst="rect">
            <a:avLst/>
          </a:prstGeom>
          <a:noFill/>
        </p:spPr>
        <p:txBody>
          <a:bodyPr wrap="square" anchor="t" lIns="0" rIns="0" tIns="0" bIns="0">
            <a:spAutoFit/>
          </a:bodyPr>
          <a:lstStyle/>
          <a:p>
            <a:pPr algn="l">
              <a:lnSpc>
                <a:spcPct val="130000"/>
              </a:lnSpc>
            </a:pPr>
            <a:r>
              <a:rPr sz="1400" b="0" i="1">
                <a:solidFill>
                  <a:srgbClr val="AEBBD2"/>
                </a:solidFill>
                <a:latin typeface="Georgia"/>
              </a:rPr>
              <a:t>Paper 1's interfaces held up exactly as designed. Happy to walk through any extension live,</a:t>
            </a:r>
          </a:p>
          <a:p>
            <a:pPr algn="l">
              <a:lnSpc>
                <a:spcPct val="130000"/>
              </a:lnSpc>
            </a:pPr>
            <a:r>
              <a:rPr sz="1400" b="0" i="1">
                <a:solidFill>
                  <a:srgbClr val="AEBBD2"/>
                </a:solidFill>
                <a:latin typeface="Georgia"/>
              </a:rPr>
              <a:t>or discuss the separate Zero Trust Backplane integration effort.</a:t>
            </a:r>
          </a:p>
        </p:txBody>
      </p:sp>
      <p:sp>
        <p:nvSpPr>
          <p:cNvPr id="8" name="TextBox 7"/>
          <p:cNvSpPr txBox="1"/>
          <p:nvPr/>
        </p:nvSpPr>
        <p:spPr>
          <a:xfrm>
            <a:off x="566928" y="4526280"/>
            <a:ext cx="7315200" cy="457200"/>
          </a:xfrm>
          <a:prstGeom prst="rect">
            <a:avLst/>
          </a:prstGeom>
          <a:noFill/>
        </p:spPr>
        <p:txBody>
          <a:bodyPr wrap="square" anchor="t" lIns="0" rIns="0" tIns="0" bIns="0">
            <a:spAutoFit/>
          </a:bodyPr>
          <a:lstStyle/>
          <a:p>
            <a:pPr algn="l">
              <a:lnSpc>
                <a:spcPct val="115000"/>
              </a:lnSpc>
            </a:pPr>
            <a:r>
              <a:rPr sz="1500" b="0" i="0">
                <a:solidFill>
                  <a:srgbClr val="AEBBD2"/>
                </a:solidFill>
                <a:latin typeface="Consolas"/>
              </a:rPr>
              <a:t>github.com/smartsystemslab-uf/MANTIS</a:t>
            </a:r>
          </a:p>
        </p:txBody>
      </p:sp>
      <p:cxnSp>
        <p:nvCxnSpPr>
          <p:cNvPr id="9" name="Connector 8"/>
          <p:cNvCxnSpPr/>
          <p:nvPr/>
        </p:nvCxnSpPr>
        <p:spPr>
          <a:xfrm>
            <a:off x="566928" y="6382512"/>
            <a:ext cx="2377440" cy="0"/>
          </a:xfrm>
          <a:prstGeom prst="line">
            <a:avLst/>
          </a:prstGeom>
          <a:ln w="9525">
            <a:solidFill>
              <a:srgbClr val="7E8FA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326880" y="6382512"/>
            <a:ext cx="2286000" cy="0"/>
          </a:xfrm>
          <a:prstGeom prst="line">
            <a:avLst/>
          </a:prstGeom>
          <a:ln w="9525">
            <a:solidFill>
              <a:srgbClr val="7E8FA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017520" y="6281928"/>
            <a:ext cx="6217920" cy="256032"/>
          </a:xfrm>
          <a:prstGeom prst="rect">
            <a:avLst/>
          </a:prstGeom>
          <a:noFill/>
        </p:spPr>
        <p:txBody>
          <a:bodyPr wrap="square" anchor="t" lIns="0" rIns="0" tIns="0" bIns="0">
            <a:spAutoFit/>
          </a:bodyPr>
          <a:lstStyle/>
          <a:p>
            <a:pPr algn="ctr">
              <a:lnSpc>
                <a:spcPct val="115000"/>
              </a:lnSpc>
            </a:pPr>
            <a:r>
              <a:rPr sz="800" b="0" i="0">
                <a:solidFill>
                  <a:srgbClr val="7E8FAE"/>
                </a:solidFill>
                <a:latin typeface="Consolas"/>
              </a:rPr>
              <a:t>Leading the Charge, Charging Ahead</a:t>
            </a:r>
          </a:p>
        </p:txBody>
      </p:sp>
      <p:sp>
        <p:nvSpPr>
          <p:cNvPr id="12" name="TextBox 11"/>
          <p:cNvSpPr txBox="1"/>
          <p:nvPr/>
        </p:nvSpPr>
        <p:spPr>
          <a:xfrm>
            <a:off x="11430000" y="6281928"/>
            <a:ext cx="548640" cy="256032"/>
          </a:xfrm>
          <a:prstGeom prst="rect">
            <a:avLst/>
          </a:prstGeom>
          <a:noFill/>
        </p:spPr>
        <p:txBody>
          <a:bodyPr wrap="square" anchor="t" lIns="0" rIns="0" tIns="0" bIns="0">
            <a:spAutoFit/>
          </a:bodyPr>
          <a:lstStyle/>
          <a:p>
            <a:pPr algn="r">
              <a:lnSpc>
                <a:spcPct val="115000"/>
              </a:lnSpc>
            </a:pPr>
            <a:r>
              <a:rPr sz="900" b="1" i="0">
                <a:solidFill>
                  <a:srgbClr val="AEBBD2"/>
                </a:solidFill>
                <a:latin typeface="Consolas"/>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