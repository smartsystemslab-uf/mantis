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companion deck to Paper 2 -- MANTIS Extended.</a:t>
            </a:r>
          </a:p>
          <a:p/>
          <a:p>
            <a:r>
              <a:t>Quick framing: the first MANTIS paper scoped itself narrowly on purpose and named five extensions it deliberately deferred rather than attempted under that schedule. This deck covers all five, each with live evidence, not just a description.</a:t>
            </a:r>
          </a:p>
          <a:p/>
          <a:p>
            <a:r>
              <a:t>Paper 1 and its own deck are unchanged -- this is additive, a second paper building on the first, not a revision of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five items on this slide are quoted directly from Paper 1's own coding plan section 11, "Post-Paper Extensions" -- not a list we assembled after the fact.</a:t>
            </a:r>
          </a:p>
          <a:p/>
          <a:p>
            <a:r>
              <a:t>Walk the five briefly: more telemetry backends, defensive plugins through the same interface as attacks, a Zero Trust integration point, more banking processes, and a thin UI over the CLI.</a:t>
            </a:r>
          </a:p>
          <a:p/>
          <a:p>
            <a:r>
              <a:t>Key point: each of the next five sections covers exactly one of these, in the same order, with live evidence for each.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extension: additional observability exporters. All four of the coding plan's named backends are now built, not just Jaeger.</a:t>
            </a:r>
          </a:p>
          <a:p/>
          <a:p>
            <a:r>
              <a:t>Jaeger, Grafana Tempo, and Phoenix all accept OTLP natively over gRPC, so they're the same adapter shape -- a thin wrapper around the TracerProvider Paper 1's OpenTelemetry setup already creates, differing only in endpoint and an optional auth header for their managed cloud offerings. Langfuse is the one that's genuinely different: its ingestion endpoint is HTTP-only and always requires Basic auth, even self-hosted, so that adapter is built on a different OTLP transport package entirely.</a:t>
            </a:r>
          </a:p>
          <a:p/>
          <a:p>
            <a:r>
              <a:t>Enabling any of them is still one line in the observability.export list plus an endpoint -- no code change anywhere in the banking workflow or the hook bus.</a:t>
            </a:r>
          </a:p>
          <a:p/>
          <a:p>
            <a:r>
              <a:t>Key point, and this is the one to land: we verified the failure path, not just the happy path, for all four. And Langfuse got a stronger check than a local no-collector test can offer -- run it with no credentials against the real hosted Langfuse endpoint, and it came back with a genuine 401 Unauthorized over the real network, which confirms the wiring is correct end to end against the actual service.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extension: a concrete guardrail plugin, evaluated through the exact same plugin interface as an attack -- Paper 1 shipped this interface with no implementation behind it.</a:t>
            </a:r>
          </a:p>
          <a:p/>
          <a:p>
            <a:r>
              <a:t>Walk the table top to bottom -- this is a real, live run against a real model, not a simulation. A legitimate $125.50 transfer gets mutated by Paper 1's own tool-mutation attack to $5,000 into an account called HACKER-9999. The guardrail, configured with a $2,000 limit, evaluates that already-mutated call and denies it. The real banking backend never sees it, and the agent correctly tells the customer it's a payment-limit restriction, not a generic failure.</a:t>
            </a:r>
          </a:p>
          <a:p/>
          <a:p>
            <a:r>
              <a:t>Key point on ordering: the guardrail is registered after the attack on the hook bus, specifically so it evaluates what the attack actually did, not the original clean call. A defense that only ever sees clean traffic isn't proving anything.</a:t>
            </a:r>
          </a:p>
          <a:p/>
          <a:p>
            <a:r>
              <a:t>One more detail worth mentioning if asked: we also had to teach the observability layer a new event type, POLICY_EVENT, distinct from ATTACK_INJECTED -- a guardrail denying a call is the system working as intended, not an attack, and the trace now says so explicitly.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extension, and this one has a genuinely interesting story: while building this, we discovered a separate team has already built a substantially more complete Zero Trust Backplane against this exact same banking testbed.</a:t>
            </a:r>
          </a:p>
          <a:p/>
          <a:p>
            <a:r>
              <a:t>Their project scans source code to discover agents and tools, mapping them onto canonical identities. MANTIS's own inventory already reports that same information live, since it's introspected from the running system -- so MANTIS's inventory is a natural substitute data source for their scanner, not a competing thing.</a:t>
            </a:r>
          </a:p>
          <a:p/>
          <a:p>
            <a:r>
              <a:t>What we built on the MANTIS side is a representative slice -- a policy generator and an enforcement plugin -- kept entirely outside MANTIS's own code, self-registering only when explicitly imported. MANTIS never depends on it existing, which was the whole design constraint Paper 1 set for this extension point.</a:t>
            </a:r>
          </a:p>
          <a:p/>
          <a:p>
            <a:r>
              <a:t>Next slide has the finding this work surfaced along the way.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finding: building a default-deny-by-domain policy only works if domains actually report different tools. Paper 1's own inventory interface didn't do that -- every domain reported the entire merged tool list, which would have made this whole extension meaningless.</a:t>
            </a:r>
          </a:p>
          <a:p/>
          <a:p>
            <a:r>
              <a:t>The fix was real and precise: tools are genuinely domain-tagged, through which source module a domain's agents import from. We corrected the inventory and added a regression test proving a back-office-only tool is unreachable from front or mid office's reported tools.</a:t>
            </a:r>
          </a:p>
          <a:p/>
          <a:p>
            <a:r>
              <a:t>We didn't stop at one clean run, though. Revisiting this extension specifically to replace a single-run anecdote with real statistics: we ran the real plugin against all 770 (agent, tool) pairs the live inventory implies -- every combination the system actually has -- and it enforced every single one correctly. Then five live trials against a real model, zero false-positive denials in any of them.</a:t>
            </a:r>
          </a:p>
          <a:p/>
          <a:p>
            <a:r>
              <a:t>Building that harness surfaced a second real bug, the same shape as one we'd already fixed for the guardrail extension: this plugin's own denials were being silently recorded as an attack, not a defense, in the trace. Fixed, with a test that exercises the real hook bus end to end so it can't come back silently.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extension: a genuinely new banking process, not a new prompt into an existing workflow -- filing and tracking a transaction dispute, as a third route under the front-office router.</a:t>
            </a:r>
          </a:p>
          <a:p/>
          <a:p>
            <a:r>
              <a:t>Worth distinguishing from something that already existed: the chatbot already answers "how do I dispute a transaction" as an FAQ. This is different -- it actually files a real case with a real generated ID, persisted in the same database the manual-review process already uses.</a:t>
            </a:r>
          </a:p>
          <a:p/>
          <a:p>
            <a:r>
              <a:t>The honest part of this story: the first version produced zero tool calls across three consecutive live trials, with correct routing every time. The cause wasn't a code defect -- it was that our scenario prompt never stated a customer id, which the tool needs, and which every other scenario in this codebase states explicitly. We fixed the prompt, not the tool, and the very next live run filed a real case correctly.</a:t>
            </a:r>
          </a:p>
          <a:p/>
          <a:p>
            <a:r>
              <a:t>Key point: this is the same lesson as the Zero Trust finding -- a clean exit and correct routing both looked fine; only checking the actual tool-call events revealed nothing had happened.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extension: the minimal UI Paper 1's coding plan named last -- a schema-driven editor and trace viewer, explicitly constrained to invoke the same CLI, not implement a second version of anything.</a:t>
            </a:r>
          </a:p>
          <a:p/>
          <a:p>
            <a:r>
              <a:t>The dropdowns for domain, workflow, scenario, and plugin are populated live from the same registries the CLI itself reads from -- not a hardcoded list baked into the page that could quietly drift from the real system.</a:t>
            </a:r>
          </a:p>
          <a:p/>
          <a:p>
            <a:r>
              <a:t>Key point, and we verified this directly rather than assuming it from the code structure: submitted a configuration with a deliberately invalid domain through the UI, and got back the real CLI's own "Unknown domain" error text -- because it's the same subprocess, not a UI-side reimplementation of that check.</a:t>
            </a:r>
          </a:p>
          <a:p/>
          <a:p>
            <a:r>
              <a:t>We also confirmed it as a real running server, not just passing an internal test client -- launched it for real and queried it over HTTP, and it correctly reported the live system: 32 agents, 22 tools, 27 existing run artifacts, at the time we checked.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Summary slide -- every extension checked against real data or a real live run, the same standard Paper 1 set for itself.</a:t>
            </a:r>
          </a:p>
          <a:p/>
          <a:p>
            <a:r>
              <a:t>The offline suite stands at 147 tests -- covering all five extensions, including the three additional exporters and the deeper Zero Trust evidence added in a second pass -- all still running in under a minute with no live model key required.</a:t>
            </a:r>
          </a:p>
          <a:p/>
          <a:p>
            <a:r>
              <a:t>The three numbers at the bottom are the ones worth pausing on: zero changes required to any of MANTIS's core interfaces to add any of these five extensions -- the plugin and inventory interfaces held up exactly as designed. And three real defects found and fixed along the way, none visible from a clean process exit -- a domain-scoping bug, a scenario-prompt gap, and an event-misclassification bug in the Zero Trust plugin found only when we went back to replace a single-run anecdote with real repeated-trial statistics.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MANTIS Extended.</a:t>
            </a:r>
          </a:p>
          <a:p/>
          <a:p>
            <a:r>
              <a:t>Closing message: the headline result of this second paper isn't any single extension -- it's that Paper 1's plugin and inventory interfaces held up completely unmodified across all five, including a defensive plugin, four separate telemetry backends, an integration surface for someone else's independent Zero Trust project verified with real repeated-trial statistics, a new banking process, and a UI.</a:t>
            </a:r>
          </a:p>
          <a:p/>
          <a:p>
            <a:r>
              <a:t>Everything shown today is reproducible from the checked-in configs in the repository, same as Paper 1. Thank you, and happy to take questions or walk through any extension live.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2331720"/>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PAPER 2 — POST-PAPER EXTENSIONS</a:t>
            </a:r>
          </a:p>
        </p:txBody>
      </p:sp>
      <p:sp>
        <p:nvSpPr>
          <p:cNvPr id="6" name="TextBox 5"/>
          <p:cNvSpPr txBox="1"/>
          <p:nvPr/>
        </p:nvSpPr>
        <p:spPr>
          <a:xfrm>
            <a:off x="566928" y="2651760"/>
            <a:ext cx="10607040" cy="1188720"/>
          </a:xfrm>
          <a:prstGeom prst="rect">
            <a:avLst/>
          </a:prstGeom>
          <a:noFill/>
        </p:spPr>
        <p:txBody>
          <a:bodyPr wrap="square" anchor="t" lIns="0" rIns="0" tIns="0" bIns="0">
            <a:spAutoFit/>
          </a:bodyPr>
          <a:lstStyle/>
          <a:p>
            <a:pPr algn="l">
              <a:lnSpc>
                <a:spcPct val="104000"/>
              </a:lnSpc>
            </a:pPr>
            <a:r>
              <a:rPr sz="4800" b="1" i="0">
                <a:solidFill>
                  <a:srgbClr val="EEF2F8"/>
                </a:solidFill>
                <a:latin typeface="Arial Black"/>
              </a:rPr>
              <a:t>MANTIS Extended</a:t>
            </a:r>
          </a:p>
        </p:txBody>
      </p:sp>
      <p:sp>
        <p:nvSpPr>
          <p:cNvPr id="7" name="TextBox 6"/>
          <p:cNvSpPr txBox="1"/>
          <p:nvPr/>
        </p:nvSpPr>
        <p:spPr>
          <a:xfrm>
            <a:off x="566928" y="3429000"/>
            <a:ext cx="9418320" cy="822960"/>
          </a:xfrm>
          <a:prstGeom prst="rect">
            <a:avLst/>
          </a:prstGeom>
          <a:noFill/>
        </p:spPr>
        <p:txBody>
          <a:bodyPr wrap="square" anchor="t" lIns="0" rIns="0" tIns="0" bIns="0">
            <a:spAutoFit/>
          </a:bodyPr>
          <a:lstStyle/>
          <a:p>
            <a:pPr algn="l">
              <a:lnSpc>
                <a:spcPct val="130000"/>
              </a:lnSpc>
            </a:pPr>
            <a:r>
              <a:rPr sz="1450" b="0" i="1">
                <a:solidFill>
                  <a:srgbClr val="AEBBD2"/>
                </a:solidFill>
                <a:latin typeface="Georgia"/>
              </a:rPr>
              <a:t>Five extensions Paper 1 deliberately deferred — additional exporters, security-mechanism</a:t>
            </a:r>
          </a:p>
          <a:p>
            <a:pPr algn="l">
              <a:lnSpc>
                <a:spcPct val="130000"/>
              </a:lnSpc>
            </a:pPr>
            <a:r>
              <a:rPr sz="1450" b="0" i="1">
                <a:solidFill>
                  <a:srgbClr val="AEBBD2"/>
                </a:solidFill>
                <a:latin typeface="Georgia"/>
              </a:rPr>
              <a:t>plugins, a Zero Trust integration surface, new banking workloads, and a minimal UI — each built,</a:t>
            </a:r>
          </a:p>
          <a:p>
            <a:pPr algn="l">
              <a:lnSpc>
                <a:spcPct val="130000"/>
              </a:lnSpc>
            </a:pPr>
            <a:r>
              <a:rPr sz="1450" b="0" i="1">
                <a:solidFill>
                  <a:srgbClr val="AEBBD2"/>
                </a:solidFill>
                <a:latin typeface="Georgia"/>
              </a:rPr>
              <a:t>each live-verified.</a:t>
            </a:r>
          </a:p>
        </p:txBody>
      </p:sp>
      <p:cxnSp>
        <p:nvCxnSpPr>
          <p:cNvPr id="8" name="Connector 7"/>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smartsystemslab-uf/MANTIS · Paper 2</a:t>
            </a:r>
          </a:p>
        </p:txBody>
      </p:sp>
      <p:sp>
        <p:nvSpPr>
          <p:cNvPr id="11" name="TextBox 10"/>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WHERE PAPER 1 LEFT OFF</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400" b="1" i="0">
                <a:solidFill>
                  <a:srgbClr val="EEF2F8"/>
                </a:solidFill>
                <a:latin typeface="Arial Black"/>
              </a:rPr>
              <a:t>Five extensions, named and deferred on purpose</a:t>
            </a:r>
          </a:p>
        </p:txBody>
      </p:sp>
      <p:sp>
        <p:nvSpPr>
          <p:cNvPr id="7" name="TextBox 6"/>
          <p:cNvSpPr txBox="1"/>
          <p:nvPr/>
        </p:nvSpPr>
        <p:spPr>
          <a:xfrm>
            <a:off x="566928" y="1627632"/>
            <a:ext cx="9601200" cy="457200"/>
          </a:xfrm>
          <a:prstGeom prst="rect">
            <a:avLst/>
          </a:prstGeom>
          <a:noFill/>
        </p:spPr>
        <p:txBody>
          <a:bodyPr wrap="square" anchor="t" lIns="0" rIns="0" tIns="0" bIns="0">
            <a:spAutoFit/>
          </a:bodyPr>
          <a:lstStyle/>
          <a:p>
            <a:pPr algn="l">
              <a:lnSpc>
                <a:spcPct val="115000"/>
              </a:lnSpc>
            </a:pPr>
            <a:r>
              <a:rPr sz="1350" b="0" i="1">
                <a:solidFill>
                  <a:srgbClr val="AEBBD2"/>
                </a:solidFill>
                <a:latin typeface="Georgia"/>
              </a:rPr>
              <a:t>Paper 1's own coding plan listed these explicitly — not gaps found later, but scope cut deliberately to ship on schedule.</a:t>
            </a:r>
          </a:p>
        </p:txBody>
      </p:sp>
      <p:sp>
        <p:nvSpPr>
          <p:cNvPr id="8" name="Rounded Rectangle 7"/>
          <p:cNvSpPr/>
          <p:nvPr/>
        </p:nvSpPr>
        <p:spPr>
          <a:xfrm>
            <a:off x="566928" y="2286000"/>
            <a:ext cx="2121408" cy="356616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404872"/>
            <a:ext cx="1792224"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Additional exporters</a:t>
            </a:r>
          </a:p>
        </p:txBody>
      </p:sp>
      <p:sp>
        <p:nvSpPr>
          <p:cNvPr id="10" name="TextBox 9"/>
          <p:cNvSpPr txBox="1"/>
          <p:nvPr/>
        </p:nvSpPr>
        <p:spPr>
          <a:xfrm>
            <a:off x="731520" y="2724912"/>
            <a:ext cx="1792224" cy="3017520"/>
          </a:xfrm>
          <a:prstGeom prst="rect">
            <a:avLst/>
          </a:prstGeom>
          <a:noFill/>
        </p:spPr>
        <p:txBody>
          <a:bodyPr wrap="square" anchor="t" lIns="0" rIns="0" tIns="0" bIns="0">
            <a:spAutoFit/>
          </a:bodyPr>
          <a:lstStyle/>
          <a:p>
            <a:pPr algn="l">
              <a:lnSpc>
                <a:spcPct val="122000"/>
              </a:lnSpc>
            </a:pPr>
            <a:r>
              <a:rPr sz="1000" b="0" i="0">
                <a:solidFill>
                  <a:srgbClr val="AEBBD2"/>
                </a:solidFill>
                <a:latin typeface="Arial"/>
              </a:rPr>
              <a:t>Jaeger, Grafana, Langfuse, Phoenix — beyond the OTel/MLflow/JSONL Paper 1 shipped.</a:t>
            </a:r>
          </a:p>
        </p:txBody>
      </p:sp>
      <p:sp>
        <p:nvSpPr>
          <p:cNvPr id="11" name="Rounded Rectangle 10"/>
          <p:cNvSpPr/>
          <p:nvPr/>
        </p:nvSpPr>
        <p:spPr>
          <a:xfrm>
            <a:off x="2779776" y="2286000"/>
            <a:ext cx="2121408" cy="356616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44368" y="2404872"/>
            <a:ext cx="1792224"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Security mechanism plugins</a:t>
            </a:r>
          </a:p>
        </p:txBody>
      </p:sp>
      <p:sp>
        <p:nvSpPr>
          <p:cNvPr id="13" name="TextBox 12"/>
          <p:cNvSpPr txBox="1"/>
          <p:nvPr/>
        </p:nvSpPr>
        <p:spPr>
          <a:xfrm>
            <a:off x="2944368" y="2724912"/>
            <a:ext cx="1792224" cy="3017520"/>
          </a:xfrm>
          <a:prstGeom prst="rect">
            <a:avLst/>
          </a:prstGeom>
          <a:noFill/>
        </p:spPr>
        <p:txBody>
          <a:bodyPr wrap="square" anchor="t" lIns="0" rIns="0" tIns="0" bIns="0">
            <a:spAutoFit/>
          </a:bodyPr>
          <a:lstStyle/>
          <a:p>
            <a:pPr algn="l">
              <a:lnSpc>
                <a:spcPct val="122000"/>
              </a:lnSpc>
            </a:pPr>
            <a:r>
              <a:rPr sz="1000" b="0" i="0">
                <a:solidFill>
                  <a:srgbClr val="AEBBD2"/>
                </a:solidFill>
                <a:latin typeface="Arial"/>
              </a:rPr>
              <a:t>Guardrails, policy checks, rate limits — evaluated through the same framework as attacks.</a:t>
            </a:r>
          </a:p>
        </p:txBody>
      </p:sp>
      <p:sp>
        <p:nvSpPr>
          <p:cNvPr id="14" name="Rounded Rectangle 13"/>
          <p:cNvSpPr/>
          <p:nvPr/>
        </p:nvSpPr>
        <p:spPr>
          <a:xfrm>
            <a:off x="4992624" y="2286000"/>
            <a:ext cx="2121408" cy="356616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57216" y="2404872"/>
            <a:ext cx="1792224"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Zero Trust Backplane</a:t>
            </a:r>
          </a:p>
        </p:txBody>
      </p:sp>
      <p:sp>
        <p:nvSpPr>
          <p:cNvPr id="16" name="TextBox 15"/>
          <p:cNvSpPr txBox="1"/>
          <p:nvPr/>
        </p:nvSpPr>
        <p:spPr>
          <a:xfrm>
            <a:off x="5157216" y="2724912"/>
            <a:ext cx="1792224" cy="3017520"/>
          </a:xfrm>
          <a:prstGeom prst="rect">
            <a:avLst/>
          </a:prstGeom>
          <a:noFill/>
        </p:spPr>
        <p:txBody>
          <a:bodyPr wrap="square" anchor="t" lIns="0" rIns="0" tIns="0" bIns="0">
            <a:spAutoFit/>
          </a:bodyPr>
          <a:lstStyle/>
          <a:p>
            <a:pPr algn="l">
              <a:lnSpc>
                <a:spcPct val="122000"/>
              </a:lnSpc>
            </a:pPr>
            <a:r>
              <a:rPr sz="1000" b="0" i="0">
                <a:solidFill>
                  <a:srgbClr val="AEBBD2"/>
                </a:solidFill>
                <a:latin typeface="Arial"/>
              </a:rPr>
              <a:t>Consume the existing inventory and control-point metadata to generate or enforce protection.</a:t>
            </a:r>
          </a:p>
        </p:txBody>
      </p:sp>
      <p:sp>
        <p:nvSpPr>
          <p:cNvPr id="17" name="Rounded Rectangle 16"/>
          <p:cNvSpPr/>
          <p:nvPr/>
        </p:nvSpPr>
        <p:spPr>
          <a:xfrm>
            <a:off x="7205472" y="2286000"/>
            <a:ext cx="2121408" cy="356616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70064" y="2404872"/>
            <a:ext cx="1792224"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Additional banking workloads</a:t>
            </a:r>
          </a:p>
        </p:txBody>
      </p:sp>
      <p:sp>
        <p:nvSpPr>
          <p:cNvPr id="19" name="TextBox 18"/>
          <p:cNvSpPr txBox="1"/>
          <p:nvPr/>
        </p:nvSpPr>
        <p:spPr>
          <a:xfrm>
            <a:off x="7370064" y="2724912"/>
            <a:ext cx="1792224" cy="3017520"/>
          </a:xfrm>
          <a:prstGeom prst="rect">
            <a:avLst/>
          </a:prstGeom>
          <a:noFill/>
        </p:spPr>
        <p:txBody>
          <a:bodyPr wrap="square" anchor="t" lIns="0" rIns="0" tIns="0" bIns="0">
            <a:spAutoFit/>
          </a:bodyPr>
          <a:lstStyle/>
          <a:p>
            <a:pPr algn="l">
              <a:lnSpc>
                <a:spcPct val="122000"/>
              </a:lnSpc>
            </a:pPr>
            <a:r>
              <a:rPr sz="1000" b="0" i="0">
                <a:solidFill>
                  <a:srgbClr val="AEBBD2"/>
                </a:solidFill>
                <a:latin typeface="Arial"/>
              </a:rPr>
              <a:t>More banking processes and workflow patterns beyond Paper 1's evaluation set.</a:t>
            </a:r>
          </a:p>
        </p:txBody>
      </p:sp>
      <p:sp>
        <p:nvSpPr>
          <p:cNvPr id="20" name="Rounded Rectangle 19"/>
          <p:cNvSpPr/>
          <p:nvPr/>
        </p:nvSpPr>
        <p:spPr>
          <a:xfrm>
            <a:off x="9418320" y="2286000"/>
            <a:ext cx="2121408" cy="356616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82912" y="2404872"/>
            <a:ext cx="1792224"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Minimal UI</a:t>
            </a:r>
          </a:p>
        </p:txBody>
      </p:sp>
      <p:sp>
        <p:nvSpPr>
          <p:cNvPr id="22" name="TextBox 21"/>
          <p:cNvSpPr txBox="1"/>
          <p:nvPr/>
        </p:nvSpPr>
        <p:spPr>
          <a:xfrm>
            <a:off x="9582912" y="2724912"/>
            <a:ext cx="1792224" cy="3017520"/>
          </a:xfrm>
          <a:prstGeom prst="rect">
            <a:avLst/>
          </a:prstGeom>
          <a:noFill/>
        </p:spPr>
        <p:txBody>
          <a:bodyPr wrap="square" anchor="t" lIns="0" rIns="0" tIns="0" bIns="0">
            <a:spAutoFit/>
          </a:bodyPr>
          <a:lstStyle/>
          <a:p>
            <a:pPr algn="l">
              <a:lnSpc>
                <a:spcPct val="122000"/>
              </a:lnSpc>
            </a:pPr>
            <a:r>
              <a:rPr sz="1000" b="0" i="0">
                <a:solidFill>
                  <a:srgbClr val="AEBBD2"/>
                </a:solidFill>
                <a:latin typeface="Arial"/>
              </a:rPr>
              <a:t>A schema-driven editor and trace viewer over the existing CLI — no separate business logic.</a:t>
            </a:r>
          </a:p>
        </p:txBody>
      </p:sp>
      <p:cxnSp>
        <p:nvCxnSpPr>
          <p:cNvPr id="23" name="Connector 22"/>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MANTIS EXTENDED — POST-PAPER EXTENSIONS</a:t>
            </a:r>
          </a:p>
        </p:txBody>
      </p:sp>
      <p:sp>
        <p:nvSpPr>
          <p:cNvPr id="26" name="TextBox 25"/>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EXTENSION 1 OF 5 — ADDITIONAL EXPORTERS</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200" b="1" i="0">
                <a:solidFill>
                  <a:srgbClr val="EEF2F8"/>
                </a:solidFill>
                <a:latin typeface="Arial Black"/>
              </a:rPr>
              <a:t>Four telemetry backends, one adapter pattern, config-only</a:t>
            </a:r>
          </a:p>
        </p:txBody>
      </p:sp>
      <p:sp>
        <p:nvSpPr>
          <p:cNvPr id="7" name="Rounded Rectangle 6"/>
          <p:cNvSpPr/>
          <p:nvPr/>
        </p:nvSpPr>
        <p:spPr>
          <a:xfrm>
            <a:off x="566928" y="1691640"/>
            <a:ext cx="5349240" cy="21031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810512"/>
            <a:ext cx="502005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All four built</a:t>
            </a:r>
          </a:p>
        </p:txBody>
      </p:sp>
      <p:sp>
        <p:nvSpPr>
          <p:cNvPr id="9" name="TextBox 8"/>
          <p:cNvSpPr txBox="1"/>
          <p:nvPr/>
        </p:nvSpPr>
        <p:spPr>
          <a:xfrm>
            <a:off x="731520" y="2130552"/>
            <a:ext cx="5020056" cy="1554480"/>
          </a:xfrm>
          <a:prstGeom prst="rect">
            <a:avLst/>
          </a:prstGeom>
          <a:noFill/>
        </p:spPr>
        <p:txBody>
          <a:bodyPr wrap="square" anchor="t" lIns="0" rIns="0" tIns="0" bIns="0">
            <a:spAutoFit/>
          </a:bodyPr>
          <a:lstStyle/>
          <a:p>
            <a:pPr algn="l">
              <a:lnSpc>
                <a:spcPct val="122000"/>
              </a:lnSpc>
            </a:pPr>
            <a:r>
              <a:rPr sz="1050" b="0" i="0">
                <a:solidFill>
                  <a:srgbClr val="AEBBD2"/>
                </a:solidFill>
                <a:latin typeface="Arial"/>
              </a:rPr>
              <a:t>Jaeger, Grafana (Tempo), and Phoenix are the same thin OTLP-over-gRPC wrapper around Paper 1's own TracerProvider, differing only in default endpoint and an optional cloud-auth header. Langfuse genuinely differs — its endpoint is HTTP-only and always requires Basic auth, even self-hosted — so it's built on the OTLP/HTTP exporter instead.</a:t>
            </a:r>
          </a:p>
        </p:txBody>
      </p:sp>
      <p:sp>
        <p:nvSpPr>
          <p:cNvPr id="10" name="Rounded Rectangle 9"/>
          <p:cNvSpPr/>
          <p:nvPr/>
        </p:nvSpPr>
        <p:spPr>
          <a:xfrm>
            <a:off x="6080760" y="1691640"/>
            <a:ext cx="5532120" cy="21031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45352" y="1810512"/>
            <a:ext cx="520293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How you use it</a:t>
            </a:r>
          </a:p>
        </p:txBody>
      </p:sp>
      <p:sp>
        <p:nvSpPr>
          <p:cNvPr id="12" name="TextBox 11"/>
          <p:cNvSpPr txBox="1"/>
          <p:nvPr/>
        </p:nvSpPr>
        <p:spPr>
          <a:xfrm>
            <a:off x="6245352" y="2130552"/>
            <a:ext cx="5202936" cy="1554480"/>
          </a:xfrm>
          <a:prstGeom prst="rect">
            <a:avLst/>
          </a:prstGeom>
          <a:noFill/>
        </p:spPr>
        <p:txBody>
          <a:bodyPr wrap="square" anchor="t" lIns="0" rIns="0" tIns="0" bIns="0">
            <a:spAutoFit/>
          </a:bodyPr>
          <a:lstStyle/>
          <a:p>
            <a:pPr algn="l">
              <a:lnSpc>
                <a:spcPct val="122000"/>
              </a:lnSpc>
            </a:pPr>
            <a:r>
              <a:rPr sz="1100" b="0" i="0">
                <a:solidFill>
                  <a:srgbClr val="AEBBD2"/>
                </a:solidFill>
                <a:latin typeface="Arial"/>
              </a:rPr>
              <a:t>observability:</a:t>
            </a:r>
          </a:p>
          <a:p>
            <a:pPr algn="l">
              <a:lnSpc>
                <a:spcPct val="122000"/>
              </a:lnSpc>
            </a:pPr>
            <a:r>
              <a:rPr sz="1100" b="0" i="0">
                <a:solidFill>
                  <a:srgbClr val="AEBBD2"/>
                </a:solidFill>
                <a:latin typeface="Arial"/>
              </a:rPr>
              <a:t>  export: [jsonl, jaeger]   # or grafana / phoenix / langfuse</a:t>
            </a:r>
          </a:p>
          <a:p>
            <a:pPr algn="l">
              <a:lnSpc>
                <a:spcPct val="122000"/>
              </a:lnSpc>
            </a:pPr>
            <a:r>
              <a:rPr sz="1100" b="0" i="0">
                <a:solidFill>
                  <a:srgbClr val="AEBBD2"/>
                </a:solidFill>
                <a:latin typeface="Arial"/>
              </a:rPr>
              <a:t>  jaeger_endpoint: http://localhost:4317</a:t>
            </a:r>
          </a:p>
          <a:p>
            <a:pPr algn="l">
              <a:lnSpc>
                <a:spcPct val="122000"/>
              </a:lnSpc>
            </a:pPr>
            <a:r>
              <a:rPr sz="1100" b="0" i="0">
                <a:solidFill>
                  <a:srgbClr val="AEBBD2"/>
                </a:solidFill>
                <a:latin typeface="Arial"/>
              </a:rPr>
              <a:t/>
            </a:r>
          </a:p>
          <a:p>
            <a:pPr algn="l">
              <a:lnSpc>
                <a:spcPct val="122000"/>
              </a:lnSpc>
            </a:pPr>
            <a:r>
              <a:rPr sz="1100" b="0" i="0">
                <a:solidFill>
                  <a:srgbClr val="AEBBD2"/>
                </a:solidFill>
                <a:latin typeface="Arial"/>
              </a:rPr>
              <a:t>No code change to the banking workflow, hook bus, or observability plugin — same one-line pattern for all four.</a:t>
            </a:r>
          </a:p>
        </p:txBody>
      </p:sp>
      <p:sp>
        <p:nvSpPr>
          <p:cNvPr id="13" name="Rounded Rectangle 12"/>
          <p:cNvSpPr/>
          <p:nvPr/>
        </p:nvSpPr>
        <p:spPr>
          <a:xfrm>
            <a:off x="566928" y="3977639"/>
            <a:ext cx="11064240" cy="1783080"/>
          </a:xfrm>
          <a:prstGeom prst="roundRect">
            <a:avLst>
              <a:gd name="adj" fmla="val 7000"/>
            </a:avLst>
          </a:prstGeom>
          <a:solidFill>
            <a:srgbClr val="331E14"/>
          </a:solidFill>
          <a:ln w="952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096511"/>
            <a:ext cx="10735056" cy="274320"/>
          </a:xfrm>
          <a:prstGeom prst="rect">
            <a:avLst/>
          </a:prstGeom>
          <a:noFill/>
        </p:spPr>
        <p:txBody>
          <a:bodyPr wrap="square" anchor="t" lIns="0" rIns="0" tIns="0" bIns="0">
            <a:spAutoFit/>
          </a:bodyPr>
          <a:lstStyle/>
          <a:p>
            <a:pPr algn="l">
              <a:lnSpc>
                <a:spcPct val="115000"/>
              </a:lnSpc>
            </a:pPr>
            <a:r>
              <a:rPr sz="1250" b="1" i="0">
                <a:solidFill>
                  <a:srgbClr val="FF8A5C"/>
                </a:solidFill>
                <a:latin typeface="Arial"/>
              </a:rPr>
              <a:t>Verified: fails silently, and one got a real response back</a:t>
            </a:r>
          </a:p>
        </p:txBody>
      </p:sp>
      <p:sp>
        <p:nvSpPr>
          <p:cNvPr id="15" name="TextBox 14"/>
          <p:cNvSpPr txBox="1"/>
          <p:nvPr/>
        </p:nvSpPr>
        <p:spPr>
          <a:xfrm>
            <a:off x="731520" y="4416551"/>
            <a:ext cx="10735056" cy="1234440"/>
          </a:xfrm>
          <a:prstGeom prst="rect">
            <a:avLst/>
          </a:prstGeom>
          <a:noFill/>
        </p:spPr>
        <p:txBody>
          <a:bodyPr wrap="square" anchor="t" lIns="0" rIns="0" tIns="0" bIns="0">
            <a:spAutoFit/>
          </a:bodyPr>
          <a:lstStyle/>
          <a:p>
            <a:pPr algn="l">
              <a:lnSpc>
                <a:spcPct val="122000"/>
              </a:lnSpc>
            </a:pPr>
            <a:r>
              <a:rPr sz="1100" b="0" i="0">
                <a:solidFill>
                  <a:srgbClr val="EEF2F8"/>
                </a:solidFill>
                <a:latin typeface="Arial"/>
              </a:rPr>
              <a:t>With no collector listening, the SDK's own BatchSpanProcessor retries and logs a warning rather than raising — confirmed for all four. Langfuse got a stronger check: run with no credentials against its real hosted endpoint, it reached cloud.langfuse.com over the network and got back a genuine HTTP 401 — proof the transport and endpoint wiring are correct against the real service, not just an absent local collector.</a:t>
            </a:r>
          </a:p>
        </p:txBody>
      </p:sp>
      <p:cxnSp>
        <p:nvCxnSpPr>
          <p:cNvPr id="16" name="Connector 15"/>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MANTIS EXTENDED — POST-PAPER EXTENSIONS</a:t>
            </a:r>
          </a:p>
        </p:txBody>
      </p:sp>
      <p:sp>
        <p:nvSpPr>
          <p:cNvPr id="19" name="TextBox 18"/>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EXTENSION 2 OF 5 — SECURITY MECHANISM PLUGINS</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300" b="1" i="0">
                <a:solidFill>
                  <a:srgbClr val="EEF2F8"/>
                </a:solidFill>
                <a:latin typeface="Arial Black"/>
              </a:rPr>
              <a:t>A defense, through the same interface as an attack</a:t>
            </a:r>
          </a:p>
        </p:txBody>
      </p:sp>
      <p:graphicFrame>
        <p:nvGraphicFramePr>
          <p:cNvPr id="7" name="Table 6"/>
          <p:cNvGraphicFramePr>
            <a:graphicFrameLocks noGrp="1"/>
          </p:cNvGraphicFramePr>
          <p:nvPr/>
        </p:nvGraphicFramePr>
        <p:xfrm>
          <a:off x="566928" y="1645920"/>
          <a:ext cx="11064239" cy="3017520"/>
        </p:xfrm>
        <a:graphic>
          <a:graphicData uri="http://schemas.openxmlformats.org/drawingml/2006/table">
            <a:tbl>
              <a:tblPr firstRow="0" bandRow="0">
                <a:tableStyleId>{5C22544A-7EE6-4342-B048-85BDC9FD1C3A}</a:tableStyleId>
              </a:tblPr>
              <a:tblGrid>
                <a:gridCol w="2645796"/>
                <a:gridCol w="8418443"/>
              </a:tblGrid>
              <a:tr h="603504">
                <a:tc>
                  <a:txBody>
                    <a:bodyPr/>
                    <a:lstStyle/>
                    <a:p>
                      <a:r>
                        <a:rPr sz="900" b="1">
                          <a:solidFill>
                            <a:srgbClr val="FF8A5C"/>
                          </a:solidFill>
                          <a:latin typeface="Consolas"/>
                        </a:rPr>
                        <a:t>STEP</a:t>
                      </a:r>
                    </a:p>
                  </a:txBody>
                  <a:tcPr marL="82296" marR="82296" marT="45720" marB="45720" anchor="ctr">
                    <a:solidFill>
                      <a:srgbClr val="0D2043"/>
                    </a:solidFill>
                  </a:tcPr>
                </a:tc>
                <a:tc>
                  <a:txBody>
                    <a:bodyPr/>
                    <a:lstStyle/>
                    <a:p>
                      <a:r>
                        <a:rPr sz="900" b="1">
                          <a:solidFill>
                            <a:srgbClr val="FF8A5C"/>
                          </a:solidFill>
                          <a:latin typeface="Consolas"/>
                        </a:rPr>
                        <a:t>WHAT HAPPENED (LIVE, REAL MODEL)</a:t>
                      </a:r>
                    </a:p>
                  </a:txBody>
                  <a:tcPr marL="82296" marR="82296" marT="45720" marB="45720" anchor="ctr">
                    <a:solidFill>
                      <a:srgbClr val="0D2043"/>
                    </a:solidFill>
                  </a:tcPr>
                </a:tc>
              </a:tr>
              <a:tr h="603504">
                <a:tc>
                  <a:txBody>
                    <a:bodyPr wrap="square"/>
                    <a:lstStyle/>
                    <a:p>
                      <a:pPr>
                        <a:lnSpc>
                          <a:spcPct val="108000"/>
                        </a:lnSpc>
                      </a:pPr>
                      <a:r>
                        <a:rPr sz="1150" b="1">
                          <a:solidFill>
                            <a:srgbClr val="EEF2F8"/>
                          </a:solidFill>
                          <a:latin typeface="Arial"/>
                        </a:rPr>
                        <a:t>1. Legitimate call</a:t>
                      </a:r>
                    </a:p>
                  </a:txBody>
                  <a:tcPr marL="82296" marR="82296" marT="54864" marB="54864" anchor="ctr">
                    <a:solidFill>
                      <a:srgbClr val="14274A"/>
                    </a:solidFill>
                  </a:tcPr>
                </a:tc>
                <a:tc>
                  <a:txBody>
                    <a:bodyPr wrap="square"/>
                    <a:lstStyle/>
                    <a:p>
                      <a:pPr>
                        <a:lnSpc>
                          <a:spcPct val="108000"/>
                        </a:lnSpc>
                      </a:pPr>
                      <a:r>
                        <a:rPr sz="1100" b="0">
                          <a:solidFill>
                            <a:srgbClr val="AEBBD2"/>
                          </a:solidFill>
                          <a:latin typeface="Arial"/>
                        </a:rPr>
                        <a:t>execute_transfer called with a real $125.50 transfer, source CHK-002 → EXT-998.</a:t>
                      </a:r>
                    </a:p>
                  </a:txBody>
                  <a:tcPr marL="82296" marR="82296" marT="54864" marB="54864" anchor="ctr">
                    <a:solidFill>
                      <a:srgbClr val="14274A"/>
                    </a:solidFill>
                  </a:tcPr>
                </a:tc>
              </a:tr>
              <a:tr h="603504">
                <a:tc>
                  <a:txBody>
                    <a:bodyPr wrap="square"/>
                    <a:lstStyle/>
                    <a:p>
                      <a:pPr>
                        <a:lnSpc>
                          <a:spcPct val="108000"/>
                        </a:lnSpc>
                      </a:pPr>
                      <a:r>
                        <a:rPr sz="1150" b="1">
                          <a:solidFill>
                            <a:srgbClr val="EEF2F8"/>
                          </a:solidFill>
                          <a:latin typeface="Arial"/>
                        </a:rPr>
                        <a:t>2. Attack mutates it</a:t>
                      </a:r>
                    </a:p>
                  </a:txBody>
                  <a:tcPr marL="82296" marR="82296" marT="54864" marB="54864" anchor="ctr">
                    <a:solidFill>
                      <a:srgbClr val="14274A"/>
                    </a:solidFill>
                  </a:tcPr>
                </a:tc>
                <a:tc>
                  <a:txBody>
                    <a:bodyPr wrap="square"/>
                    <a:lstStyle/>
                    <a:p>
                      <a:pPr>
                        <a:lnSpc>
                          <a:spcPct val="108000"/>
                        </a:lnSpc>
                      </a:pPr>
                      <a:r>
                        <a:rPr sz="1100" b="0">
                          <a:solidFill>
                            <a:srgbClr val="AEBBD2"/>
                          </a:solidFill>
                          <a:latin typeface="Arial"/>
                        </a:rPr>
                        <a:t>tool_mutation (Paper 1's own plugin) rewrites the call to $5,000 → account HACKER-9999.</a:t>
                      </a:r>
                    </a:p>
                  </a:txBody>
                  <a:tcPr marL="82296" marR="82296" marT="54864" marB="54864" anchor="ctr">
                    <a:solidFill>
                      <a:srgbClr val="14274A"/>
                    </a:solidFill>
                  </a:tcPr>
                </a:tc>
              </a:tr>
              <a:tr h="603504">
                <a:tc>
                  <a:txBody>
                    <a:bodyPr wrap="square"/>
                    <a:lstStyle/>
                    <a:p>
                      <a:pPr>
                        <a:lnSpc>
                          <a:spcPct val="108000"/>
                        </a:lnSpc>
                      </a:pPr>
                      <a:r>
                        <a:rPr sz="1150" b="1">
                          <a:solidFill>
                            <a:srgbClr val="EEF2F8"/>
                          </a:solidFill>
                          <a:latin typeface="Arial"/>
                        </a:rPr>
                        <a:t>3. Guardrail evaluates it</a:t>
                      </a:r>
                    </a:p>
                  </a:txBody>
                  <a:tcPr marL="82296" marR="82296" marT="54864" marB="54864" anchor="ctr">
                    <a:solidFill>
                      <a:srgbClr val="14274A"/>
                    </a:solidFill>
                  </a:tcPr>
                </a:tc>
                <a:tc>
                  <a:txBody>
                    <a:bodyPr wrap="square"/>
                    <a:lstStyle/>
                    <a:p>
                      <a:pPr>
                        <a:lnSpc>
                          <a:spcPct val="108000"/>
                        </a:lnSpc>
                      </a:pPr>
                      <a:r>
                        <a:rPr sz="1100" b="0">
                          <a:solidFill>
                            <a:srgbClr val="AEBBD2"/>
                          </a:solidFill>
                          <a:latin typeface="Arial"/>
                        </a:rPr>
                        <a:t>amount_limit_guardrail (max $2,000) sees the already-mutated call and denies it.</a:t>
                      </a:r>
                    </a:p>
                  </a:txBody>
                  <a:tcPr marL="82296" marR="82296" marT="54864" marB="54864" anchor="ctr">
                    <a:solidFill>
                      <a:srgbClr val="14274A"/>
                    </a:solidFill>
                  </a:tcPr>
                </a:tc>
              </a:tr>
              <a:tr h="603504">
                <a:tc>
                  <a:txBody>
                    <a:bodyPr wrap="square"/>
                    <a:lstStyle/>
                    <a:p>
                      <a:pPr>
                        <a:lnSpc>
                          <a:spcPct val="108000"/>
                        </a:lnSpc>
                      </a:pPr>
                      <a:r>
                        <a:rPr sz="1150" b="1">
                          <a:solidFill>
                            <a:srgbClr val="EEF2F8"/>
                          </a:solidFill>
                          <a:latin typeface="Arial"/>
                        </a:rPr>
                        <a:t>4. Backend never sees it</a:t>
                      </a:r>
                    </a:p>
                  </a:txBody>
                  <a:tcPr marL="82296" marR="82296" marT="54864" marB="54864" anchor="ctr">
                    <a:solidFill>
                      <a:srgbClr val="14274A"/>
                    </a:solidFill>
                  </a:tcPr>
                </a:tc>
                <a:tc>
                  <a:txBody>
                    <a:bodyPr wrap="square"/>
                    <a:lstStyle/>
                    <a:p>
                      <a:pPr>
                        <a:lnSpc>
                          <a:spcPct val="108000"/>
                        </a:lnSpc>
                      </a:pPr>
                      <a:r>
                        <a:rPr sz="1100" b="0">
                          <a:solidFill>
                            <a:srgbClr val="AEBBD2"/>
                          </a:solidFill>
                          <a:latin typeface="Arial"/>
                        </a:rPr>
                        <a:t>The call never reaches the banking backend. The agent reports a payment-limit restriction to the customer.</a:t>
                      </a:r>
                    </a:p>
                  </a:txBody>
                  <a:tcPr marL="82296" marR="82296" marT="54864" marB="54864" anchor="ctr">
                    <a:solidFill>
                      <a:srgbClr val="14274A"/>
                    </a:solidFill>
                  </a:tcPr>
                </a:tc>
              </a:tr>
            </a:tbl>
          </a:graphicData>
        </a:graphic>
      </p:graphicFrame>
      <p:sp>
        <p:nvSpPr>
          <p:cNvPr id="8" name="Rounded Rectangle 7"/>
          <p:cNvSpPr/>
          <p:nvPr/>
        </p:nvSpPr>
        <p:spPr>
          <a:xfrm>
            <a:off x="566928" y="4800600"/>
            <a:ext cx="11064240" cy="960120"/>
          </a:xfrm>
          <a:prstGeom prst="roundRect">
            <a:avLst>
              <a:gd name="adj" fmla="val 7000"/>
            </a:avLst>
          </a:prstGeom>
          <a:solidFill>
            <a:srgbClr val="331E14"/>
          </a:solidFill>
          <a:ln w="952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919472"/>
            <a:ext cx="10735056" cy="274320"/>
          </a:xfrm>
          <a:prstGeom prst="rect">
            <a:avLst/>
          </a:prstGeom>
          <a:noFill/>
        </p:spPr>
        <p:txBody>
          <a:bodyPr wrap="square" anchor="t" lIns="0" rIns="0" tIns="0" bIns="0">
            <a:spAutoFit/>
          </a:bodyPr>
          <a:lstStyle/>
          <a:p>
            <a:pPr algn="l">
              <a:lnSpc>
                <a:spcPct val="115000"/>
              </a:lnSpc>
            </a:pPr>
            <a:r>
              <a:rPr sz="1250" b="1" i="0">
                <a:solidFill>
                  <a:srgbClr val="FF8A5C"/>
                </a:solidFill>
                <a:latin typeface="Arial"/>
              </a:rPr>
              <a:t>Why order matters</a:t>
            </a:r>
          </a:p>
        </p:txBody>
      </p:sp>
      <p:sp>
        <p:nvSpPr>
          <p:cNvPr id="10" name="TextBox 9"/>
          <p:cNvSpPr txBox="1"/>
          <p:nvPr/>
        </p:nvSpPr>
        <p:spPr>
          <a:xfrm>
            <a:off x="731520" y="5239512"/>
            <a:ext cx="10735056" cy="411480"/>
          </a:xfrm>
          <a:prstGeom prst="rect">
            <a:avLst/>
          </a:prstGeom>
          <a:noFill/>
        </p:spPr>
        <p:txBody>
          <a:bodyPr wrap="square" anchor="t" lIns="0" rIns="0" tIns="0" bIns="0">
            <a:spAutoFit/>
          </a:bodyPr>
          <a:lstStyle/>
          <a:p>
            <a:pPr algn="l">
              <a:lnSpc>
                <a:spcPct val="122000"/>
              </a:lnSpc>
            </a:pPr>
            <a:r>
              <a:rPr sz="1100" b="0" i="0">
                <a:solidFill>
                  <a:srgbClr val="EEF2F8"/>
                </a:solidFill>
                <a:latin typeface="Arial"/>
              </a:rPr>
              <a:t>Guardrails register on the hook bus after any configured attack — the same reason Paper 1 registers observability last. A defense that only sees the original, unmutated call isn't testing anything real.</a:t>
            </a:r>
          </a:p>
        </p:txBody>
      </p:sp>
      <p:cxnSp>
        <p:nvCxnSpPr>
          <p:cNvPr id="11" name="Connector 10"/>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MANTIS EXTENDED — POST-PAPER EXTENSIONS</a:t>
            </a:r>
          </a:p>
        </p:txBody>
      </p:sp>
      <p:sp>
        <p:nvSpPr>
          <p:cNvPr id="14" name="TextBox 13"/>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EXTENSION 3 OF 5 — ZERO TRUST BACKPLANE</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100" b="1" i="0">
                <a:solidFill>
                  <a:srgbClr val="EEF2F8"/>
                </a:solidFill>
                <a:latin typeface="Arial Black"/>
              </a:rPr>
              <a:t>A real, independent Zero Trust project — and where MANTIS plugs in</a:t>
            </a:r>
          </a:p>
        </p:txBody>
      </p:sp>
      <p:sp>
        <p:nvSpPr>
          <p:cNvPr id="7" name="Rounded Rectangle 6"/>
          <p:cNvSpPr/>
          <p:nvPr/>
        </p:nvSpPr>
        <p:spPr>
          <a:xfrm>
            <a:off x="566928" y="1691640"/>
            <a:ext cx="5349240" cy="23317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810512"/>
            <a:ext cx="502005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The real project</a:t>
            </a:r>
          </a:p>
        </p:txBody>
      </p:sp>
      <p:sp>
        <p:nvSpPr>
          <p:cNvPr id="9" name="TextBox 8"/>
          <p:cNvSpPr txBox="1"/>
          <p:nvPr/>
        </p:nvSpPr>
        <p:spPr>
          <a:xfrm>
            <a:off x="731520" y="2130552"/>
            <a:ext cx="5020056" cy="1783080"/>
          </a:xfrm>
          <a:prstGeom prst="rect">
            <a:avLst/>
          </a:prstGeom>
          <a:noFill/>
        </p:spPr>
        <p:txBody>
          <a:bodyPr wrap="square" anchor="t" lIns="0" rIns="0" tIns="0" bIns="0">
            <a:spAutoFit/>
          </a:bodyPr>
          <a:lstStyle/>
          <a:p>
            <a:pPr algn="l">
              <a:lnSpc>
                <a:spcPct val="122000"/>
              </a:lnSpc>
            </a:pPr>
            <a:r>
              <a:rPr sz="1100" b="0" i="0">
                <a:solidFill>
                  <a:srgbClr val="AEBBD2"/>
                </a:solidFill>
                <a:latin typeface="Arial"/>
              </a:rPr>
              <a:t>A separate, substantially more complete Zero Trust Backplane already exists for this same banking testbed: source-code scanning, PEP placement, a signed PDP, and short-lived signed Permit Leases — already protecting real read and write operations.</a:t>
            </a:r>
          </a:p>
        </p:txBody>
      </p:sp>
      <p:sp>
        <p:nvSpPr>
          <p:cNvPr id="10" name="Rounded Rectangle 9"/>
          <p:cNvSpPr/>
          <p:nvPr/>
        </p:nvSpPr>
        <p:spPr>
          <a:xfrm>
            <a:off x="6080760" y="1691640"/>
            <a:ext cx="5532120" cy="23317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45352" y="1810512"/>
            <a:ext cx="520293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MANTIS's role</a:t>
            </a:r>
          </a:p>
        </p:txBody>
      </p:sp>
      <p:sp>
        <p:nvSpPr>
          <p:cNvPr id="12" name="TextBox 11"/>
          <p:cNvSpPr txBox="1"/>
          <p:nvPr/>
        </p:nvSpPr>
        <p:spPr>
          <a:xfrm>
            <a:off x="6245352" y="2130552"/>
            <a:ext cx="5202936" cy="1783080"/>
          </a:xfrm>
          <a:prstGeom prst="rect">
            <a:avLst/>
          </a:prstGeom>
          <a:noFill/>
        </p:spPr>
        <p:txBody>
          <a:bodyPr wrap="square" anchor="t" lIns="0" rIns="0" tIns="0" bIns="0">
            <a:spAutoFit/>
          </a:bodyPr>
          <a:lstStyle/>
          <a:p>
            <a:pPr algn="l">
              <a:lnSpc>
                <a:spcPct val="122000"/>
              </a:lnSpc>
            </a:pPr>
            <a:r>
              <a:rPr sz="1100" b="0" i="0">
                <a:solidFill>
                  <a:srgbClr val="AEBBD2"/>
                </a:solidFill>
                <a:latin typeface="Arial"/>
              </a:rPr>
              <a:t>That project discovers agents/tools by scanning source code into a canonical-ID manifest. MANTIS's inventory() already reports that same information live — a substitute data source for its scanner, not a competing implementation.</a:t>
            </a:r>
          </a:p>
        </p:txBody>
      </p:sp>
      <p:sp>
        <p:nvSpPr>
          <p:cNvPr id="13" name="Rounded Rectangle 12"/>
          <p:cNvSpPr/>
          <p:nvPr/>
        </p:nvSpPr>
        <p:spPr>
          <a:xfrm>
            <a:off x="566928" y="4160520"/>
            <a:ext cx="11064240" cy="1600200"/>
          </a:xfrm>
          <a:prstGeom prst="roundRect">
            <a:avLst>
              <a:gd name="adj" fmla="val 7000"/>
            </a:avLst>
          </a:prstGeom>
          <a:solidFill>
            <a:srgbClr val="331E14"/>
          </a:solidFill>
          <a:ln w="952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279392"/>
            <a:ext cx="10735056" cy="274320"/>
          </a:xfrm>
          <a:prstGeom prst="rect">
            <a:avLst/>
          </a:prstGeom>
          <a:noFill/>
        </p:spPr>
        <p:txBody>
          <a:bodyPr wrap="square" anchor="t" lIns="0" rIns="0" tIns="0" bIns="0">
            <a:spAutoFit/>
          </a:bodyPr>
          <a:lstStyle/>
          <a:p>
            <a:pPr algn="l">
              <a:lnSpc>
                <a:spcPct val="115000"/>
              </a:lnSpc>
            </a:pPr>
            <a:r>
              <a:rPr sz="1250" b="1" i="0">
                <a:solidFill>
                  <a:srgbClr val="FF8A5C"/>
                </a:solidFill>
                <a:latin typeface="Arial"/>
              </a:rPr>
              <a:t>What we built here</a:t>
            </a:r>
          </a:p>
        </p:txBody>
      </p:sp>
      <p:sp>
        <p:nvSpPr>
          <p:cNvPr id="15" name="TextBox 14"/>
          <p:cNvSpPr txBox="1"/>
          <p:nvPr/>
        </p:nvSpPr>
        <p:spPr>
          <a:xfrm>
            <a:off x="731520" y="4599432"/>
            <a:ext cx="10735056" cy="1051560"/>
          </a:xfrm>
          <a:prstGeom prst="rect">
            <a:avLst/>
          </a:prstGeom>
          <a:noFill/>
        </p:spPr>
        <p:txBody>
          <a:bodyPr wrap="square" anchor="t" lIns="0" rIns="0" tIns="0" bIns="0">
            <a:spAutoFit/>
          </a:bodyPr>
          <a:lstStyle/>
          <a:p>
            <a:pPr algn="l">
              <a:lnSpc>
                <a:spcPct val="122000"/>
              </a:lnSpc>
            </a:pPr>
            <a:r>
              <a:rPr sz="1100" b="0" i="0">
                <a:solidFill>
                  <a:srgbClr val="EEF2F8"/>
                </a:solidFill>
                <a:latin typeface="Arial"/>
              </a:rPr>
              <a:t>A representative slice, kept entirely outside MANTIS's own code: a policy generator (default-deny by domain) and an enforcement plugin, registered into the same hook bus every attack plugin uses. It self-registers only when explicitly imported — MANTIS never depends on it existing.</a:t>
            </a:r>
          </a:p>
        </p:txBody>
      </p:sp>
      <p:cxnSp>
        <p:nvCxnSpPr>
          <p:cNvPr id="16" name="Connector 15"/>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MANTIS EXTENDED — POST-PAPER EXTENSIONS</a:t>
            </a:r>
          </a:p>
        </p:txBody>
      </p:sp>
      <p:sp>
        <p:nvSpPr>
          <p:cNvPr id="19" name="TextBox 18"/>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EXTENSION 3 OF 5 — ZERO TRUST BACKPLANE</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000" b="1" i="0">
                <a:solidFill>
                  <a:srgbClr val="EEF2F8"/>
                </a:solidFill>
                <a:latin typeface="Arial Black"/>
              </a:rPr>
              <a:t>Building the policy generator found a real gap in Paper 1's own inventory</a:t>
            </a:r>
          </a:p>
        </p:txBody>
      </p:sp>
      <p:sp>
        <p:nvSpPr>
          <p:cNvPr id="7" name="Rounded Rectangle 6"/>
          <p:cNvSpPr/>
          <p:nvPr/>
        </p:nvSpPr>
        <p:spPr>
          <a:xfrm>
            <a:off x="566928" y="1691640"/>
            <a:ext cx="5349240" cy="23317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810512"/>
            <a:ext cx="502005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The problem</a:t>
            </a:r>
          </a:p>
        </p:txBody>
      </p:sp>
      <p:sp>
        <p:nvSpPr>
          <p:cNvPr id="9" name="TextBox 8"/>
          <p:cNvSpPr txBox="1"/>
          <p:nvPr/>
        </p:nvSpPr>
        <p:spPr>
          <a:xfrm>
            <a:off x="731520" y="2130552"/>
            <a:ext cx="5020056" cy="1783080"/>
          </a:xfrm>
          <a:prstGeom prst="rect">
            <a:avLst/>
          </a:prstGeom>
          <a:noFill/>
        </p:spPr>
        <p:txBody>
          <a:bodyPr wrap="square" anchor="t" lIns="0" rIns="0" tIns="0" bIns="0">
            <a:spAutoFit/>
          </a:bodyPr>
          <a:lstStyle/>
          <a:p>
            <a:pPr algn="l">
              <a:lnSpc>
                <a:spcPct val="122000"/>
              </a:lnSpc>
            </a:pPr>
            <a:r>
              <a:rPr sz="1100" b="0" i="0">
                <a:solidFill>
                  <a:srgbClr val="AEBBD2"/>
                </a:solidFill>
                <a:latin typeface="Arial"/>
              </a:rPr>
              <a:t>A default-deny-by-domain policy is meaningless if every domain reports being able to call every tool. That's exactly what inventory() did — every domain got the full merged tool list, not its own real subset.</a:t>
            </a:r>
          </a:p>
        </p:txBody>
      </p:sp>
      <p:sp>
        <p:nvSpPr>
          <p:cNvPr id="10" name="Rounded Rectangle 9"/>
          <p:cNvSpPr/>
          <p:nvPr/>
        </p:nvSpPr>
        <p:spPr>
          <a:xfrm>
            <a:off x="6080760" y="1691640"/>
            <a:ext cx="5532120" cy="23317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45352" y="1810512"/>
            <a:ext cx="520293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The fix</a:t>
            </a:r>
          </a:p>
        </p:txBody>
      </p:sp>
      <p:sp>
        <p:nvSpPr>
          <p:cNvPr id="12" name="TextBox 11"/>
          <p:cNvSpPr txBox="1"/>
          <p:nvPr/>
        </p:nvSpPr>
        <p:spPr>
          <a:xfrm>
            <a:off x="6245352" y="2130552"/>
            <a:ext cx="5202936" cy="1783080"/>
          </a:xfrm>
          <a:prstGeom prst="rect">
            <a:avLst/>
          </a:prstGeom>
          <a:noFill/>
        </p:spPr>
        <p:txBody>
          <a:bodyPr wrap="square" anchor="t" lIns="0" rIns="0" tIns="0" bIns="0">
            <a:spAutoFit/>
          </a:bodyPr>
          <a:lstStyle/>
          <a:p>
            <a:pPr algn="l">
              <a:lnSpc>
                <a:spcPct val="122000"/>
              </a:lnSpc>
            </a:pPr>
            <a:r>
              <a:rPr sz="1100" b="0" i="0">
                <a:solidFill>
                  <a:srgbClr val="AEBBD2"/>
                </a:solidFill>
                <a:latin typeface="Arial"/>
              </a:rPr>
              <a:t>Tools ARE domain-tagged — by which module a domain's agents actually import from. Fixed inventory() to report each domain's real tool subset; added regression tests confirming a back-office-only tool is unreachable from front/mid office.</a:t>
            </a:r>
          </a:p>
        </p:txBody>
      </p:sp>
      <p:sp>
        <p:nvSpPr>
          <p:cNvPr id="13" name="Rounded Rectangle 12"/>
          <p:cNvSpPr/>
          <p:nvPr/>
        </p:nvSpPr>
        <p:spPr>
          <a:xfrm>
            <a:off x="566928" y="4160520"/>
            <a:ext cx="11064240" cy="1783080"/>
          </a:xfrm>
          <a:prstGeom prst="roundRect">
            <a:avLst>
              <a:gd name="adj" fmla="val 7000"/>
            </a:avLst>
          </a:prstGeom>
          <a:solidFill>
            <a:srgbClr val="331E14"/>
          </a:solidFill>
          <a:ln w="952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279392"/>
            <a:ext cx="10735056" cy="274320"/>
          </a:xfrm>
          <a:prstGeom prst="rect">
            <a:avLst/>
          </a:prstGeom>
          <a:noFill/>
        </p:spPr>
        <p:txBody>
          <a:bodyPr wrap="square" anchor="t" lIns="0" rIns="0" tIns="0" bIns="0">
            <a:spAutoFit/>
          </a:bodyPr>
          <a:lstStyle/>
          <a:p>
            <a:pPr algn="l">
              <a:lnSpc>
                <a:spcPct val="115000"/>
              </a:lnSpc>
            </a:pPr>
            <a:r>
              <a:rPr sz="1250" b="1" i="0">
                <a:solidFill>
                  <a:srgbClr val="FF8A5C"/>
                </a:solidFill>
                <a:latin typeface="Arial"/>
              </a:rPr>
              <a:t>Then we went deeper: exhaustive trials, and a second real bug</a:t>
            </a:r>
          </a:p>
        </p:txBody>
      </p:sp>
      <p:sp>
        <p:nvSpPr>
          <p:cNvPr id="15" name="TextBox 14"/>
          <p:cNvSpPr txBox="1"/>
          <p:nvPr/>
        </p:nvSpPr>
        <p:spPr>
          <a:xfrm>
            <a:off x="731520" y="4599432"/>
            <a:ext cx="10735056" cy="1234440"/>
          </a:xfrm>
          <a:prstGeom prst="rect">
            <a:avLst/>
          </a:prstGeom>
          <a:noFill/>
        </p:spPr>
        <p:txBody>
          <a:bodyPr wrap="square" anchor="t" lIns="0" rIns="0" tIns="0" bIns="0">
            <a:spAutoFit/>
          </a:bodyPr>
          <a:lstStyle/>
          <a:p>
            <a:pPr algn="l">
              <a:lnSpc>
                <a:spcPct val="122000"/>
              </a:lnSpc>
            </a:pPr>
            <a:r>
              <a:rPr sz="1050" b="0" i="0">
                <a:solidFill>
                  <a:srgbClr val="EEF2F8"/>
                </a:solidFill>
                <a:latin typeface="Arial"/>
              </a:rPr>
              <a:t>770/770 (agent, tool) pairs from the live policy correctly enforced (495 cross-domain denied, 275 in-domain allowed) — every combination the live system has, not a handful of examples. 5/5 live trials: zero false-positive denials on legitimate traffic. Building that harness found a second defect: this plugin's own denials were being silently recorded as ATTACK_INJECTED, not POLICY_EVENT — a defense misclassified as the attack it was stopping. Fixed, with a regression test through the real hook bus.</a:t>
            </a:r>
          </a:p>
        </p:txBody>
      </p:sp>
      <p:cxnSp>
        <p:nvCxnSpPr>
          <p:cNvPr id="16" name="Connector 15"/>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MANTIS EXTENDED — POST-PAPER EXTENSIONS</a:t>
            </a:r>
          </a:p>
        </p:txBody>
      </p:sp>
      <p:sp>
        <p:nvSpPr>
          <p:cNvPr id="19" name="TextBox 18"/>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EXTENSION 4 OF 5 — ADDITIONAL BANKING WORKLOADS</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300" b="1" i="0">
                <a:solidFill>
                  <a:srgbClr val="EEF2F8"/>
                </a:solidFill>
                <a:latin typeface="Arial Black"/>
              </a:rPr>
              <a:t>A genuinely new process, not a new prompt</a:t>
            </a:r>
          </a:p>
        </p:txBody>
      </p:sp>
      <p:sp>
        <p:nvSpPr>
          <p:cNvPr id="7" name="Rounded Rectangle 6"/>
          <p:cNvSpPr/>
          <p:nvPr/>
        </p:nvSpPr>
        <p:spPr>
          <a:xfrm>
            <a:off x="566928" y="1691640"/>
            <a:ext cx="5349240" cy="23317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810512"/>
            <a:ext cx="502005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What it is</a:t>
            </a:r>
          </a:p>
        </p:txBody>
      </p:sp>
      <p:sp>
        <p:nvSpPr>
          <p:cNvPr id="9" name="TextBox 8"/>
          <p:cNvSpPr txBox="1"/>
          <p:nvPr/>
        </p:nvSpPr>
        <p:spPr>
          <a:xfrm>
            <a:off x="731520" y="2130552"/>
            <a:ext cx="5020056" cy="1783080"/>
          </a:xfrm>
          <a:prstGeom prst="rect">
            <a:avLst/>
          </a:prstGeom>
          <a:noFill/>
        </p:spPr>
        <p:txBody>
          <a:bodyPr wrap="square" anchor="t" lIns="0" rIns="0" tIns="0" bIns="0">
            <a:spAutoFit/>
          </a:bodyPr>
          <a:lstStyle/>
          <a:p>
            <a:pPr algn="l">
              <a:lnSpc>
                <a:spcPct val="122000"/>
              </a:lnSpc>
            </a:pPr>
            <a:r>
              <a:rPr sz="1100" b="0" i="0">
                <a:solidFill>
                  <a:srgbClr val="AEBBD2"/>
                </a:solidFill>
                <a:latin typeface="Arial"/>
              </a:rPr>
              <a:t>Dispute filing and status lookup — a third route under the front-office router, alongside the existing transaction-review and chatbot workflows. A new tool-backed agent and a real case record, not a new prompt into an existing workflow.</a:t>
            </a:r>
          </a:p>
        </p:txBody>
      </p:sp>
      <p:sp>
        <p:nvSpPr>
          <p:cNvPr id="10" name="Rounded Rectangle 9"/>
          <p:cNvSpPr/>
          <p:nvPr/>
        </p:nvSpPr>
        <p:spPr>
          <a:xfrm>
            <a:off x="6080760" y="1691640"/>
            <a:ext cx="5532120" cy="23317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45352" y="1810512"/>
            <a:ext cx="520293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Distinct from the existing chatbot</a:t>
            </a:r>
          </a:p>
        </p:txBody>
      </p:sp>
      <p:sp>
        <p:nvSpPr>
          <p:cNvPr id="12" name="TextBox 11"/>
          <p:cNvSpPr txBox="1"/>
          <p:nvPr/>
        </p:nvSpPr>
        <p:spPr>
          <a:xfrm>
            <a:off x="6245352" y="2130552"/>
            <a:ext cx="5202936" cy="1783080"/>
          </a:xfrm>
          <a:prstGeom prst="rect">
            <a:avLst/>
          </a:prstGeom>
          <a:noFill/>
        </p:spPr>
        <p:txBody>
          <a:bodyPr wrap="square" anchor="t" lIns="0" rIns="0" tIns="0" bIns="0">
            <a:spAutoFit/>
          </a:bodyPr>
          <a:lstStyle/>
          <a:p>
            <a:pPr algn="l">
              <a:lnSpc>
                <a:spcPct val="122000"/>
              </a:lnSpc>
            </a:pPr>
            <a:r>
              <a:rPr sz="1100" b="0" i="0">
                <a:solidFill>
                  <a:srgbClr val="AEBBD2"/>
                </a:solidFill>
                <a:latin typeface="Arial"/>
              </a:rPr>
              <a:t>The chatbot already answers "how do I dispute a transaction" as an FAQ. This is different: it actually files a case, persists it, and returns a real dispute ID the customer can reference.</a:t>
            </a:r>
          </a:p>
        </p:txBody>
      </p:sp>
      <p:sp>
        <p:nvSpPr>
          <p:cNvPr id="13" name="Rounded Rectangle 12"/>
          <p:cNvSpPr/>
          <p:nvPr/>
        </p:nvSpPr>
        <p:spPr>
          <a:xfrm>
            <a:off x="566928" y="4160520"/>
            <a:ext cx="11064240" cy="1600200"/>
          </a:xfrm>
          <a:prstGeom prst="roundRect">
            <a:avLst>
              <a:gd name="adj" fmla="val 7000"/>
            </a:avLst>
          </a:prstGeom>
          <a:solidFill>
            <a:srgbClr val="331E14"/>
          </a:solidFill>
          <a:ln w="952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279392"/>
            <a:ext cx="10735056" cy="274320"/>
          </a:xfrm>
          <a:prstGeom prst="rect">
            <a:avLst/>
          </a:prstGeom>
          <a:noFill/>
        </p:spPr>
        <p:txBody>
          <a:bodyPr wrap="square" anchor="t" lIns="0" rIns="0" tIns="0" bIns="0">
            <a:spAutoFit/>
          </a:bodyPr>
          <a:lstStyle/>
          <a:p>
            <a:pPr algn="l">
              <a:lnSpc>
                <a:spcPct val="115000"/>
              </a:lnSpc>
            </a:pPr>
            <a:r>
              <a:rPr sz="1250" b="1" i="0">
                <a:solidFill>
                  <a:srgbClr val="FF8A5C"/>
                </a:solidFill>
                <a:latin typeface="Arial"/>
              </a:rPr>
              <a:t>What three live trials with zero tool calls taught us</a:t>
            </a:r>
          </a:p>
        </p:txBody>
      </p:sp>
      <p:sp>
        <p:nvSpPr>
          <p:cNvPr id="15" name="TextBox 14"/>
          <p:cNvSpPr txBox="1"/>
          <p:nvPr/>
        </p:nvSpPr>
        <p:spPr>
          <a:xfrm>
            <a:off x="731520" y="4599432"/>
            <a:ext cx="10735056" cy="1051560"/>
          </a:xfrm>
          <a:prstGeom prst="rect">
            <a:avLst/>
          </a:prstGeom>
          <a:noFill/>
        </p:spPr>
        <p:txBody>
          <a:bodyPr wrap="square" anchor="t" lIns="0" rIns="0" tIns="0" bIns="0">
            <a:spAutoFit/>
          </a:bodyPr>
          <a:lstStyle/>
          <a:p>
            <a:pPr algn="l">
              <a:lnSpc>
                <a:spcPct val="122000"/>
              </a:lnSpc>
            </a:pPr>
            <a:r>
              <a:rPr sz="1100" b="0" i="0">
                <a:solidFill>
                  <a:srgbClr val="EEF2F8"/>
                </a:solidFill>
                <a:latin typeface="Arial"/>
              </a:rPr>
              <a:t>First attempt: real routing worked, but the agent called no tool at all, three times in a row. Cause: the scenario prompt never stated a customer id, unlike every other scenario in the codebase — and file_dispute needs one. Fixed the prompt, not the tool. Next run: real case filed, real ID returned, correct customer message.</a:t>
            </a:r>
          </a:p>
        </p:txBody>
      </p:sp>
      <p:cxnSp>
        <p:nvCxnSpPr>
          <p:cNvPr id="16" name="Connector 15"/>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MANTIS EXTENDED — POST-PAPER EXTENSIONS</a:t>
            </a:r>
          </a:p>
        </p:txBody>
      </p:sp>
      <p:sp>
        <p:nvSpPr>
          <p:cNvPr id="19" name="TextBox 18"/>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EXTENSION 5 OF 5 — MINIMAL UI</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200" b="1" i="0">
                <a:solidFill>
                  <a:srgbClr val="EEF2F8"/>
                </a:solidFill>
                <a:latin typeface="Arial Black"/>
              </a:rPr>
              <a:t>A thin layer over the real CLI, not a second implementation</a:t>
            </a:r>
          </a:p>
        </p:txBody>
      </p:sp>
      <p:sp>
        <p:nvSpPr>
          <p:cNvPr id="7" name="Rounded Rectangle 6"/>
          <p:cNvSpPr/>
          <p:nvPr/>
        </p:nvSpPr>
        <p:spPr>
          <a:xfrm>
            <a:off x="566928" y="1691640"/>
            <a:ext cx="5349240" cy="23317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810512"/>
            <a:ext cx="502005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What it is</a:t>
            </a:r>
          </a:p>
        </p:txBody>
      </p:sp>
      <p:sp>
        <p:nvSpPr>
          <p:cNvPr id="9" name="TextBox 8"/>
          <p:cNvSpPr txBox="1"/>
          <p:nvPr/>
        </p:nvSpPr>
        <p:spPr>
          <a:xfrm>
            <a:off x="731520" y="2130552"/>
            <a:ext cx="5020056" cy="1783080"/>
          </a:xfrm>
          <a:prstGeom prst="rect">
            <a:avLst/>
          </a:prstGeom>
          <a:noFill/>
        </p:spPr>
        <p:txBody>
          <a:bodyPr wrap="square" anchor="t" lIns="0" rIns="0" tIns="0" bIns="0">
            <a:spAutoFit/>
          </a:bodyPr>
          <a:lstStyle/>
          <a:p>
            <a:pPr algn="l">
              <a:lnSpc>
                <a:spcPct val="122000"/>
              </a:lnSpc>
            </a:pPr>
            <a:r>
              <a:rPr sz="1100" b="0" i="0">
                <a:solidFill>
                  <a:srgbClr val="AEBBD2"/>
                </a:solidFill>
                <a:latin typeface="Arial"/>
              </a:rPr>
              <a:t>A schema-driven experiment editor and trace viewer. Domain/workflow/scenario/plugin dropdowns are populated live from the same registries the CLI reads — not a hardcoded list that can drift.</a:t>
            </a:r>
          </a:p>
        </p:txBody>
      </p:sp>
      <p:sp>
        <p:nvSpPr>
          <p:cNvPr id="10" name="Rounded Rectangle 9"/>
          <p:cNvSpPr/>
          <p:nvPr/>
        </p:nvSpPr>
        <p:spPr>
          <a:xfrm>
            <a:off x="6080760" y="1691640"/>
            <a:ext cx="5532120" cy="23317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45352" y="1810512"/>
            <a:ext cx="520293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"No separate business logic", verified</a:t>
            </a:r>
          </a:p>
        </p:txBody>
      </p:sp>
      <p:sp>
        <p:nvSpPr>
          <p:cNvPr id="12" name="TextBox 11"/>
          <p:cNvSpPr txBox="1"/>
          <p:nvPr/>
        </p:nvSpPr>
        <p:spPr>
          <a:xfrm>
            <a:off x="6245352" y="2130552"/>
            <a:ext cx="5202936" cy="1783080"/>
          </a:xfrm>
          <a:prstGeom prst="rect">
            <a:avLst/>
          </a:prstGeom>
          <a:noFill/>
        </p:spPr>
        <p:txBody>
          <a:bodyPr wrap="square" anchor="t" lIns="0" rIns="0" tIns="0" bIns="0">
            <a:spAutoFit/>
          </a:bodyPr>
          <a:lstStyle/>
          <a:p>
            <a:pPr algn="l">
              <a:lnSpc>
                <a:spcPct val="122000"/>
              </a:lnSpc>
            </a:pPr>
            <a:r>
              <a:rPr sz="1100" b="0" i="0">
                <a:solidFill>
                  <a:srgbClr val="AEBBD2"/>
                </a:solidFill>
                <a:latin typeface="Arial"/>
              </a:rPr>
              <a:t>Validate and Run shell out to the real mantis CLI as a subprocess. Submitted a config with a deliberately invalid domain: got the real CLI's own "Unknown domain" error back, not a UI-side check.</a:t>
            </a:r>
          </a:p>
        </p:txBody>
      </p:sp>
      <p:sp>
        <p:nvSpPr>
          <p:cNvPr id="13" name="Rounded Rectangle 12"/>
          <p:cNvSpPr/>
          <p:nvPr/>
        </p:nvSpPr>
        <p:spPr>
          <a:xfrm>
            <a:off x="566928" y="4160520"/>
            <a:ext cx="11064240" cy="1600200"/>
          </a:xfrm>
          <a:prstGeom prst="roundRect">
            <a:avLst>
              <a:gd name="adj" fmla="val 7000"/>
            </a:avLst>
          </a:prstGeom>
          <a:solidFill>
            <a:srgbClr val="331E14"/>
          </a:solidFill>
          <a:ln w="952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279392"/>
            <a:ext cx="10735056" cy="274320"/>
          </a:xfrm>
          <a:prstGeom prst="rect">
            <a:avLst/>
          </a:prstGeom>
          <a:noFill/>
        </p:spPr>
        <p:txBody>
          <a:bodyPr wrap="square" anchor="t" lIns="0" rIns="0" tIns="0" bIns="0">
            <a:spAutoFit/>
          </a:bodyPr>
          <a:lstStyle/>
          <a:p>
            <a:pPr algn="l">
              <a:lnSpc>
                <a:spcPct val="115000"/>
              </a:lnSpc>
            </a:pPr>
            <a:r>
              <a:rPr sz="1250" b="1" i="0">
                <a:solidFill>
                  <a:srgbClr val="FF8A5C"/>
                </a:solidFill>
                <a:latin typeface="Arial"/>
              </a:rPr>
              <a:t>Confirmed as a real running server</a:t>
            </a:r>
          </a:p>
        </p:txBody>
      </p:sp>
      <p:sp>
        <p:nvSpPr>
          <p:cNvPr id="15" name="TextBox 14"/>
          <p:cNvSpPr txBox="1"/>
          <p:nvPr/>
        </p:nvSpPr>
        <p:spPr>
          <a:xfrm>
            <a:off x="731520" y="4599432"/>
            <a:ext cx="10735056" cy="1051560"/>
          </a:xfrm>
          <a:prstGeom prst="rect">
            <a:avLst/>
          </a:prstGeom>
          <a:noFill/>
        </p:spPr>
        <p:txBody>
          <a:bodyPr wrap="square" anchor="t" lIns="0" rIns="0" tIns="0" bIns="0">
            <a:spAutoFit/>
          </a:bodyPr>
          <a:lstStyle/>
          <a:p>
            <a:pPr algn="l">
              <a:lnSpc>
                <a:spcPct val="122000"/>
              </a:lnSpc>
            </a:pPr>
            <a:r>
              <a:rPr sz="1150" b="0" i="0">
                <a:solidFill>
                  <a:srgbClr val="EEF2F8"/>
                </a:solidFill>
                <a:latin typeface="Arial"/>
              </a:rPr>
              <a:t>Launched via mantis --ui and queried over real HTTP, not just an in-process test client: correctly reported the live inventory (32 agents, 22 tools) and every existing run artifact (27 runs) at the time of this check.</a:t>
            </a:r>
          </a:p>
        </p:txBody>
      </p:sp>
      <p:cxnSp>
        <p:nvCxnSpPr>
          <p:cNvPr id="16" name="Connector 15"/>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MANTIS EXTENDED — POST-PAPER EXTENSIONS</a:t>
            </a:r>
          </a:p>
        </p:txBody>
      </p:sp>
      <p:sp>
        <p:nvSpPr>
          <p:cNvPr id="19" name="TextBox 18"/>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EVALUATION SUMMARY</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200" b="1" i="0">
                <a:solidFill>
                  <a:srgbClr val="EEF2F8"/>
                </a:solidFill>
                <a:latin typeface="Arial Black"/>
              </a:rPr>
              <a:t>147 tests, all against real data — every extension live-verified</a:t>
            </a:r>
          </a:p>
        </p:txBody>
      </p:sp>
      <p:graphicFrame>
        <p:nvGraphicFramePr>
          <p:cNvPr id="7" name="Table 6"/>
          <p:cNvGraphicFramePr>
            <a:graphicFrameLocks noGrp="1"/>
          </p:cNvGraphicFramePr>
          <p:nvPr/>
        </p:nvGraphicFramePr>
        <p:xfrm>
          <a:off x="566928" y="1645920"/>
          <a:ext cx="11064239" cy="3429000"/>
        </p:xfrm>
        <a:graphic>
          <a:graphicData uri="http://schemas.openxmlformats.org/drawingml/2006/table">
            <a:tbl>
              <a:tblPr firstRow="0" bandRow="0">
                <a:tableStyleId>{5C22544A-7EE6-4342-B048-85BDC9FD1C3A}</a:tableStyleId>
              </a:tblPr>
              <a:tblGrid>
                <a:gridCol w="2252013"/>
                <a:gridCol w="979136"/>
                <a:gridCol w="7833090"/>
              </a:tblGrid>
              <a:tr h="489857">
                <a:tc>
                  <a:txBody>
                    <a:bodyPr/>
                    <a:lstStyle/>
                    <a:p>
                      <a:r>
                        <a:rPr sz="900" b="1">
                          <a:solidFill>
                            <a:srgbClr val="FF8A5C"/>
                          </a:solidFill>
                          <a:latin typeface="Consolas"/>
                        </a:rPr>
                        <a:t>EXTENSION</a:t>
                      </a:r>
                    </a:p>
                  </a:txBody>
                  <a:tcPr marL="82296" marR="82296" marT="45720" marB="45720" anchor="ctr">
                    <a:solidFill>
                      <a:srgbClr val="0D2043"/>
                    </a:solidFill>
                  </a:tcPr>
                </a:tc>
                <a:tc>
                  <a:txBody>
                    <a:bodyPr/>
                    <a:lstStyle/>
                    <a:p>
                      <a:r>
                        <a:rPr sz="900" b="1">
                          <a:solidFill>
                            <a:srgbClr val="FF8A5C"/>
                          </a:solidFill>
                          <a:latin typeface="Consolas"/>
                        </a:rPr>
                        <a:t>TESTS</a:t>
                      </a:r>
                    </a:p>
                  </a:txBody>
                  <a:tcPr marL="82296" marR="82296" marT="45720" marB="45720" anchor="ctr">
                    <a:solidFill>
                      <a:srgbClr val="0D2043"/>
                    </a:solidFill>
                  </a:tcPr>
                </a:tc>
                <a:tc>
                  <a:txBody>
                    <a:bodyPr/>
                    <a:lstStyle/>
                    <a:p>
                      <a:r>
                        <a:rPr sz="900" b="1">
                          <a:solidFill>
                            <a:srgbClr val="FF8A5C"/>
                          </a:solidFill>
                          <a:latin typeface="Consolas"/>
                        </a:rPr>
                        <a:t>LIVE EVIDENCE</a:t>
                      </a:r>
                    </a:p>
                  </a:txBody>
                  <a:tcPr marL="82296" marR="82296" marT="45720" marB="45720" anchor="ctr">
                    <a:solidFill>
                      <a:srgbClr val="0D2043"/>
                    </a:solidFill>
                  </a:tcPr>
                </a:tc>
              </a:tr>
              <a:tr h="489857">
                <a:tc>
                  <a:txBody>
                    <a:bodyPr wrap="square"/>
                    <a:lstStyle/>
                    <a:p>
                      <a:pPr>
                        <a:lnSpc>
                          <a:spcPct val="108000"/>
                        </a:lnSpc>
                      </a:pPr>
                      <a:r>
                        <a:rPr sz="1000" b="1">
                          <a:solidFill>
                            <a:srgbClr val="EEF2F8"/>
                          </a:solidFill>
                          <a:latin typeface="Arial"/>
                        </a:rPr>
                        <a:t>Jaeger exporter</a:t>
                      </a:r>
                    </a:p>
                  </a:txBody>
                  <a:tcPr marL="82296" marR="82296" marT="54864" marB="54864" anchor="ctr">
                    <a:solidFill>
                      <a:srgbClr val="14274A"/>
                    </a:solidFill>
                  </a:tcPr>
                </a:tc>
                <a:tc>
                  <a:txBody>
                    <a:bodyPr wrap="square"/>
                    <a:lstStyle/>
                    <a:p>
                      <a:pPr>
                        <a:lnSpc>
                          <a:spcPct val="108000"/>
                        </a:lnSpc>
                      </a:pPr>
                      <a:r>
                        <a:rPr sz="950" b="0">
                          <a:solidFill>
                            <a:srgbClr val="AEBBD2"/>
                          </a:solidFill>
                          <a:latin typeface="Arial"/>
                        </a:rPr>
                        <a:t>4</a:t>
                      </a:r>
                    </a:p>
                  </a:txBody>
                  <a:tcPr marL="82296" marR="82296" marT="54864" marB="54864" anchor="ctr">
                    <a:solidFill>
                      <a:srgbClr val="14274A"/>
                    </a:solidFill>
                  </a:tcPr>
                </a:tc>
                <a:tc>
                  <a:txBody>
                    <a:bodyPr wrap="square"/>
                    <a:lstStyle/>
                    <a:p>
                      <a:pPr>
                        <a:lnSpc>
                          <a:spcPct val="108000"/>
                        </a:lnSpc>
                      </a:pPr>
                      <a:r>
                        <a:rPr sz="950" b="0">
                          <a:solidFill>
                            <a:srgbClr val="AEBBD2"/>
                          </a:solidFill>
                          <a:latin typeface="Arial"/>
                        </a:rPr>
                        <a:t>Real span processor attached; confirmed silent-safe with no collector listening.</a:t>
                      </a:r>
                    </a:p>
                  </a:txBody>
                  <a:tcPr marL="82296" marR="82296" marT="54864" marB="54864" anchor="ctr">
                    <a:solidFill>
                      <a:srgbClr val="14274A"/>
                    </a:solidFill>
                  </a:tcPr>
                </a:tc>
              </a:tr>
              <a:tr h="489857">
                <a:tc>
                  <a:txBody>
                    <a:bodyPr wrap="square"/>
                    <a:lstStyle/>
                    <a:p>
                      <a:pPr>
                        <a:lnSpc>
                          <a:spcPct val="108000"/>
                        </a:lnSpc>
                      </a:pPr>
                      <a:r>
                        <a:rPr sz="1000" b="1">
                          <a:solidFill>
                            <a:srgbClr val="EEF2F8"/>
                          </a:solidFill>
                          <a:latin typeface="Arial"/>
                        </a:rPr>
                        <a:t>Grafana / Phoenix / Langfuse</a:t>
                      </a:r>
                    </a:p>
                  </a:txBody>
                  <a:tcPr marL="82296" marR="82296" marT="54864" marB="54864" anchor="ctr">
                    <a:solidFill>
                      <a:srgbClr val="14274A"/>
                    </a:solidFill>
                  </a:tcPr>
                </a:tc>
                <a:tc>
                  <a:txBody>
                    <a:bodyPr wrap="square"/>
                    <a:lstStyle/>
                    <a:p>
                      <a:pPr>
                        <a:lnSpc>
                          <a:spcPct val="108000"/>
                        </a:lnSpc>
                      </a:pPr>
                      <a:r>
                        <a:rPr sz="950" b="0">
                          <a:solidFill>
                            <a:srgbClr val="AEBBD2"/>
                          </a:solidFill>
                          <a:latin typeface="Arial"/>
                        </a:rPr>
                        <a:t>9</a:t>
                      </a:r>
                    </a:p>
                  </a:txBody>
                  <a:tcPr marL="82296" marR="82296" marT="54864" marB="54864" anchor="ctr">
                    <a:solidFill>
                      <a:srgbClr val="14274A"/>
                    </a:solidFill>
                  </a:tcPr>
                </a:tc>
                <a:tc>
                  <a:txBody>
                    <a:bodyPr wrap="square"/>
                    <a:lstStyle/>
                    <a:p>
                      <a:pPr>
                        <a:lnSpc>
                          <a:spcPct val="108000"/>
                        </a:lnSpc>
                      </a:pPr>
                      <a:r>
                        <a:rPr sz="950" b="0">
                          <a:solidFill>
                            <a:srgbClr val="AEBBD2"/>
                          </a:solidFill>
                          <a:latin typeface="Arial"/>
                        </a:rPr>
                        <a:t>Same OTLP pattern for the first two; Langfuse reached the real hosted endpoint and got a genuine 401 with no credentials.</a:t>
                      </a:r>
                    </a:p>
                  </a:txBody>
                  <a:tcPr marL="82296" marR="82296" marT="54864" marB="54864" anchor="ctr">
                    <a:solidFill>
                      <a:srgbClr val="14274A"/>
                    </a:solidFill>
                  </a:tcPr>
                </a:tc>
              </a:tr>
              <a:tr h="489857">
                <a:tc>
                  <a:txBody>
                    <a:bodyPr wrap="square"/>
                    <a:lstStyle/>
                    <a:p>
                      <a:pPr>
                        <a:lnSpc>
                          <a:spcPct val="108000"/>
                        </a:lnSpc>
                      </a:pPr>
                      <a:r>
                        <a:rPr sz="1000" b="1">
                          <a:solidFill>
                            <a:srgbClr val="EEF2F8"/>
                          </a:solidFill>
                          <a:latin typeface="Arial"/>
                        </a:rPr>
                        <a:t>Guardrail plugin</a:t>
                      </a:r>
                    </a:p>
                  </a:txBody>
                  <a:tcPr marL="82296" marR="82296" marT="54864" marB="54864" anchor="ctr">
                    <a:solidFill>
                      <a:srgbClr val="14274A"/>
                    </a:solidFill>
                  </a:tcPr>
                </a:tc>
                <a:tc>
                  <a:txBody>
                    <a:bodyPr wrap="square"/>
                    <a:lstStyle/>
                    <a:p>
                      <a:pPr>
                        <a:lnSpc>
                          <a:spcPct val="108000"/>
                        </a:lnSpc>
                      </a:pPr>
                      <a:r>
                        <a:rPr sz="950" b="0">
                          <a:solidFill>
                            <a:srgbClr val="AEBBD2"/>
                          </a:solidFill>
                          <a:latin typeface="Arial"/>
                        </a:rPr>
                        <a:t>6</a:t>
                      </a:r>
                    </a:p>
                  </a:txBody>
                  <a:tcPr marL="82296" marR="82296" marT="54864" marB="54864" anchor="ctr">
                    <a:solidFill>
                      <a:srgbClr val="14274A"/>
                    </a:solidFill>
                  </a:tcPr>
                </a:tc>
                <a:tc>
                  <a:txBody>
                    <a:bodyPr wrap="square"/>
                    <a:lstStyle/>
                    <a:p>
                      <a:pPr>
                        <a:lnSpc>
                          <a:spcPct val="108000"/>
                        </a:lnSpc>
                      </a:pPr>
                      <a:r>
                        <a:rPr sz="950" b="0">
                          <a:solidFill>
                            <a:srgbClr val="AEBBD2"/>
                          </a:solidFill>
                          <a:latin typeface="Arial"/>
                        </a:rPr>
                        <a:t>Live $5,000 mutated transfer denied before reaching the backend; correctly classified as POLICY_EVENT.</a:t>
                      </a:r>
                    </a:p>
                  </a:txBody>
                  <a:tcPr marL="82296" marR="82296" marT="54864" marB="54864" anchor="ctr">
                    <a:solidFill>
                      <a:srgbClr val="14274A"/>
                    </a:solidFill>
                  </a:tcPr>
                </a:tc>
              </a:tr>
              <a:tr h="489857">
                <a:tc>
                  <a:txBody>
                    <a:bodyPr wrap="square"/>
                    <a:lstStyle/>
                    <a:p>
                      <a:pPr>
                        <a:lnSpc>
                          <a:spcPct val="108000"/>
                        </a:lnSpc>
                      </a:pPr>
                      <a:r>
                        <a:rPr sz="1000" b="1">
                          <a:solidFill>
                            <a:srgbClr val="EEF2F8"/>
                          </a:solidFill>
                          <a:latin typeface="Arial"/>
                        </a:rPr>
                        <a:t>Zero Trust</a:t>
                      </a:r>
                    </a:p>
                  </a:txBody>
                  <a:tcPr marL="82296" marR="82296" marT="54864" marB="54864" anchor="ctr">
                    <a:solidFill>
                      <a:srgbClr val="14274A"/>
                    </a:solidFill>
                  </a:tcPr>
                </a:tc>
                <a:tc>
                  <a:txBody>
                    <a:bodyPr wrap="square"/>
                    <a:lstStyle/>
                    <a:p>
                      <a:pPr>
                        <a:lnSpc>
                          <a:spcPct val="108000"/>
                        </a:lnSpc>
                      </a:pPr>
                      <a:r>
                        <a:rPr sz="950" b="0">
                          <a:solidFill>
                            <a:srgbClr val="AEBBD2"/>
                          </a:solidFill>
                          <a:latin typeface="Arial"/>
                        </a:rPr>
                        <a:t>8</a:t>
                      </a:r>
                    </a:p>
                  </a:txBody>
                  <a:tcPr marL="82296" marR="82296" marT="54864" marB="54864" anchor="ctr">
                    <a:solidFill>
                      <a:srgbClr val="14274A"/>
                    </a:solidFill>
                  </a:tcPr>
                </a:tc>
                <a:tc>
                  <a:txBody>
                    <a:bodyPr wrap="square"/>
                    <a:lstStyle/>
                    <a:p>
                      <a:pPr>
                        <a:lnSpc>
                          <a:spcPct val="108000"/>
                        </a:lnSpc>
                      </a:pPr>
                      <a:r>
                        <a:rPr sz="950" b="0">
                          <a:solidFill>
                            <a:srgbClr val="AEBBD2"/>
                          </a:solidFill>
                          <a:latin typeface="Arial"/>
                        </a:rPr>
                        <a:t>770/770 (agent, tool) pairs correctly enforced; 5/5 live trials zero false-positive denials; two real defects surfaced and fixed.</a:t>
                      </a:r>
                    </a:p>
                  </a:txBody>
                  <a:tcPr marL="82296" marR="82296" marT="54864" marB="54864" anchor="ctr">
                    <a:solidFill>
                      <a:srgbClr val="14274A"/>
                    </a:solidFill>
                  </a:tcPr>
                </a:tc>
              </a:tr>
              <a:tr h="489857">
                <a:tc>
                  <a:txBody>
                    <a:bodyPr wrap="square"/>
                    <a:lstStyle/>
                    <a:p>
                      <a:pPr>
                        <a:lnSpc>
                          <a:spcPct val="108000"/>
                        </a:lnSpc>
                      </a:pPr>
                      <a:r>
                        <a:rPr sz="1000" b="1">
                          <a:solidFill>
                            <a:srgbClr val="EEF2F8"/>
                          </a:solidFill>
                          <a:latin typeface="Arial"/>
                        </a:rPr>
                        <a:t>Dispute workload</a:t>
                      </a:r>
                    </a:p>
                  </a:txBody>
                  <a:tcPr marL="82296" marR="82296" marT="54864" marB="54864" anchor="ctr">
                    <a:solidFill>
                      <a:srgbClr val="14274A"/>
                    </a:solidFill>
                  </a:tcPr>
                </a:tc>
                <a:tc>
                  <a:txBody>
                    <a:bodyPr wrap="square"/>
                    <a:lstStyle/>
                    <a:p>
                      <a:pPr>
                        <a:lnSpc>
                          <a:spcPct val="108000"/>
                        </a:lnSpc>
                      </a:pPr>
                      <a:r>
                        <a:rPr sz="950" b="0">
                          <a:solidFill>
                            <a:srgbClr val="AEBBD2"/>
                          </a:solidFill>
                          <a:latin typeface="Arial"/>
                        </a:rPr>
                        <a:t>7</a:t>
                      </a:r>
                    </a:p>
                  </a:txBody>
                  <a:tcPr marL="82296" marR="82296" marT="54864" marB="54864" anchor="ctr">
                    <a:solidFill>
                      <a:srgbClr val="14274A"/>
                    </a:solidFill>
                  </a:tcPr>
                </a:tc>
                <a:tc>
                  <a:txBody>
                    <a:bodyPr wrap="square"/>
                    <a:lstStyle/>
                    <a:p>
                      <a:pPr>
                        <a:lnSpc>
                          <a:spcPct val="108000"/>
                        </a:lnSpc>
                      </a:pPr>
                      <a:r>
                        <a:rPr sz="950" b="0">
                          <a:solidFill>
                            <a:srgbClr val="AEBBD2"/>
                          </a:solidFill>
                          <a:latin typeface="Arial"/>
                        </a:rPr>
                        <a:t>Real case filed and persisted, after correcting a scenario defect found only by reading the trace.</a:t>
                      </a:r>
                    </a:p>
                  </a:txBody>
                  <a:tcPr marL="82296" marR="82296" marT="54864" marB="54864" anchor="ctr">
                    <a:solidFill>
                      <a:srgbClr val="14274A"/>
                    </a:solidFill>
                  </a:tcPr>
                </a:tc>
              </a:tr>
              <a:tr h="489858">
                <a:tc>
                  <a:txBody>
                    <a:bodyPr wrap="square"/>
                    <a:lstStyle/>
                    <a:p>
                      <a:pPr>
                        <a:lnSpc>
                          <a:spcPct val="108000"/>
                        </a:lnSpc>
                      </a:pPr>
                      <a:r>
                        <a:rPr sz="1000" b="1">
                          <a:solidFill>
                            <a:srgbClr val="EEF2F8"/>
                          </a:solidFill>
                          <a:latin typeface="Arial"/>
                        </a:rPr>
                        <a:t>Minimal UI</a:t>
                      </a:r>
                    </a:p>
                  </a:txBody>
                  <a:tcPr marL="82296" marR="82296" marT="54864" marB="54864" anchor="ctr">
                    <a:solidFill>
                      <a:srgbClr val="14274A"/>
                    </a:solidFill>
                  </a:tcPr>
                </a:tc>
                <a:tc>
                  <a:txBody>
                    <a:bodyPr wrap="square"/>
                    <a:lstStyle/>
                    <a:p>
                      <a:pPr>
                        <a:lnSpc>
                          <a:spcPct val="108000"/>
                        </a:lnSpc>
                      </a:pPr>
                      <a:r>
                        <a:rPr sz="950" b="0">
                          <a:solidFill>
                            <a:srgbClr val="AEBBD2"/>
                          </a:solidFill>
                          <a:latin typeface="Arial"/>
                        </a:rPr>
                        <a:t>10</a:t>
                      </a:r>
                    </a:p>
                  </a:txBody>
                  <a:tcPr marL="82296" marR="82296" marT="54864" marB="54864" anchor="ctr">
                    <a:solidFill>
                      <a:srgbClr val="14274A"/>
                    </a:solidFill>
                  </a:tcPr>
                </a:tc>
                <a:tc>
                  <a:txBody>
                    <a:bodyPr wrap="square"/>
                    <a:lstStyle/>
                    <a:p>
                      <a:pPr>
                        <a:lnSpc>
                          <a:spcPct val="108000"/>
                        </a:lnSpc>
                      </a:pPr>
                      <a:r>
                        <a:rPr sz="950" b="0">
                          <a:solidFill>
                            <a:srgbClr val="AEBBD2"/>
                          </a:solidFill>
                          <a:latin typeface="Arial"/>
                        </a:rPr>
                        <a:t>Real invalid config rejected with the real CLI's own error; real server confirmed over live HTTP.</a:t>
                      </a:r>
                    </a:p>
                  </a:txBody>
                  <a:tcPr marL="82296" marR="82296" marT="54864" marB="54864" anchor="ctr">
                    <a:solidFill>
                      <a:srgbClr val="14274A"/>
                    </a:solidFill>
                  </a:tcPr>
                </a:tc>
              </a:tr>
            </a:tbl>
          </a:graphicData>
        </a:graphic>
      </p:graphicFrame>
      <p:sp>
        <p:nvSpPr>
          <p:cNvPr id="8" name="Rounded Rectangle 7"/>
          <p:cNvSpPr/>
          <p:nvPr/>
        </p:nvSpPr>
        <p:spPr>
          <a:xfrm>
            <a:off x="566928" y="5166360"/>
            <a:ext cx="3566160" cy="1051560"/>
          </a:xfrm>
          <a:prstGeom prst="roundRect">
            <a:avLst>
              <a:gd name="adj" fmla="val 10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5257800"/>
            <a:ext cx="3310128" cy="457200"/>
          </a:xfrm>
          <a:prstGeom prst="rect">
            <a:avLst/>
          </a:prstGeom>
          <a:noFill/>
        </p:spPr>
        <p:txBody>
          <a:bodyPr wrap="square" anchor="t" lIns="0" rIns="0" tIns="0" bIns="0">
            <a:spAutoFit/>
          </a:bodyPr>
          <a:lstStyle/>
          <a:p>
            <a:pPr algn="l">
              <a:lnSpc>
                <a:spcPct val="115000"/>
              </a:lnSpc>
            </a:pPr>
            <a:r>
              <a:rPr sz="2500" b="1" i="0">
                <a:solidFill>
                  <a:srgbClr val="FF8A5C"/>
                </a:solidFill>
                <a:latin typeface="Consolas"/>
              </a:rPr>
              <a:t>147</a:t>
            </a:r>
          </a:p>
        </p:txBody>
      </p:sp>
      <p:sp>
        <p:nvSpPr>
          <p:cNvPr id="10" name="TextBox 9"/>
          <p:cNvSpPr txBox="1"/>
          <p:nvPr/>
        </p:nvSpPr>
        <p:spPr>
          <a:xfrm>
            <a:off x="694944" y="5715000"/>
            <a:ext cx="3310128" cy="429768"/>
          </a:xfrm>
          <a:prstGeom prst="rect">
            <a:avLst/>
          </a:prstGeom>
          <a:noFill/>
        </p:spPr>
        <p:txBody>
          <a:bodyPr wrap="square" anchor="t" lIns="0" rIns="0" tIns="0" bIns="0">
            <a:spAutoFit/>
          </a:bodyPr>
          <a:lstStyle/>
          <a:p>
            <a:pPr algn="l">
              <a:lnSpc>
                <a:spcPct val="115000"/>
              </a:lnSpc>
            </a:pPr>
            <a:r>
              <a:rPr sz="950" b="0" i="0">
                <a:solidFill>
                  <a:srgbClr val="AEBBD2"/>
                </a:solidFill>
                <a:latin typeface="Arial"/>
              </a:rPr>
              <a:t>offline tests passing, all exercised against real data</a:t>
            </a:r>
          </a:p>
        </p:txBody>
      </p:sp>
      <p:sp>
        <p:nvSpPr>
          <p:cNvPr id="11" name="Rounded Rectangle 10"/>
          <p:cNvSpPr/>
          <p:nvPr/>
        </p:nvSpPr>
        <p:spPr>
          <a:xfrm>
            <a:off x="4315967" y="5166360"/>
            <a:ext cx="3566160" cy="1051560"/>
          </a:xfrm>
          <a:prstGeom prst="roundRect">
            <a:avLst>
              <a:gd name="adj" fmla="val 10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43983" y="5257800"/>
            <a:ext cx="3310128" cy="457200"/>
          </a:xfrm>
          <a:prstGeom prst="rect">
            <a:avLst/>
          </a:prstGeom>
          <a:noFill/>
        </p:spPr>
        <p:txBody>
          <a:bodyPr wrap="square" anchor="t" lIns="0" rIns="0" tIns="0" bIns="0">
            <a:spAutoFit/>
          </a:bodyPr>
          <a:lstStyle/>
          <a:p>
            <a:pPr algn="l">
              <a:lnSpc>
                <a:spcPct val="115000"/>
              </a:lnSpc>
            </a:pPr>
            <a:r>
              <a:rPr sz="2500" b="1" i="0">
                <a:solidFill>
                  <a:srgbClr val="FF8A5C"/>
                </a:solidFill>
                <a:latin typeface="Consolas"/>
              </a:rPr>
              <a:t>0</a:t>
            </a:r>
          </a:p>
        </p:txBody>
      </p:sp>
      <p:sp>
        <p:nvSpPr>
          <p:cNvPr id="13" name="TextBox 12"/>
          <p:cNvSpPr txBox="1"/>
          <p:nvPr/>
        </p:nvSpPr>
        <p:spPr>
          <a:xfrm>
            <a:off x="4443983" y="5715000"/>
            <a:ext cx="3310128" cy="429768"/>
          </a:xfrm>
          <a:prstGeom prst="rect">
            <a:avLst/>
          </a:prstGeom>
          <a:noFill/>
        </p:spPr>
        <p:txBody>
          <a:bodyPr wrap="square" anchor="t" lIns="0" rIns="0" tIns="0" bIns="0">
            <a:spAutoFit/>
          </a:bodyPr>
          <a:lstStyle/>
          <a:p>
            <a:pPr algn="l">
              <a:lnSpc>
                <a:spcPct val="115000"/>
              </a:lnSpc>
            </a:pPr>
            <a:r>
              <a:rPr sz="950" b="0" i="0">
                <a:solidFill>
                  <a:srgbClr val="AEBBD2"/>
                </a:solidFill>
                <a:latin typeface="Arial"/>
              </a:rPr>
              <a:t>changes required to mantis.core, mantis.hooks, or the banking workflow modules</a:t>
            </a:r>
          </a:p>
        </p:txBody>
      </p:sp>
      <p:sp>
        <p:nvSpPr>
          <p:cNvPr id="14" name="Rounded Rectangle 13"/>
          <p:cNvSpPr/>
          <p:nvPr/>
        </p:nvSpPr>
        <p:spPr>
          <a:xfrm>
            <a:off x="8065007" y="5166360"/>
            <a:ext cx="3566160" cy="1051560"/>
          </a:xfrm>
          <a:prstGeom prst="roundRect">
            <a:avLst>
              <a:gd name="adj" fmla="val 10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93023" y="5257800"/>
            <a:ext cx="3310128" cy="457200"/>
          </a:xfrm>
          <a:prstGeom prst="rect">
            <a:avLst/>
          </a:prstGeom>
          <a:noFill/>
        </p:spPr>
        <p:txBody>
          <a:bodyPr wrap="square" anchor="t" lIns="0" rIns="0" tIns="0" bIns="0">
            <a:spAutoFit/>
          </a:bodyPr>
          <a:lstStyle/>
          <a:p>
            <a:pPr algn="l">
              <a:lnSpc>
                <a:spcPct val="115000"/>
              </a:lnSpc>
            </a:pPr>
            <a:r>
              <a:rPr sz="2500" b="1" i="0">
                <a:solidFill>
                  <a:srgbClr val="FF8A5C"/>
                </a:solidFill>
                <a:latin typeface="Consolas"/>
              </a:rPr>
              <a:t>3</a:t>
            </a:r>
          </a:p>
        </p:txBody>
      </p:sp>
      <p:sp>
        <p:nvSpPr>
          <p:cNvPr id="16" name="TextBox 15"/>
          <p:cNvSpPr txBox="1"/>
          <p:nvPr/>
        </p:nvSpPr>
        <p:spPr>
          <a:xfrm>
            <a:off x="8193023" y="5715000"/>
            <a:ext cx="3310128" cy="429768"/>
          </a:xfrm>
          <a:prstGeom prst="rect">
            <a:avLst/>
          </a:prstGeom>
          <a:noFill/>
        </p:spPr>
        <p:txBody>
          <a:bodyPr wrap="square" anchor="t" lIns="0" rIns="0" tIns="0" bIns="0">
            <a:spAutoFit/>
          </a:bodyPr>
          <a:lstStyle/>
          <a:p>
            <a:pPr algn="l">
              <a:lnSpc>
                <a:spcPct val="115000"/>
              </a:lnSpc>
            </a:pPr>
            <a:r>
              <a:rPr sz="950" b="0" i="0">
                <a:solidFill>
                  <a:srgbClr val="AEBBD2"/>
                </a:solidFill>
                <a:latin typeface="Arial"/>
              </a:rPr>
              <a:t>real defects found and fixed while building these extensions</a:t>
            </a:r>
          </a:p>
        </p:txBody>
      </p:sp>
      <p:cxnSp>
        <p:nvCxnSpPr>
          <p:cNvPr id="17" name="Connector 16"/>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MANTIS EXTENDED — POST-PAPER EXTENSIONS</a:t>
            </a:r>
          </a:p>
        </p:txBody>
      </p:sp>
      <p:sp>
        <p:nvSpPr>
          <p:cNvPr id="20" name="TextBox 19"/>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THANK YOU</a:t>
            </a:r>
          </a:p>
        </p:txBody>
      </p:sp>
      <p:sp>
        <p:nvSpPr>
          <p:cNvPr id="6" name="TextBox 5"/>
          <p:cNvSpPr txBox="1"/>
          <p:nvPr/>
        </p:nvSpPr>
        <p:spPr>
          <a:xfrm>
            <a:off x="566928" y="2788920"/>
            <a:ext cx="10607040" cy="1188720"/>
          </a:xfrm>
          <a:prstGeom prst="rect">
            <a:avLst/>
          </a:prstGeom>
          <a:noFill/>
        </p:spPr>
        <p:txBody>
          <a:bodyPr wrap="square" anchor="t" lIns="0" rIns="0" tIns="0" bIns="0">
            <a:spAutoFit/>
          </a:bodyPr>
          <a:lstStyle/>
          <a:p>
            <a:pPr algn="l">
              <a:lnSpc>
                <a:spcPct val="104000"/>
              </a:lnSpc>
            </a:pPr>
            <a:r>
              <a:rPr sz="2600" b="1" i="0">
                <a:solidFill>
                  <a:srgbClr val="EEF2F8"/>
                </a:solidFill>
                <a:latin typeface="Arial Black"/>
              </a:rPr>
              <a:t>Five extensions, zero core changes, real evidence for each</a:t>
            </a:r>
          </a:p>
        </p:txBody>
      </p:sp>
      <p:sp>
        <p:nvSpPr>
          <p:cNvPr id="7" name="TextBox 6"/>
          <p:cNvSpPr txBox="1"/>
          <p:nvPr/>
        </p:nvSpPr>
        <p:spPr>
          <a:xfrm>
            <a:off x="566928" y="3611880"/>
            <a:ext cx="9144000" cy="822960"/>
          </a:xfrm>
          <a:prstGeom prst="rect">
            <a:avLst/>
          </a:prstGeom>
          <a:noFill/>
        </p:spPr>
        <p:txBody>
          <a:bodyPr wrap="square" anchor="t" lIns="0" rIns="0" tIns="0" bIns="0">
            <a:spAutoFit/>
          </a:bodyPr>
          <a:lstStyle/>
          <a:p>
            <a:pPr algn="l">
              <a:lnSpc>
                <a:spcPct val="130000"/>
              </a:lnSpc>
            </a:pPr>
            <a:r>
              <a:rPr sz="1400" b="0" i="1">
                <a:solidFill>
                  <a:srgbClr val="AEBBD2"/>
                </a:solidFill>
                <a:latin typeface="Georgia"/>
              </a:rPr>
              <a:t>Paper 1's interfaces held up exactly as designed. Happy to walk through any extension live,</a:t>
            </a:r>
          </a:p>
          <a:p>
            <a:pPr algn="l">
              <a:lnSpc>
                <a:spcPct val="130000"/>
              </a:lnSpc>
            </a:pPr>
            <a:r>
              <a:rPr sz="1400" b="0" i="1">
                <a:solidFill>
                  <a:srgbClr val="AEBBD2"/>
                </a:solidFill>
                <a:latin typeface="Georgia"/>
              </a:rPr>
              <a:t>or discuss where a production Zero Trust integration goes next.</a:t>
            </a:r>
          </a:p>
        </p:txBody>
      </p:sp>
      <p:sp>
        <p:nvSpPr>
          <p:cNvPr id="8" name="TextBox 7"/>
          <p:cNvSpPr txBox="1"/>
          <p:nvPr/>
        </p:nvSpPr>
        <p:spPr>
          <a:xfrm>
            <a:off x="566928" y="4526280"/>
            <a:ext cx="7315200" cy="457200"/>
          </a:xfrm>
          <a:prstGeom prst="rect">
            <a:avLst/>
          </a:prstGeom>
          <a:noFill/>
        </p:spPr>
        <p:txBody>
          <a:bodyPr wrap="square" anchor="t" lIns="0" rIns="0" tIns="0" bIns="0">
            <a:spAutoFit/>
          </a:bodyPr>
          <a:lstStyle/>
          <a:p>
            <a:pPr algn="l">
              <a:lnSpc>
                <a:spcPct val="115000"/>
              </a:lnSpc>
            </a:pPr>
            <a:r>
              <a:rPr sz="1500" b="0" i="0">
                <a:solidFill>
                  <a:srgbClr val="AEBBD2"/>
                </a:solidFill>
                <a:latin typeface="Consolas"/>
              </a:rPr>
              <a:t>github.com/smartsystemslab-uf/MANTIS</a:t>
            </a:r>
          </a:p>
        </p:txBody>
      </p:sp>
      <p:cxnSp>
        <p:nvCxnSpPr>
          <p:cNvPr id="9" name="Connector 8"/>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Leading the Charge, Charging Ahead</a:t>
            </a:r>
          </a:p>
        </p:txBody>
      </p:sp>
      <p:sp>
        <p:nvSpPr>
          <p:cNvPr id="12" name="TextBox 11"/>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