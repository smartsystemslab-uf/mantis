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1" r:id="rId13"/>
    <p:sldId id="258" r:id="rId10"/>
    <p:sldId id="259" r:id="rId11"/>
    <p:sldId id="260"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 how to run one of the built-in attacks and see what it did. It is five steps. Step one, open the project and activate the environment. Step two, run inventory. It introspects the live system and lists the agents, tools, and domains, so we know MANTIS sees the bank. Step three, run the route-confusion attack. This starts the real banking agents against the real backend and a live model, and injects the attack. Step four, evaluate the run. This scores the trace against the recorded baseline: did the attack fire, and did the outcome change. Step five, open the trace viewer in the browser. Every run appears in the list. I open this one and you can see the attack event in the trace, the scorecard, and which checkpoints were reached. In this run the attack fired and the workflow ended completed where manual review was expected, so the scorecard flags the diverted outcome. If the model is slow, I have this run recorded and ready to open,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The main direction is more scenarios: we already grew the library to nineteen baselines and twenty-six attack variants without changing the architecture, and the same recipe, a new prompt or config over the existing agents, tools and seeded data, adds more workflows, more attack variants, and more measured baselines. Then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670</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one attack, five steps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cd MANTIS &amp;&amp; source .venv/bin/activate</a:t>
            </a:r>
          </a:p>
        </p:txBody>
      </p:sp>
      <p:sp>
        <p:nvSpPr>
          <p:cNvPr id="5" name="TextBox 4"/>
          <p:cNvSpPr txBox="1"/>
          <p:nvPr/>
        </p:nvSpPr>
        <p:spPr>
          <a:xfrm>
            <a:off x="1234440" y="173736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project and activate the environment.</a:t>
            </a:r>
          </a:p>
        </p:txBody>
      </p:sp>
      <p:sp>
        <p:nvSpPr>
          <p:cNvPr id="6" name="Oval 5"/>
          <p:cNvSpPr/>
          <p:nvPr/>
        </p:nvSpPr>
        <p:spPr>
          <a:xfrm>
            <a:off x="548640" y="242316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37744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--inventory</a:t>
            </a:r>
          </a:p>
        </p:txBody>
      </p:sp>
      <p:sp>
        <p:nvSpPr>
          <p:cNvPr id="8" name="TextBox 7"/>
          <p:cNvSpPr txBox="1"/>
          <p:nvPr/>
        </p:nvSpPr>
        <p:spPr>
          <a:xfrm>
            <a:off x="1234440" y="274320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the agents, tools and domains MANTIS sees.</a:t>
            </a:r>
          </a:p>
        </p:txBody>
      </p:sp>
      <p:sp>
        <p:nvSpPr>
          <p:cNvPr id="9" name="Oval 8"/>
          <p:cNvSpPr/>
          <p:nvPr/>
        </p:nvSpPr>
        <p:spPr>
          <a:xfrm>
            <a:off x="548640" y="34290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38328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configs/attacks/wp5_route_confusion.yaml</a:t>
            </a:r>
          </a:p>
        </p:txBody>
      </p:sp>
      <p:sp>
        <p:nvSpPr>
          <p:cNvPr id="11" name="TextBox 10"/>
          <p:cNvSpPr txBox="1"/>
          <p:nvPr/>
        </p:nvSpPr>
        <p:spPr>
          <a:xfrm>
            <a:off x="1234440" y="374904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Run the attack: real agents, real backend, live model.</a:t>
            </a:r>
          </a:p>
        </p:txBody>
      </p:sp>
      <p:sp>
        <p:nvSpPr>
          <p:cNvPr id="12" name="Oval 11"/>
          <p:cNvSpPr/>
          <p:nvPr/>
        </p:nvSpPr>
        <p:spPr>
          <a:xfrm>
            <a:off x="548640" y="443484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38912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run_artifacts/&lt;run&gt;</a:t>
            </a:r>
          </a:p>
        </p:txBody>
      </p:sp>
      <p:sp>
        <p:nvSpPr>
          <p:cNvPr id="14" name="TextBox 13"/>
          <p:cNvSpPr txBox="1"/>
          <p:nvPr/>
        </p:nvSpPr>
        <p:spPr>
          <a:xfrm>
            <a:off x="1234440" y="475488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Score the run: did it fire, did the outcome change.</a:t>
            </a:r>
          </a:p>
        </p:txBody>
      </p:sp>
      <p:sp>
        <p:nvSpPr>
          <p:cNvPr id="15" name="Oval 14"/>
          <p:cNvSpPr/>
          <p:nvPr/>
        </p:nvSpPr>
        <p:spPr>
          <a:xfrm>
            <a:off x="548640" y="54406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16" name="TextBox 15"/>
          <p:cNvSpPr txBox="1"/>
          <p:nvPr/>
        </p:nvSpPr>
        <p:spPr>
          <a:xfrm>
            <a:off x="1234440" y="539496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--ui   →   http://127.0.0.1:8765</a:t>
            </a:r>
          </a:p>
        </p:txBody>
      </p:sp>
      <p:sp>
        <p:nvSpPr>
          <p:cNvPr id="17" name="TextBox 16"/>
          <p:cNvSpPr txBox="1"/>
          <p:nvPr/>
        </p:nvSpPr>
        <p:spPr>
          <a:xfrm>
            <a:off x="1234440" y="576072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trace viewer in the browser: trace, scorecard and hook coverage.</a:t>
            </a:r>
          </a:p>
        </p:txBody>
      </p:sp>
      <p:sp>
        <p:nvSpPr>
          <p:cNvPr id="18" name="Rounded Rectangle 17"/>
          <p:cNvSpPr/>
          <p:nvPr/>
        </p:nvSpPr>
        <p:spPr>
          <a:xfrm>
            <a:off x="7863840" y="1371600"/>
            <a:ext cx="37764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92440" y="1554480"/>
            <a:ext cx="33832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WHAT YOU WILL SEE</a:t>
            </a:r>
          </a:p>
        </p:txBody>
      </p:sp>
      <p:sp>
        <p:nvSpPr>
          <p:cNvPr id="20" name="TextBox 19"/>
          <p:cNvSpPr txBox="1"/>
          <p:nvPr/>
        </p:nvSpPr>
        <p:spPr>
          <a:xfrm>
            <a:off x="8092440" y="1965960"/>
            <a:ext cx="3383280" cy="2194560"/>
          </a:xfrm>
          <a:prstGeom prst="rect">
            <a:avLst/>
          </a:prstGeom>
          <a:noFill/>
        </p:spPr>
        <p:txBody>
          <a:bodyPr wrap="square" lIns="0" rIns="0" tIns="0" bIns="0" anchor="t">
            <a:spAutoFit/>
          </a:bodyPr>
          <a:lstStyle/>
          <a:p>
            <a:pPr algn="l">
              <a:lnSpc>
                <a:spcPct val="108000"/>
              </a:lnSpc>
              <a:spcAft>
                <a:spcPts val="1000"/>
              </a:spcAft>
            </a:pPr>
            <a:r>
              <a:rPr sz="1300" b="1">
                <a:solidFill>
                  <a:srgbClr val="F2A900"/>
                </a:solidFill>
                <a:latin typeface="Arial"/>
              </a:rPr>
              <a:t>Trace  </a:t>
            </a:r>
            <a:r>
              <a:rPr sz="1300" b="0">
                <a:solidFill>
                  <a:srgbClr val="FFFFFF"/>
                </a:solidFill>
                <a:latin typeface="Arial"/>
              </a:rPr>
              <a:t>an ATTACK_INJECTED event where the routing was hijacked</a:t>
            </a:r>
          </a:p>
          <a:p>
            <a:pPr algn="l">
              <a:lnSpc>
                <a:spcPct val="108000"/>
              </a:lnSpc>
              <a:spcAft>
                <a:spcPts val="1000"/>
              </a:spcAft>
            </a:pPr>
            <a:r>
              <a:rPr sz="1300" b="1">
                <a:solidFill>
                  <a:srgbClr val="F2A900"/>
                </a:solidFill>
                <a:latin typeface="Arial"/>
              </a:rPr>
              <a:t>Scorecard  </a:t>
            </a:r>
            <a:r>
              <a:rPr sz="1300" b="0">
                <a:solidFill>
                  <a:srgbClr val="FFFFFF"/>
                </a:solidFill>
                <a:latin typeface="Arial"/>
              </a:rPr>
              <a:t>attack fired; outcome diverged from the baseline</a:t>
            </a:r>
          </a:p>
          <a:p>
            <a:pPr algn="l">
              <a:lnSpc>
                <a:spcPct val="108000"/>
              </a:lnSpc>
              <a:spcAft>
                <a:spcPts val="0"/>
              </a:spcAft>
            </a:pPr>
            <a:r>
              <a:rPr sz="1300" b="1">
                <a:solidFill>
                  <a:srgbClr val="F2A900"/>
                </a:solidFill>
                <a:latin typeface="Arial"/>
              </a:rPr>
              <a:t>Hook coverage  </a:t>
            </a:r>
            <a:r>
              <a:rPr sz="1300" b="0">
                <a:solidFill>
                  <a:srgbClr val="FFFFFF"/>
                </a:solidFill>
                <a:latin typeface="Arial"/>
              </a:rPr>
              <a:t>which checkpoints were reached</a:t>
            </a:r>
          </a:p>
        </p:txBody>
      </p:sp>
      <p:sp>
        <p:nvSpPr>
          <p:cNvPr id="21" name="TextBox 20"/>
          <p:cNvSpPr txBox="1"/>
          <p:nvPr/>
        </p:nvSpPr>
        <p:spPr>
          <a:xfrm>
            <a:off x="8092440" y="4343400"/>
            <a:ext cx="338328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22" name="TextBox 21"/>
          <p:cNvSpPr txBox="1"/>
          <p:nvPr/>
        </p:nvSpPr>
        <p:spPr>
          <a:xfrm>
            <a:off x="8092440" y="4709160"/>
            <a:ext cx="3383280" cy="1417320"/>
          </a:xfrm>
          <a:prstGeom prst="rect">
            <a:avLst/>
          </a:prstGeom>
          <a:noFill/>
        </p:spPr>
        <p:txBody>
          <a:bodyPr wrap="square" lIns="0" rIns="0" tIns="0" bIns="0" anchor="t">
            <a:spAutoFit/>
          </a:bodyPr>
          <a:lstStyle/>
          <a:p>
            <a:pPr algn="l">
              <a:lnSpc>
                <a:spcPct val="108000"/>
              </a:lnSpc>
              <a:spcAft>
                <a:spcPts val="600"/>
              </a:spcAft>
            </a:pPr>
            <a:r>
              <a:rPr sz="1200" b="0">
                <a:solidFill>
                  <a:srgbClr val="FFFFFF"/>
                </a:solidFill>
                <a:latin typeface="Arial"/>
              </a:rPr>
              <a:t>Backend running on port 8000; key in .env.</a:t>
            </a:r>
          </a:p>
          <a:p>
            <a:pPr algn="l">
              <a:lnSpc>
                <a:spcPct val="108000"/>
              </a:lnSpc>
              <a:spcAft>
                <a:spcPts val="600"/>
              </a:spcAft>
            </a:pPr>
            <a:r>
              <a:rPr sz="1200" b="0">
                <a:solidFill>
                  <a:srgbClr val="FFFFFF"/>
                </a:solidFill>
                <a:latin typeface="Arial"/>
              </a:rPr>
              <a:t>Fallback: open the recorded run in the UI.</a:t>
            </a:r>
          </a:p>
          <a:p>
            <a:pPr algn="l">
              <a:lnSpc>
                <a:spcPct val="108000"/>
              </a:lnSpc>
              <a:spcAft>
                <a:spcPts val="0"/>
              </a:spcAft>
            </a:pPr>
            <a:r>
              <a:rPr sz="1200" b="0">
                <a:solidFill>
                  <a:srgbClr val="9FB3C8"/>
                </a:solidFill>
                <a:latin typeface="Arial"/>
              </a:rPr>
              <a:t>Synthetic data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More scenarios: new banking workflows, more attack variants and more measured baselines, each added as a config over the same architecture.</a:t>
            </a:r>
          </a:p>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