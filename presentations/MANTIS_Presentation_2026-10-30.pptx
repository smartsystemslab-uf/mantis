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65"/>
    <p:restoredTop sz="74758"/>
  </p:normalViewPr>
  <p:slideViewPr>
    <p:cSldViewPr snapToGrid="0" snapToObjects="1">
      <p:cViewPr varScale="1">
        <p:scale>
          <a:sx n="164" d="100"/>
          <a:sy n="164" d="100"/>
        </p:scale>
        <p:origin x="293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998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quick update, not a full re-introduction -- you've seen MANTIS before. Three things changed since the last time we talked. We wired in a real Zero Trust Backplane. We built a minimal UI on top of the same CLI. And new this week, we added a fourth banking domain: an anti-money-laundering office, ported straight out of the legacy codebase our banking agents originally came from. All of it is off by default, and all of it has been verified against a live run, not just a passing test suite. Let's get into it.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Quick refresher before we get into what's new. MANTIS is a security testbed built on top of a real, unmodified banking multi-agent system -- front office, mid office, back office, all always running: thirty-four agents, twenty-seven tools. The trick is five fixed control points -- input, agent, interaction, tool, output -- so an attack, a failure, or a defense is never a code change. It's just a YAML file that plugs into one of those five points. Keep that in mind, because everything I'm about to show you -- Zero Trust, the AML office -- is just a toggle sitting on top of that same unchanged core.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first, Zero Trust. This isn't something we built from scratch -- it's a real integration of an independent project, the Citi_P3 Zero Trust Backplane, and its actual signed policy decision point. We didn't reimplement it, we wired the real thing in. By default it isn't even imported -- it's an optional dependency behind a try/except, so a normal install never touches it. You turn it on with one block in the config, or one checkbox in the UI. The policy itself comes straight from MANTIS's own live inventory: an agent can act on a tool in its own domain, and the PDP denies everything else by default. And we didn't just trust that it works, we verified it live. Same-domain requests get allowed. Cross-domain requests get denied. An agent the system doesn't recognize gets denied before it's even challenged. And we ran two full legitimate campaigns through the real PDP and got results identical to the undefended baseline. Eleven regression tests sit on top of that to catch any future drift.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Next, the UI. This is deliberately thin -- there's no separate business logic hiding behind it. Validate and Run literally shell out to the same mantis CLI command you'd type in a terminal yourself. The dropdowns -- domain, workflow, scenario, plugin -- are populated live from the real running registries, so they can never drift out of sync with the actual system. We proved that by deliberately submitting a broken config through the UI, and it came back with the exact same error text the CLI itself gives you. What you're looking at on the left is a real screenshot, not a mockup. It's the UI running an actual AML office campaign, with dedicated toggles for Zero Trust and the AML office sitting right next to the existing attack and policy options.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new piece: the AML office. Quick backstory -- MANTIS's banking agents were originally pulled out of a bigger legacy codebase called Citi_P3. That codebase had a working anti-money-laundering investigation office that never made the move over. This week, we ported it. Four detectors, and we kept the logic exactly as it was in the source -- we didn't reinvent any of it. Structuring detection is a real sliding-window analysis of cumulative deposits. Threshold anomaly flags anything over five times a customer's normal baseline. Mule-ring detection walks the actual transaction graph looking for closed loops. Identity verification scores name similarity against date of birth and ID number, weighted thirty, thirty, forty. On top of all that, there's a real alert lifecycle -- open, under investigation, cleared, or escalated to a SAR filing. It's a fourth banking domain, off by default, and you turn it on exactly the same way you turn on Zero Trust.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part I actually want to spend time on, because it's the whole point of verifying against a live trace instead of a clean exit code. When we ran five new AML scenarios live, we found two real bugs -- not in the ported logic itself, but in how it was wired into the agent tree. First, a routing gap. Identity-verification requests were going to the front office instead of the AML office, because the root agent's own instructions never mentioned identity verification by name. Second, an unreachable capability. The alert-triage tool was implemented correctly, and it even passed its own unit test as a standalone function. But no agent in the actual built tree had it on its toolset, so in a real run it could never be called. Neither one would have shown up in the unit suite, because both are bugs in the live agent tree, not in any one function. We fixed both, and re-verified live, including reading the actual database state back afterward to confirm the fix -- not just trusting what the model reported. All five scenarios now score perfectly, every time.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where does that leave us. Both toggles follow the exact same discipline: opt-in, off by default, byte-identical behavior when they're not turned on, and verified live rather than just unit-tested. Right now the full suite stands at 853 tests passing with neither optional dependency installed, and 880 passing with both Zero Trust and the AML office installed -- zero failures, either way. And every single thing I've shown you today is reproducible. Pick up the committed config file, run it against the real backend and a real model, and you get the same result.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1A5"/>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Rectangle 2"/>
          <p:cNvSpPr/>
          <p:nvPr/>
        </p:nvSpPr>
        <p:spPr>
          <a:xfrm>
            <a:off x="502920" y="411480"/>
            <a:ext cx="566928"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3"/>
          <p:cNvSpPr txBox="1"/>
          <p:nvPr/>
        </p:nvSpPr>
        <p:spPr>
          <a:xfrm>
            <a:off x="502920" y="429768"/>
            <a:ext cx="566928" cy="530352"/>
          </a:xfrm>
          <a:prstGeom prst="rect">
            <a:avLst/>
          </a:prstGeom>
          <a:noFill/>
        </p:spPr>
        <p:txBody>
          <a:bodyPr wrap="square" lIns="0" tIns="0" rIns="0" bIns="0" anchor="ctr">
            <a:spAutoFit/>
          </a:bodyPr>
          <a:lstStyle/>
          <a:p>
            <a:pPr algn="ctr">
              <a:lnSpc>
                <a:spcPct val="108000"/>
              </a:lnSpc>
              <a:spcAft>
                <a:spcPts val="0"/>
              </a:spcAft>
            </a:pPr>
            <a:r>
              <a:rPr sz="2200" b="1">
                <a:solidFill>
                  <a:srgbClr val="0021A5"/>
                </a:solidFill>
                <a:latin typeface="Calibri"/>
              </a:rPr>
              <a:t>UF</a:t>
            </a:r>
          </a:p>
        </p:txBody>
      </p:sp>
      <p:sp>
        <p:nvSpPr>
          <p:cNvPr id="5" name="TextBox 4"/>
          <p:cNvSpPr txBox="1"/>
          <p:nvPr/>
        </p:nvSpPr>
        <p:spPr>
          <a:xfrm>
            <a:off x="1188720" y="384048"/>
            <a:ext cx="4206240" cy="274320"/>
          </a:xfrm>
          <a:prstGeom prst="rect">
            <a:avLst/>
          </a:prstGeom>
          <a:noFill/>
        </p:spPr>
        <p:txBody>
          <a:bodyPr wrap="square" lIns="0" tIns="0" rIns="0" bIns="0" anchor="t">
            <a:spAutoFit/>
          </a:bodyPr>
          <a:lstStyle/>
          <a:p>
            <a:pPr algn="l">
              <a:lnSpc>
                <a:spcPct val="108000"/>
              </a:lnSpc>
              <a:spcAft>
                <a:spcPts val="0"/>
              </a:spcAft>
            </a:pPr>
            <a:r>
              <a:rPr sz="1200" b="1">
                <a:solidFill>
                  <a:srgbClr val="FFFFFF"/>
                </a:solidFill>
                <a:latin typeface="Calibri"/>
              </a:rPr>
              <a:t>Herbert Wertheim</a:t>
            </a:r>
          </a:p>
        </p:txBody>
      </p:sp>
      <p:sp>
        <p:nvSpPr>
          <p:cNvPr id="6" name="TextBox 5"/>
          <p:cNvSpPr txBox="1"/>
          <p:nvPr/>
        </p:nvSpPr>
        <p:spPr>
          <a:xfrm>
            <a:off x="1188720" y="621792"/>
            <a:ext cx="4206240" cy="274320"/>
          </a:xfrm>
          <a:prstGeom prst="rect">
            <a:avLst/>
          </a:prstGeom>
          <a:noFill/>
        </p:spPr>
        <p:txBody>
          <a:bodyPr wrap="square" lIns="0" tIns="0" rIns="0" bIns="0" anchor="t">
            <a:spAutoFit/>
          </a:bodyPr>
          <a:lstStyle/>
          <a:p>
            <a:pPr algn="l">
              <a:lnSpc>
                <a:spcPct val="108000"/>
              </a:lnSpc>
              <a:spcAft>
                <a:spcPts val="0"/>
              </a:spcAft>
            </a:pPr>
            <a:r>
              <a:rPr sz="1200" b="1">
                <a:solidFill>
                  <a:srgbClr val="FFFFFF"/>
                </a:solidFill>
                <a:latin typeface="Calibri"/>
              </a:rPr>
              <a:t>College of Engineering</a:t>
            </a:r>
          </a:p>
        </p:txBody>
      </p:sp>
      <p:sp>
        <p:nvSpPr>
          <p:cNvPr id="7" name="TextBox 6"/>
          <p:cNvSpPr txBox="1"/>
          <p:nvPr/>
        </p:nvSpPr>
        <p:spPr>
          <a:xfrm>
            <a:off x="1188720" y="877824"/>
            <a:ext cx="4206240" cy="237744"/>
          </a:xfrm>
          <a:prstGeom prst="rect">
            <a:avLst/>
          </a:prstGeom>
          <a:noFill/>
        </p:spPr>
        <p:txBody>
          <a:bodyPr wrap="square" lIns="0" tIns="0" rIns="0" bIns="0" anchor="t">
            <a:spAutoFit/>
          </a:bodyPr>
          <a:lstStyle/>
          <a:p>
            <a:pPr algn="l">
              <a:lnSpc>
                <a:spcPct val="108000"/>
              </a:lnSpc>
              <a:spcAft>
                <a:spcPts val="0"/>
              </a:spcAft>
            </a:pPr>
            <a:r>
              <a:rPr sz="1000" b="0">
                <a:solidFill>
                  <a:srgbClr val="FFFFFF"/>
                </a:solidFill>
                <a:latin typeface="Calibri"/>
              </a:rPr>
              <a:t>UNIVERSITY of FLORIDA</a:t>
            </a:r>
          </a:p>
        </p:txBody>
      </p:sp>
      <p:sp>
        <p:nvSpPr>
          <p:cNvPr id="8" name="TextBox 7"/>
          <p:cNvSpPr txBox="1"/>
          <p:nvPr/>
        </p:nvSpPr>
        <p:spPr>
          <a:xfrm>
            <a:off x="731520" y="2103120"/>
            <a:ext cx="10058400" cy="887679"/>
          </a:xfrm>
          <a:prstGeom prst="rect">
            <a:avLst/>
          </a:prstGeom>
          <a:noFill/>
        </p:spPr>
        <p:txBody>
          <a:bodyPr wrap="square" lIns="0" tIns="0" rIns="0" bIns="0" anchor="t">
            <a:spAutoFit/>
          </a:bodyPr>
          <a:lstStyle/>
          <a:p>
            <a:pPr algn="l">
              <a:lnSpc>
                <a:spcPct val="108000"/>
              </a:lnSpc>
              <a:spcAft>
                <a:spcPts val="0"/>
              </a:spcAft>
            </a:pPr>
            <a:r>
              <a:rPr sz="5600" b="1" dirty="0">
                <a:solidFill>
                  <a:srgbClr val="FFFFFF"/>
                </a:solidFill>
                <a:latin typeface="Calibri"/>
              </a:rPr>
              <a:t>MANTIS -- </a:t>
            </a:r>
            <a:r>
              <a:rPr lang="en-US" sz="5600" b="1" dirty="0">
                <a:solidFill>
                  <a:srgbClr val="FFFFFF"/>
                </a:solidFill>
                <a:latin typeface="Calibri"/>
              </a:rPr>
              <a:t>Updates</a:t>
            </a:r>
            <a:endParaRPr sz="5600" b="1" dirty="0">
              <a:solidFill>
                <a:srgbClr val="FFFFFF"/>
              </a:solidFill>
              <a:latin typeface="Calibri"/>
            </a:endParaRPr>
          </a:p>
        </p:txBody>
      </p:sp>
      <p:sp>
        <p:nvSpPr>
          <p:cNvPr id="9" name="TextBox 8"/>
          <p:cNvSpPr txBox="1"/>
          <p:nvPr/>
        </p:nvSpPr>
        <p:spPr>
          <a:xfrm>
            <a:off x="731520" y="3429000"/>
            <a:ext cx="9601200" cy="914400"/>
          </a:xfrm>
          <a:prstGeom prst="rect">
            <a:avLst/>
          </a:prstGeom>
          <a:noFill/>
        </p:spPr>
        <p:txBody>
          <a:bodyPr wrap="square" lIns="0" tIns="0" rIns="0" bIns="0" anchor="t">
            <a:spAutoFit/>
          </a:bodyPr>
          <a:lstStyle/>
          <a:p>
            <a:pPr algn="l">
              <a:lnSpc>
                <a:spcPct val="108000"/>
              </a:lnSpc>
              <a:spcAft>
                <a:spcPts val="0"/>
              </a:spcAft>
            </a:pPr>
            <a:r>
              <a:rPr sz="2600" b="1">
                <a:solidFill>
                  <a:srgbClr val="FA4616"/>
                </a:solidFill>
                <a:latin typeface="Calibri"/>
              </a:rPr>
              <a:t>Zero Trust  ·  the UI  ·  the AML Office</a:t>
            </a:r>
          </a:p>
        </p:txBody>
      </p:sp>
      <p:sp>
        <p:nvSpPr>
          <p:cNvPr id="10" name="TextBox 9"/>
          <p:cNvSpPr txBox="1"/>
          <p:nvPr/>
        </p:nvSpPr>
        <p:spPr>
          <a:xfrm>
            <a:off x="731520" y="5029200"/>
            <a:ext cx="8686800" cy="365760"/>
          </a:xfrm>
          <a:prstGeom prst="rect">
            <a:avLst/>
          </a:prstGeom>
          <a:noFill/>
        </p:spPr>
        <p:txBody>
          <a:bodyPr wrap="square" lIns="0" tIns="0" rIns="0" bIns="0" anchor="t">
            <a:spAutoFit/>
          </a:bodyPr>
          <a:lstStyle/>
          <a:p>
            <a:pPr algn="l">
              <a:lnSpc>
                <a:spcPct val="108000"/>
              </a:lnSpc>
              <a:spcAft>
                <a:spcPts val="0"/>
              </a:spcAft>
            </a:pPr>
            <a:r>
              <a:rPr sz="1500" b="1">
                <a:solidFill>
                  <a:srgbClr val="FA4616"/>
                </a:solidFill>
                <a:latin typeface="Calibri"/>
              </a:rPr>
              <a:t>October 30, 2026</a:t>
            </a:r>
          </a:p>
        </p:txBody>
      </p:sp>
      <p:sp>
        <p:nvSpPr>
          <p:cNvPr id="11" name="TextBox 10"/>
          <p:cNvSpPr txBox="1"/>
          <p:nvPr/>
        </p:nvSpPr>
        <p:spPr>
          <a:xfrm>
            <a:off x="731520" y="5394960"/>
            <a:ext cx="8686800" cy="365760"/>
          </a:xfrm>
          <a:prstGeom prst="rect">
            <a:avLst/>
          </a:prstGeom>
          <a:noFill/>
        </p:spPr>
        <p:txBody>
          <a:bodyPr wrap="square" lIns="0" tIns="0" rIns="0" bIns="0" anchor="t">
            <a:spAutoFit/>
          </a:bodyPr>
          <a:lstStyle/>
          <a:p>
            <a:pPr algn="l">
              <a:lnSpc>
                <a:spcPct val="108000"/>
              </a:lnSpc>
              <a:spcAft>
                <a:spcPts val="0"/>
              </a:spcAft>
            </a:pPr>
            <a:r>
              <a:rPr sz="1400" b="0">
                <a:solidFill>
                  <a:srgbClr val="FA4616"/>
                </a:solidFill>
                <a:latin typeface="Calibri"/>
              </a:rPr>
              <a:t>Smart Systems Lab · Research testbed, synthetic data only</a:t>
            </a:r>
          </a:p>
        </p:txBody>
      </p:sp>
      <p:sp>
        <p:nvSpPr>
          <p:cNvPr id="12" name="Rectangle 11"/>
          <p:cNvSpPr/>
          <p:nvPr/>
        </p:nvSpPr>
        <p:spPr>
          <a:xfrm>
            <a:off x="731520" y="6355080"/>
            <a:ext cx="2011680" cy="109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2834640" y="6236208"/>
            <a:ext cx="6492240" cy="274320"/>
          </a:xfrm>
          <a:prstGeom prst="rect">
            <a:avLst/>
          </a:prstGeom>
          <a:noFill/>
        </p:spPr>
        <p:txBody>
          <a:bodyPr wrap="square" lIns="0" tIns="0" rIns="0" bIns="0" anchor="t">
            <a:spAutoFit/>
          </a:bodyPr>
          <a:lstStyle/>
          <a:p>
            <a:pPr algn="ctr">
              <a:lnSpc>
                <a:spcPct val="108000"/>
              </a:lnSpc>
              <a:spcAft>
                <a:spcPts val="0"/>
              </a:spcAft>
            </a:pPr>
            <a:r>
              <a:rPr sz="1050" b="0">
                <a:solidFill>
                  <a:srgbClr val="FFFFFF"/>
                </a:solidFill>
                <a:latin typeface="Calibri"/>
              </a:rPr>
              <a:t>L E A D I N G   T H E   C H A R G E ,   C H A R G I N G   A H E A D</a:t>
            </a:r>
          </a:p>
        </p:txBody>
      </p:sp>
      <p:sp>
        <p:nvSpPr>
          <p:cNvPr id="14" name="Rectangle 13"/>
          <p:cNvSpPr/>
          <p:nvPr/>
        </p:nvSpPr>
        <p:spPr>
          <a:xfrm>
            <a:off x="9464040" y="6355080"/>
            <a:ext cx="2011680" cy="109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MANTIS in brief</a:t>
            </a:r>
          </a:p>
        </p:txBody>
      </p:sp>
      <p:sp>
        <p:nvSpPr>
          <p:cNvPr id="3" name="TextBox 2"/>
          <p:cNvSpPr txBox="1"/>
          <p:nvPr/>
        </p:nvSpPr>
        <p:spPr>
          <a:xfrm>
            <a:off x="502920" y="1005840"/>
            <a:ext cx="73152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THE TESTBED</a:t>
            </a:r>
          </a:p>
        </p:txBody>
      </p:sp>
      <p:sp>
        <p:nvSpPr>
          <p:cNvPr id="4" name="Rectangle 3"/>
          <p:cNvSpPr/>
          <p:nvPr/>
        </p:nvSpPr>
        <p:spPr>
          <a:xfrm>
            <a:off x="502920" y="1417320"/>
            <a:ext cx="3566160" cy="24688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1520" y="1600200"/>
            <a:ext cx="3108960" cy="640080"/>
          </a:xfrm>
          <a:prstGeom prst="rect">
            <a:avLst/>
          </a:prstGeom>
          <a:noFill/>
        </p:spPr>
        <p:txBody>
          <a:bodyPr wrap="square" lIns="0" tIns="0" rIns="0" bIns="0" anchor="t">
            <a:spAutoFit/>
          </a:bodyPr>
          <a:lstStyle/>
          <a:p>
            <a:pPr algn="l">
              <a:lnSpc>
                <a:spcPct val="108000"/>
              </a:lnSpc>
              <a:spcAft>
                <a:spcPts val="0"/>
              </a:spcAft>
            </a:pPr>
            <a:r>
              <a:rPr sz="1550" b="1">
                <a:solidFill>
                  <a:srgbClr val="0021A5"/>
                </a:solidFill>
                <a:latin typeface="Calibri"/>
              </a:rPr>
              <a:t>A real system under test</a:t>
            </a:r>
          </a:p>
        </p:txBody>
      </p:sp>
      <p:sp>
        <p:nvSpPr>
          <p:cNvPr id="6" name="TextBox 5"/>
          <p:cNvSpPr txBox="1"/>
          <p:nvPr/>
        </p:nvSpPr>
        <p:spPr>
          <a:xfrm>
            <a:off x="731520" y="2286000"/>
            <a:ext cx="3108960" cy="1463040"/>
          </a:xfrm>
          <a:prstGeom prst="rect">
            <a:avLst/>
          </a:prstGeom>
          <a:noFill/>
        </p:spPr>
        <p:txBody>
          <a:bodyPr wrap="square" lIns="0" tIns="0" rIns="0" bIns="0" anchor="t">
            <a:spAutoFit/>
          </a:bodyPr>
          <a:lstStyle/>
          <a:p>
            <a:pPr algn="l">
              <a:lnSpc>
                <a:spcPct val="108000"/>
              </a:lnSpc>
              <a:spcAft>
                <a:spcPts val="0"/>
              </a:spcAft>
            </a:pPr>
            <a:r>
              <a:rPr sz="1300" b="0">
                <a:solidFill>
                  <a:srgbClr val="1A2B3C"/>
                </a:solidFill>
                <a:latin typeface="Calibri"/>
              </a:rPr>
              <a:t>Unmodified banking multi-agent system. Front / mid / back office: 34 agents, 27 tools, a real backend.</a:t>
            </a:r>
          </a:p>
        </p:txBody>
      </p:sp>
      <p:sp>
        <p:nvSpPr>
          <p:cNvPr id="7" name="Rectangle 6"/>
          <p:cNvSpPr/>
          <p:nvPr/>
        </p:nvSpPr>
        <p:spPr>
          <a:xfrm>
            <a:off x="4279392" y="1417320"/>
            <a:ext cx="3566160" cy="24688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4507992" y="1600200"/>
            <a:ext cx="3108960" cy="640080"/>
          </a:xfrm>
          <a:prstGeom prst="rect">
            <a:avLst/>
          </a:prstGeom>
          <a:noFill/>
        </p:spPr>
        <p:txBody>
          <a:bodyPr wrap="square" lIns="0" tIns="0" rIns="0" bIns="0" anchor="t">
            <a:spAutoFit/>
          </a:bodyPr>
          <a:lstStyle/>
          <a:p>
            <a:pPr algn="l">
              <a:lnSpc>
                <a:spcPct val="108000"/>
              </a:lnSpc>
              <a:spcAft>
                <a:spcPts val="0"/>
              </a:spcAft>
            </a:pPr>
            <a:r>
              <a:rPr sz="1550" b="1">
                <a:solidFill>
                  <a:srgbClr val="FFFFFF"/>
                </a:solidFill>
                <a:latin typeface="Calibri"/>
              </a:rPr>
              <a:t>Five control points, one hook bus</a:t>
            </a:r>
          </a:p>
        </p:txBody>
      </p:sp>
      <p:sp>
        <p:nvSpPr>
          <p:cNvPr id="9" name="TextBox 8"/>
          <p:cNvSpPr txBox="1"/>
          <p:nvPr/>
        </p:nvSpPr>
        <p:spPr>
          <a:xfrm>
            <a:off x="4507992" y="2286000"/>
            <a:ext cx="3108960" cy="1463040"/>
          </a:xfrm>
          <a:prstGeom prst="rect">
            <a:avLst/>
          </a:prstGeom>
          <a:noFill/>
        </p:spPr>
        <p:txBody>
          <a:bodyPr wrap="square" lIns="0" tIns="0" rIns="0" bIns="0" anchor="t">
            <a:spAutoFit/>
          </a:bodyPr>
          <a:lstStyle/>
          <a:p>
            <a:pPr algn="l">
              <a:lnSpc>
                <a:spcPct val="108000"/>
              </a:lnSpc>
              <a:spcAft>
                <a:spcPts val="0"/>
              </a:spcAft>
            </a:pPr>
            <a:r>
              <a:rPr sz="1300" b="0">
                <a:solidFill>
                  <a:srgbClr val="FFFFFF"/>
                </a:solidFill>
                <a:latin typeface="Calibri"/>
              </a:rPr>
              <a:t>Input, agent, interaction, tool, output. An attack, failure, or defense is a plugin declared in YAML.</a:t>
            </a:r>
          </a:p>
        </p:txBody>
      </p:sp>
      <p:sp>
        <p:nvSpPr>
          <p:cNvPr id="10" name="Rectangle 9"/>
          <p:cNvSpPr/>
          <p:nvPr/>
        </p:nvSpPr>
        <p:spPr>
          <a:xfrm>
            <a:off x="8055864" y="1417320"/>
            <a:ext cx="3566160" cy="24688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8284464" y="1600200"/>
            <a:ext cx="3108960" cy="640080"/>
          </a:xfrm>
          <a:prstGeom prst="rect">
            <a:avLst/>
          </a:prstGeom>
          <a:noFill/>
        </p:spPr>
        <p:txBody>
          <a:bodyPr wrap="square" lIns="0" tIns="0" rIns="0" bIns="0" anchor="t">
            <a:spAutoFit/>
          </a:bodyPr>
          <a:lstStyle/>
          <a:p>
            <a:pPr algn="l">
              <a:lnSpc>
                <a:spcPct val="108000"/>
              </a:lnSpc>
              <a:spcAft>
                <a:spcPts val="0"/>
              </a:spcAft>
            </a:pPr>
            <a:r>
              <a:rPr sz="1550" b="1">
                <a:solidFill>
                  <a:srgbClr val="0021A5"/>
                </a:solidFill>
                <a:latin typeface="Calibri"/>
              </a:rPr>
              <a:t>Evidence, not exit codes</a:t>
            </a:r>
          </a:p>
        </p:txBody>
      </p:sp>
      <p:sp>
        <p:nvSpPr>
          <p:cNvPr id="12" name="TextBox 11"/>
          <p:cNvSpPr txBox="1"/>
          <p:nvPr/>
        </p:nvSpPr>
        <p:spPr>
          <a:xfrm>
            <a:off x="8284464" y="2286000"/>
            <a:ext cx="3108960" cy="1463040"/>
          </a:xfrm>
          <a:prstGeom prst="rect">
            <a:avLst/>
          </a:prstGeom>
          <a:noFill/>
        </p:spPr>
        <p:txBody>
          <a:bodyPr wrap="square" lIns="0" tIns="0" rIns="0" bIns="0" anchor="t">
            <a:spAutoFit/>
          </a:bodyPr>
          <a:lstStyle/>
          <a:p>
            <a:pPr algn="l">
              <a:lnSpc>
                <a:spcPct val="108000"/>
              </a:lnSpc>
              <a:spcAft>
                <a:spcPts val="0"/>
              </a:spcAft>
            </a:pPr>
            <a:r>
              <a:rPr sz="1300" b="0">
                <a:solidFill>
                  <a:srgbClr val="1A2B3C"/>
                </a:solidFill>
                <a:latin typeface="Calibri"/>
              </a:rPr>
              <a:t>Every run writes a manifest, a trace, and a scorecard -- verified against the real trace, every time.</a:t>
            </a:r>
          </a:p>
        </p:txBody>
      </p:sp>
      <p:sp>
        <p:nvSpPr>
          <p:cNvPr id="13" name="TextBox 12"/>
          <p:cNvSpPr txBox="1"/>
          <p:nvPr/>
        </p:nvSpPr>
        <p:spPr>
          <a:xfrm>
            <a:off x="502920" y="4160520"/>
            <a:ext cx="73152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WHAT'S NEW</a:t>
            </a:r>
          </a:p>
        </p:txBody>
      </p:sp>
      <p:sp>
        <p:nvSpPr>
          <p:cNvPr id="14" name="Rectangle 13"/>
          <p:cNvSpPr/>
          <p:nvPr/>
        </p:nvSpPr>
        <p:spPr>
          <a:xfrm>
            <a:off x="502920" y="4480560"/>
            <a:ext cx="11183112" cy="128016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777240" y="4663440"/>
            <a:ext cx="10607040" cy="914400"/>
          </a:xfrm>
          <a:prstGeom prst="rect">
            <a:avLst/>
          </a:prstGeom>
          <a:noFill/>
        </p:spPr>
        <p:txBody>
          <a:bodyPr wrap="square" lIns="0" tIns="0" rIns="0" bIns="0" anchor="t">
            <a:spAutoFit/>
          </a:bodyPr>
          <a:lstStyle/>
          <a:p>
            <a:pPr algn="l">
              <a:lnSpc>
                <a:spcPct val="108000"/>
              </a:lnSpc>
              <a:spcAft>
                <a:spcPts val="0"/>
              </a:spcAft>
            </a:pPr>
            <a:r>
              <a:rPr sz="1500" b="1">
                <a:solidFill>
                  <a:srgbClr val="FA4616"/>
                </a:solidFill>
                <a:latin typeface="Calibri"/>
              </a:rPr>
              <a:t>Two new toggles, zero risk to the rest. </a:t>
            </a:r>
            <a:r>
              <a:rPr sz="1500" b="0">
                <a:solidFill>
                  <a:srgbClr val="1A2B3C"/>
                </a:solidFill>
                <a:latin typeface="Calibri"/>
              </a:rPr>
              <a:t>Zero Trust and the AML office are both off by default -- every existing config's behavior is byte-identical whether or not they exist.</a:t>
            </a:r>
          </a:p>
        </p:txBody>
      </p:sp>
      <p:sp>
        <p:nvSpPr>
          <p:cNvPr id="16" name="TextBox 15"/>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Everything below is a toggle on top of that unchanged core.</a:t>
            </a:r>
          </a:p>
        </p:txBody>
      </p:sp>
      <p:sp>
        <p:nvSpPr>
          <p:cNvPr id="17" name="Rectangle 16"/>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19" name="TextBox 18"/>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Zero Trust Backplane: real PDP, toggled per run</a:t>
            </a:r>
          </a:p>
        </p:txBody>
      </p:sp>
      <p:sp>
        <p:nvSpPr>
          <p:cNvPr id="3" name="TextBox 2"/>
          <p:cNvSpPr txBox="1"/>
          <p:nvPr/>
        </p:nvSpPr>
        <p:spPr>
          <a:xfrm>
            <a:off x="502920" y="1005840"/>
            <a:ext cx="54864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POLICY DECISION</a:t>
            </a:r>
          </a:p>
        </p:txBody>
      </p:sp>
      <p:sp>
        <p:nvSpPr>
          <p:cNvPr id="4" name="Rectangle 3"/>
          <p:cNvSpPr/>
          <p:nvPr/>
        </p:nvSpPr>
        <p:spPr>
          <a:xfrm>
            <a:off x="502920" y="1371600"/>
            <a:ext cx="2377440" cy="68580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576072" y="1371600"/>
            <a:ext cx="2231136" cy="685800"/>
          </a:xfrm>
          <a:prstGeom prst="rect">
            <a:avLst/>
          </a:prstGeom>
          <a:noFill/>
        </p:spPr>
        <p:txBody>
          <a:bodyPr wrap="square" lIns="0" tIns="0" rIns="0" bIns="0" anchor="ctr">
            <a:spAutoFit/>
          </a:bodyPr>
          <a:lstStyle/>
          <a:p>
            <a:pPr algn="ctr">
              <a:lnSpc>
                <a:spcPct val="108000"/>
              </a:lnSpc>
              <a:spcAft>
                <a:spcPts val="0"/>
              </a:spcAft>
            </a:pPr>
            <a:r>
              <a:rPr sz="1350" b="1">
                <a:solidFill>
                  <a:srgbClr val="1A2B3C"/>
                </a:solidFill>
                <a:latin typeface="Calibri"/>
              </a:rPr>
              <a:t>Agent request</a:t>
            </a:r>
          </a:p>
        </p:txBody>
      </p:sp>
      <p:sp>
        <p:nvSpPr>
          <p:cNvPr id="6" name="Right Arrow 5"/>
          <p:cNvSpPr/>
          <p:nvPr/>
        </p:nvSpPr>
        <p:spPr>
          <a:xfrm>
            <a:off x="2971800" y="1600200"/>
            <a:ext cx="274320" cy="201168"/>
          </a:xfrm>
          <a:prstGeom prst="rightArrow">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Rectangle 6"/>
          <p:cNvSpPr/>
          <p:nvPr/>
        </p:nvSpPr>
        <p:spPr>
          <a:xfrm>
            <a:off x="3337560" y="1371600"/>
            <a:ext cx="2651760" cy="68580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410712" y="1371600"/>
            <a:ext cx="2505456" cy="685800"/>
          </a:xfrm>
          <a:prstGeom prst="rect">
            <a:avLst/>
          </a:prstGeom>
          <a:noFill/>
        </p:spPr>
        <p:txBody>
          <a:bodyPr wrap="square" lIns="0" tIns="0" rIns="0" bIns="0" anchor="ctr">
            <a:spAutoFit/>
          </a:bodyPr>
          <a:lstStyle/>
          <a:p>
            <a:pPr algn="ctr">
              <a:lnSpc>
                <a:spcPct val="108000"/>
              </a:lnSpc>
              <a:spcAft>
                <a:spcPts val="0"/>
              </a:spcAft>
            </a:pPr>
            <a:r>
              <a:rPr sz="1350" b="1">
                <a:solidFill>
                  <a:srgbClr val="FA4616"/>
                </a:solidFill>
                <a:latin typeface="Calibri"/>
              </a:rPr>
              <a:t>PDP policy check</a:t>
            </a:r>
          </a:p>
        </p:txBody>
      </p:sp>
      <p:sp>
        <p:nvSpPr>
          <p:cNvPr id="9" name="Right Arrow 8"/>
          <p:cNvSpPr/>
          <p:nvPr/>
        </p:nvSpPr>
        <p:spPr>
          <a:xfrm>
            <a:off x="6080760" y="1600200"/>
            <a:ext cx="274320" cy="201168"/>
          </a:xfrm>
          <a:prstGeom prst="rightArrow">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6446520" y="1051560"/>
            <a:ext cx="2331720" cy="548640"/>
          </a:xfrm>
          <a:prstGeom prst="rect">
            <a:avLst/>
          </a:prstGeom>
          <a:solidFill>
            <a:srgbClr val="E3F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6446520" y="1051560"/>
            <a:ext cx="2331720" cy="548640"/>
          </a:xfrm>
          <a:prstGeom prst="rect">
            <a:avLst/>
          </a:prstGeom>
          <a:noFill/>
        </p:spPr>
        <p:txBody>
          <a:bodyPr wrap="square" lIns="0" tIns="0" rIns="0" bIns="0" anchor="ctr">
            <a:spAutoFit/>
          </a:bodyPr>
          <a:lstStyle/>
          <a:p>
            <a:pPr algn="ctr">
              <a:lnSpc>
                <a:spcPct val="108000"/>
              </a:lnSpc>
              <a:spcAft>
                <a:spcPts val="0"/>
              </a:spcAft>
            </a:pPr>
            <a:r>
              <a:rPr sz="1250" b="1">
                <a:solidFill>
                  <a:srgbClr val="1C7C4C"/>
                </a:solidFill>
                <a:latin typeface="Calibri"/>
              </a:rPr>
              <a:t>ALLOW — same domain</a:t>
            </a:r>
          </a:p>
        </p:txBody>
      </p:sp>
      <p:sp>
        <p:nvSpPr>
          <p:cNvPr id="12" name="Rectangle 11"/>
          <p:cNvSpPr/>
          <p:nvPr/>
        </p:nvSpPr>
        <p:spPr>
          <a:xfrm>
            <a:off x="6446520" y="1783080"/>
            <a:ext cx="2331720" cy="548640"/>
          </a:xfrm>
          <a:prstGeom prst="rect">
            <a:avLst/>
          </a:prstGeom>
          <a:solidFill>
            <a:srgbClr val="FBEA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6446520" y="1783080"/>
            <a:ext cx="2331720" cy="548640"/>
          </a:xfrm>
          <a:prstGeom prst="rect">
            <a:avLst/>
          </a:prstGeom>
          <a:noFill/>
        </p:spPr>
        <p:txBody>
          <a:bodyPr wrap="square" lIns="0" tIns="0" rIns="0" bIns="0" anchor="ctr">
            <a:spAutoFit/>
          </a:bodyPr>
          <a:lstStyle/>
          <a:p>
            <a:pPr algn="ctr">
              <a:lnSpc>
                <a:spcPct val="108000"/>
              </a:lnSpc>
              <a:spcAft>
                <a:spcPts val="0"/>
              </a:spcAft>
            </a:pPr>
            <a:r>
              <a:rPr sz="1250" b="1">
                <a:solidFill>
                  <a:srgbClr val="A32638"/>
                </a:solidFill>
                <a:latin typeface="Calibri"/>
              </a:rPr>
              <a:t>DENY — everything else</a:t>
            </a:r>
          </a:p>
        </p:txBody>
      </p:sp>
      <p:sp>
        <p:nvSpPr>
          <p:cNvPr id="14" name="TextBox 13"/>
          <p:cNvSpPr txBox="1"/>
          <p:nvPr/>
        </p:nvSpPr>
        <p:spPr>
          <a:xfrm>
            <a:off x="9006840" y="1371600"/>
            <a:ext cx="2651760" cy="685800"/>
          </a:xfrm>
          <a:prstGeom prst="rect">
            <a:avLst/>
          </a:prstGeom>
          <a:noFill/>
        </p:spPr>
        <p:txBody>
          <a:bodyPr wrap="square" lIns="0" tIns="0" rIns="0" bIns="0" anchor="t">
            <a:spAutoFit/>
          </a:bodyPr>
          <a:lstStyle/>
          <a:p>
            <a:pPr algn="l">
              <a:lnSpc>
                <a:spcPct val="108000"/>
              </a:lnSpc>
              <a:spcAft>
                <a:spcPts val="0"/>
              </a:spcAft>
            </a:pPr>
            <a:r>
              <a:rPr sz="1150" b="0">
                <a:solidFill>
                  <a:srgbClr val="6B7A8F"/>
                </a:solidFill>
                <a:latin typeface="Calibri"/>
              </a:rPr>
              <a:t>Unknown identity or
unrecognized call: deny
before a challenge issues.</a:t>
            </a:r>
          </a:p>
        </p:txBody>
      </p:sp>
      <p:sp>
        <p:nvSpPr>
          <p:cNvPr id="15" name="Rectangle 14"/>
          <p:cNvSpPr/>
          <p:nvPr/>
        </p:nvSpPr>
        <p:spPr>
          <a:xfrm>
            <a:off x="502920" y="2606040"/>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02920" y="2788920"/>
            <a:ext cx="54864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WHAT IT IS</a:t>
            </a:r>
          </a:p>
        </p:txBody>
      </p:sp>
      <p:sp>
        <p:nvSpPr>
          <p:cNvPr id="17" name="TextBox 16"/>
          <p:cNvSpPr txBox="1"/>
          <p:nvPr/>
        </p:nvSpPr>
        <p:spPr>
          <a:xfrm>
            <a:off x="502920" y="3108960"/>
            <a:ext cx="5394960" cy="1920240"/>
          </a:xfrm>
          <a:prstGeom prst="rect">
            <a:avLst/>
          </a:prstGeom>
          <a:noFill/>
        </p:spPr>
        <p:txBody>
          <a:bodyPr wrap="square" lIns="0" tIns="0" rIns="0" bIns="0" anchor="t">
            <a:spAutoFit/>
          </a:bodyPr>
          <a:lstStyle/>
          <a:p>
            <a:pPr algn="l">
              <a:lnSpc>
                <a:spcPct val="108000"/>
              </a:lnSpc>
              <a:spcAft>
                <a:spcPts val="900"/>
              </a:spcAft>
            </a:pPr>
            <a:r>
              <a:rPr sz="1350" b="1">
                <a:solidFill>
                  <a:srgbClr val="0021A5"/>
                </a:solidFill>
                <a:latin typeface="Calibri"/>
              </a:rPr>
              <a:t>Real external project. </a:t>
            </a:r>
            <a:r>
              <a:rPr sz="1350" b="0">
                <a:solidFill>
                  <a:srgbClr val="1A2B3C"/>
                </a:solidFill>
                <a:latin typeface="Calibri"/>
              </a:rPr>
              <a:t>The independent Citi_P3_Zero_Trust_Backplane's own signed PDP -- not reimplemented here.</a:t>
            </a:r>
          </a:p>
          <a:p>
            <a:pPr algn="l">
              <a:lnSpc>
                <a:spcPct val="108000"/>
              </a:lnSpc>
              <a:spcAft>
                <a:spcPts val="900"/>
              </a:spcAft>
            </a:pPr>
            <a:r>
              <a:rPr sz="1350" b="1">
                <a:solidFill>
                  <a:srgbClr val="0021A5"/>
                </a:solidFill>
                <a:latin typeface="Calibri"/>
              </a:rPr>
              <a:t>Fails closed. </a:t>
            </a:r>
            <a:r>
              <a:rPr sz="1350" b="0">
                <a:solidFill>
                  <a:srgbClr val="1A2B3C"/>
                </a:solidFill>
                <a:latin typeface="Calibri"/>
              </a:rPr>
              <a:t>Unreachable PDP, or anything but ALLOW, means deny -- not a silent pass-through.</a:t>
            </a:r>
          </a:p>
          <a:p>
            <a:pPr algn="l">
              <a:lnSpc>
                <a:spcPct val="108000"/>
              </a:lnSpc>
              <a:spcAft>
                <a:spcPts val="0"/>
              </a:spcAft>
            </a:pPr>
            <a:r>
              <a:rPr sz="1350" b="1">
                <a:solidFill>
                  <a:srgbClr val="0021A5"/>
                </a:solidFill>
                <a:latin typeface="Calibri"/>
              </a:rPr>
              <a:t>Opt-in dependency. </a:t>
            </a:r>
            <a:r>
              <a:rPr sz="1350" b="0">
                <a:solidFill>
                  <a:srgbClr val="1A2B3C"/>
                </a:solidFill>
                <a:latin typeface="Calibri"/>
              </a:rPr>
              <a:t>Guarded import -- a stock install never touches it.</a:t>
            </a:r>
          </a:p>
        </p:txBody>
      </p:sp>
      <p:sp>
        <p:nvSpPr>
          <p:cNvPr id="18" name="TextBox 17"/>
          <p:cNvSpPr txBox="1"/>
          <p:nvPr/>
        </p:nvSpPr>
        <p:spPr>
          <a:xfrm>
            <a:off x="6199632" y="2788920"/>
            <a:ext cx="54864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LIVE-VERIFIED</a:t>
            </a:r>
          </a:p>
        </p:txBody>
      </p:sp>
      <p:sp>
        <p:nvSpPr>
          <p:cNvPr id="19" name="Oval 18"/>
          <p:cNvSpPr/>
          <p:nvPr/>
        </p:nvSpPr>
        <p:spPr>
          <a:xfrm>
            <a:off x="6199632" y="3127248"/>
            <a:ext cx="292608" cy="29260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1</a:t>
            </a:r>
          </a:p>
        </p:txBody>
      </p:sp>
      <p:sp>
        <p:nvSpPr>
          <p:cNvPr id="20" name="TextBox 19"/>
          <p:cNvSpPr txBox="1"/>
          <p:nvPr/>
        </p:nvSpPr>
        <p:spPr>
          <a:xfrm>
            <a:off x="6629400" y="3108960"/>
            <a:ext cx="5029200" cy="411480"/>
          </a:xfrm>
          <a:prstGeom prst="rect">
            <a:avLst/>
          </a:prstGeom>
          <a:noFill/>
        </p:spPr>
        <p:txBody>
          <a:bodyPr wrap="square" lIns="0" tIns="0" rIns="0" bIns="0" anchor="ctr">
            <a:spAutoFit/>
          </a:bodyPr>
          <a:lstStyle/>
          <a:p>
            <a:pPr algn="l">
              <a:lnSpc>
                <a:spcPct val="108000"/>
              </a:lnSpc>
              <a:spcAft>
                <a:spcPts val="0"/>
              </a:spcAft>
            </a:pPr>
            <a:r>
              <a:rPr sz="1300" b="0">
                <a:solidFill>
                  <a:srgbClr val="1A2B3C"/>
                </a:solidFill>
                <a:latin typeface="Calibri"/>
              </a:rPr>
              <a:t>Same-domain allow, cross-domain deny</a:t>
            </a:r>
          </a:p>
        </p:txBody>
      </p:sp>
      <p:sp>
        <p:nvSpPr>
          <p:cNvPr id="21" name="Oval 20"/>
          <p:cNvSpPr/>
          <p:nvPr/>
        </p:nvSpPr>
        <p:spPr>
          <a:xfrm>
            <a:off x="6199632" y="3584448"/>
            <a:ext cx="292608" cy="29260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2</a:t>
            </a:r>
          </a:p>
        </p:txBody>
      </p:sp>
      <p:sp>
        <p:nvSpPr>
          <p:cNvPr id="22" name="TextBox 21"/>
          <p:cNvSpPr txBox="1"/>
          <p:nvPr/>
        </p:nvSpPr>
        <p:spPr>
          <a:xfrm>
            <a:off x="6629400" y="3566160"/>
            <a:ext cx="5029200" cy="411480"/>
          </a:xfrm>
          <a:prstGeom prst="rect">
            <a:avLst/>
          </a:prstGeom>
          <a:noFill/>
        </p:spPr>
        <p:txBody>
          <a:bodyPr wrap="square" lIns="0" tIns="0" rIns="0" bIns="0" anchor="ctr">
            <a:spAutoFit/>
          </a:bodyPr>
          <a:lstStyle/>
          <a:p>
            <a:pPr algn="l">
              <a:lnSpc>
                <a:spcPct val="108000"/>
              </a:lnSpc>
              <a:spcAft>
                <a:spcPts val="0"/>
              </a:spcAft>
            </a:pPr>
            <a:r>
              <a:rPr sz="1300" b="0">
                <a:solidFill>
                  <a:srgbClr val="1A2B3C"/>
                </a:solidFill>
                <a:latin typeface="Calibri"/>
              </a:rPr>
              <a:t>Unrecognized agent denied pre-challenge</a:t>
            </a:r>
          </a:p>
        </p:txBody>
      </p:sp>
      <p:sp>
        <p:nvSpPr>
          <p:cNvPr id="23" name="Oval 22"/>
          <p:cNvSpPr/>
          <p:nvPr/>
        </p:nvSpPr>
        <p:spPr>
          <a:xfrm>
            <a:off x="6199632" y="4041648"/>
            <a:ext cx="292608" cy="29260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3</a:t>
            </a:r>
          </a:p>
        </p:txBody>
      </p:sp>
      <p:sp>
        <p:nvSpPr>
          <p:cNvPr id="24" name="TextBox 23"/>
          <p:cNvSpPr txBox="1"/>
          <p:nvPr/>
        </p:nvSpPr>
        <p:spPr>
          <a:xfrm>
            <a:off x="6629400" y="4023360"/>
            <a:ext cx="5029200" cy="411480"/>
          </a:xfrm>
          <a:prstGeom prst="rect">
            <a:avLst/>
          </a:prstGeom>
          <a:noFill/>
        </p:spPr>
        <p:txBody>
          <a:bodyPr wrap="square" lIns="0" tIns="0" rIns="0" bIns="0" anchor="ctr">
            <a:spAutoFit/>
          </a:bodyPr>
          <a:lstStyle/>
          <a:p>
            <a:pPr algn="l">
              <a:lnSpc>
                <a:spcPct val="108000"/>
              </a:lnSpc>
              <a:spcAft>
                <a:spcPts val="0"/>
              </a:spcAft>
            </a:pPr>
            <a:r>
              <a:rPr sz="1300" b="0">
                <a:solidFill>
                  <a:srgbClr val="1A2B3C"/>
                </a:solidFill>
                <a:latin typeface="Calibri"/>
              </a:rPr>
              <a:t>Shared tool name resolves correctly, both directions</a:t>
            </a:r>
          </a:p>
        </p:txBody>
      </p:sp>
      <p:sp>
        <p:nvSpPr>
          <p:cNvPr id="25" name="Oval 24"/>
          <p:cNvSpPr/>
          <p:nvPr/>
        </p:nvSpPr>
        <p:spPr>
          <a:xfrm>
            <a:off x="6199632" y="4498848"/>
            <a:ext cx="292608" cy="29260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100" b="1">
                <a:solidFill>
                  <a:srgbClr val="FFFFFF"/>
                </a:solidFill>
                <a:latin typeface="Arial"/>
              </a:rPr>
              <a:t>4</a:t>
            </a:r>
          </a:p>
        </p:txBody>
      </p:sp>
      <p:sp>
        <p:nvSpPr>
          <p:cNvPr id="26" name="TextBox 25"/>
          <p:cNvSpPr txBox="1"/>
          <p:nvPr/>
        </p:nvSpPr>
        <p:spPr>
          <a:xfrm>
            <a:off x="6629400" y="4480560"/>
            <a:ext cx="5029200" cy="411480"/>
          </a:xfrm>
          <a:prstGeom prst="rect">
            <a:avLst/>
          </a:prstGeom>
          <a:noFill/>
        </p:spPr>
        <p:txBody>
          <a:bodyPr wrap="square" lIns="0" tIns="0" rIns="0" bIns="0" anchor="ctr">
            <a:spAutoFit/>
          </a:bodyPr>
          <a:lstStyle/>
          <a:p>
            <a:pPr algn="l">
              <a:lnSpc>
                <a:spcPct val="108000"/>
              </a:lnSpc>
              <a:spcAft>
                <a:spcPts val="0"/>
              </a:spcAft>
            </a:pPr>
            <a:r>
              <a:rPr sz="1300" b="0">
                <a:solidFill>
                  <a:srgbClr val="1A2B3C"/>
                </a:solidFill>
                <a:latin typeface="Calibri"/>
              </a:rPr>
              <a:t>2 full legitimate runs identical to the undefended baseline</a:t>
            </a:r>
          </a:p>
        </p:txBody>
      </p:sp>
      <p:sp>
        <p:nvSpPr>
          <p:cNvPr id="27" name="TextBox 26"/>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zero_trust: {enabled: true}  --  11 regression tests guard it against drift.</a:t>
            </a:r>
          </a:p>
        </p:txBody>
      </p:sp>
      <p:sp>
        <p:nvSpPr>
          <p:cNvPr id="28" name="Rectangle 27"/>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30" name="TextBox 29"/>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The minimal UI: a thin layer over the real CLI</a:t>
            </a:r>
          </a:p>
        </p:txBody>
      </p:sp>
      <p:sp>
        <p:nvSpPr>
          <p:cNvPr id="3" name="Rectangle 2"/>
          <p:cNvSpPr/>
          <p:nvPr/>
        </p:nvSpPr>
        <p:spPr>
          <a:xfrm>
            <a:off x="457200" y="1143000"/>
            <a:ext cx="4206240" cy="470916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 name="Picture 3" descr="ui_editor_zt_crop.png"/>
          <p:cNvPicPr>
            <a:picLocks noChangeAspect="1"/>
          </p:cNvPicPr>
          <p:nvPr/>
        </p:nvPicPr>
        <p:blipFill>
          <a:blip r:embed="rId3"/>
          <a:stretch>
            <a:fillRect/>
          </a:stretch>
        </p:blipFill>
        <p:spPr>
          <a:xfrm>
            <a:off x="566928" y="1252728"/>
            <a:ext cx="3329677" cy="4526280"/>
          </a:xfrm>
          <a:prstGeom prst="rect">
            <a:avLst/>
          </a:prstGeom>
        </p:spPr>
      </p:pic>
      <p:sp>
        <p:nvSpPr>
          <p:cNvPr id="5" name="TextBox 4"/>
          <p:cNvSpPr txBox="1"/>
          <p:nvPr/>
        </p:nvSpPr>
        <p:spPr>
          <a:xfrm>
            <a:off x="4937760" y="1143000"/>
            <a:ext cx="64008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NO SEPARATE BUSINESS LOGIC</a:t>
            </a:r>
          </a:p>
        </p:txBody>
      </p:sp>
      <p:sp>
        <p:nvSpPr>
          <p:cNvPr id="6" name="Rectangle 5"/>
          <p:cNvSpPr/>
          <p:nvPr/>
        </p:nvSpPr>
        <p:spPr>
          <a:xfrm>
            <a:off x="4937760" y="1463040"/>
            <a:ext cx="6720840" cy="228600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5166360" y="1645920"/>
            <a:ext cx="6309360" cy="1920240"/>
          </a:xfrm>
          <a:prstGeom prst="rect">
            <a:avLst/>
          </a:prstGeom>
          <a:noFill/>
        </p:spPr>
        <p:txBody>
          <a:bodyPr wrap="square" lIns="0" tIns="0" rIns="0" bIns="0" anchor="t">
            <a:spAutoFit/>
          </a:bodyPr>
          <a:lstStyle/>
          <a:p>
            <a:pPr algn="l">
              <a:lnSpc>
                <a:spcPct val="108000"/>
              </a:lnSpc>
              <a:spcAft>
                <a:spcPts val="900"/>
              </a:spcAft>
            </a:pPr>
            <a:r>
              <a:rPr sz="1350" b="0">
                <a:solidFill>
                  <a:srgbClr val="1A2B3C"/>
                </a:solidFill>
                <a:latin typeface="Calibri"/>
              </a:rPr>
              <a:t>Validate / Run → the real mantis CLI subprocess.</a:t>
            </a:r>
          </a:p>
          <a:p>
            <a:pPr algn="l">
              <a:lnSpc>
                <a:spcPct val="108000"/>
              </a:lnSpc>
              <a:spcAft>
                <a:spcPts val="900"/>
              </a:spcAft>
            </a:pPr>
            <a:r>
              <a:rPr sz="1350" b="0">
                <a:solidFill>
                  <a:srgbClr val="1A2B3C"/>
                </a:solidFill>
                <a:latin typeface="Calibri"/>
              </a:rPr>
              <a:t>Schema, registries, inventory → the same live objects mantis --inventory reads.</a:t>
            </a:r>
          </a:p>
          <a:p>
            <a:pPr algn="l">
              <a:lnSpc>
                <a:spcPct val="108000"/>
              </a:lnSpc>
              <a:spcAft>
                <a:spcPts val="900"/>
              </a:spcAft>
            </a:pPr>
            <a:r>
              <a:rPr sz="1350" b="0">
                <a:solidFill>
                  <a:srgbClr val="1A2B3C"/>
                </a:solidFill>
                <a:latin typeface="Calibri"/>
              </a:rPr>
              <a:t>Trace / evaluation / hook-coverage → the same JSON files every other consumer reads.</a:t>
            </a:r>
          </a:p>
          <a:p>
            <a:pPr algn="l">
              <a:lnSpc>
                <a:spcPct val="108000"/>
              </a:lnSpc>
              <a:spcAft>
                <a:spcPts val="0"/>
              </a:spcAft>
            </a:pPr>
            <a:r>
              <a:rPr sz="1350" b="0">
                <a:solidFill>
                  <a:srgbClr val="1A2B3C"/>
                </a:solidFill>
                <a:latin typeface="Calibri"/>
              </a:rPr>
              <a:t>Campaign → two real CLI invocations chained, not UI-side aggregation.</a:t>
            </a:r>
          </a:p>
        </p:txBody>
      </p:sp>
      <p:sp>
        <p:nvSpPr>
          <p:cNvPr id="8" name="TextBox 7"/>
          <p:cNvSpPr txBox="1"/>
          <p:nvPr/>
        </p:nvSpPr>
        <p:spPr>
          <a:xfrm>
            <a:off x="4937760" y="3931920"/>
            <a:ext cx="64008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TURN IT ON</a:t>
            </a:r>
          </a:p>
        </p:txBody>
      </p:sp>
      <p:sp>
        <p:nvSpPr>
          <p:cNvPr id="9" name="Rectangle 8"/>
          <p:cNvSpPr/>
          <p:nvPr/>
        </p:nvSpPr>
        <p:spPr>
          <a:xfrm>
            <a:off x="4937760" y="4251960"/>
            <a:ext cx="6720840" cy="146304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5166360" y="4434840"/>
            <a:ext cx="6309360" cy="365760"/>
          </a:xfrm>
          <a:prstGeom prst="rect">
            <a:avLst/>
          </a:prstGeom>
          <a:noFill/>
        </p:spPr>
        <p:txBody>
          <a:bodyPr wrap="square" lIns="0" tIns="0" rIns="0" bIns="0" anchor="t">
            <a:spAutoFit/>
          </a:bodyPr>
          <a:lstStyle/>
          <a:p>
            <a:pPr algn="l">
              <a:lnSpc>
                <a:spcPct val="108000"/>
              </a:lnSpc>
              <a:spcAft>
                <a:spcPts val="0"/>
              </a:spcAft>
            </a:pPr>
            <a:r>
              <a:rPr sz="1600" b="1">
                <a:solidFill>
                  <a:srgbClr val="FA4616"/>
                </a:solidFill>
                <a:latin typeface="Courier New"/>
              </a:rPr>
              <a:t>mantis --ui</a:t>
            </a:r>
          </a:p>
        </p:txBody>
      </p:sp>
      <p:sp>
        <p:nvSpPr>
          <p:cNvPr id="11" name="TextBox 10"/>
          <p:cNvSpPr txBox="1"/>
          <p:nvPr/>
        </p:nvSpPr>
        <p:spPr>
          <a:xfrm>
            <a:off x="5166360" y="4846320"/>
            <a:ext cx="6309360" cy="274320"/>
          </a:xfrm>
          <a:prstGeom prst="rect">
            <a:avLst/>
          </a:prstGeom>
          <a:noFill/>
        </p:spPr>
        <p:txBody>
          <a:bodyPr wrap="square" lIns="0" tIns="0" rIns="0" bIns="0" anchor="t">
            <a:spAutoFit/>
          </a:bodyPr>
          <a:lstStyle/>
          <a:p>
            <a:pPr algn="l">
              <a:lnSpc>
                <a:spcPct val="108000"/>
              </a:lnSpc>
              <a:spcAft>
                <a:spcPts val="0"/>
              </a:spcAft>
            </a:pPr>
            <a:r>
              <a:rPr sz="1300" b="0">
                <a:solidFill>
                  <a:srgbClr val="FFFFFF"/>
                </a:solidFill>
                <a:latin typeface="Courier New"/>
              </a:rPr>
              <a:t>http://127.0.0.1:8765</a:t>
            </a:r>
          </a:p>
        </p:txBody>
      </p:sp>
      <p:sp>
        <p:nvSpPr>
          <p:cNvPr id="12" name="TextBox 11"/>
          <p:cNvSpPr txBox="1"/>
          <p:nvPr/>
        </p:nvSpPr>
        <p:spPr>
          <a:xfrm>
            <a:off x="5166360" y="5212080"/>
            <a:ext cx="6309360" cy="365760"/>
          </a:xfrm>
          <a:prstGeom prst="rect">
            <a:avLst/>
          </a:prstGeom>
          <a:noFill/>
        </p:spPr>
        <p:txBody>
          <a:bodyPr wrap="square" lIns="0" tIns="0" rIns="0" bIns="0" anchor="t">
            <a:spAutoFit/>
          </a:bodyPr>
          <a:lstStyle/>
          <a:p>
            <a:pPr algn="l">
              <a:lnSpc>
                <a:spcPct val="108000"/>
              </a:lnSpc>
              <a:spcAft>
                <a:spcPts val="0"/>
              </a:spcAft>
            </a:pPr>
            <a:r>
              <a:rPr sz="1250" b="0">
                <a:solidFill>
                  <a:srgbClr val="BFD0E8"/>
                </a:solidFill>
                <a:latin typeface="Calibri"/>
              </a:rPr>
              <a:t>Dedicated toggle fieldsets: Zero Trust + AML Office</a:t>
            </a:r>
          </a:p>
        </p:txBody>
      </p:sp>
      <p:sp>
        <p:nvSpPr>
          <p:cNvPr id="13" name="TextBox 12"/>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A real screenshot of the real UI -- not a mockup.</a:t>
            </a:r>
          </a:p>
        </p:txBody>
      </p:sp>
      <p:sp>
        <p:nvSpPr>
          <p:cNvPr id="14" name="Rectangle 13"/>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16" name="TextBox 15"/>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AML office: four real detectors, ported from Citi_P3</a:t>
            </a:r>
          </a:p>
        </p:txBody>
      </p:sp>
      <p:sp>
        <p:nvSpPr>
          <p:cNvPr id="3" name="TextBox 2"/>
          <p:cNvSpPr txBox="1"/>
          <p:nvPr/>
        </p:nvSpPr>
        <p:spPr>
          <a:xfrm>
            <a:off x="502920" y="1005840"/>
            <a:ext cx="91440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PORTED, NOT REINVENTED</a:t>
            </a:r>
          </a:p>
        </p:txBody>
      </p:sp>
      <p:sp>
        <p:nvSpPr>
          <p:cNvPr id="4" name="Rectangle 3"/>
          <p:cNvSpPr/>
          <p:nvPr/>
        </p:nvSpPr>
        <p:spPr>
          <a:xfrm>
            <a:off x="502920" y="1371600"/>
            <a:ext cx="5394960" cy="13258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Oval 4"/>
          <p:cNvSpPr/>
          <p:nvPr/>
        </p:nvSpPr>
        <p:spPr>
          <a:xfrm>
            <a:off x="685800" y="1554480"/>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1</a:t>
            </a:r>
          </a:p>
        </p:txBody>
      </p:sp>
      <p:sp>
        <p:nvSpPr>
          <p:cNvPr id="6" name="TextBox 5"/>
          <p:cNvSpPr txBox="1"/>
          <p:nvPr/>
        </p:nvSpPr>
        <p:spPr>
          <a:xfrm>
            <a:off x="1216152" y="1527048"/>
            <a:ext cx="4480560" cy="411480"/>
          </a:xfrm>
          <a:prstGeom prst="rect">
            <a:avLst/>
          </a:prstGeom>
          <a:noFill/>
        </p:spPr>
        <p:txBody>
          <a:bodyPr wrap="square" lIns="0" tIns="0" rIns="0" bIns="0" anchor="t">
            <a:spAutoFit/>
          </a:bodyPr>
          <a:lstStyle/>
          <a:p>
            <a:pPr algn="l">
              <a:lnSpc>
                <a:spcPct val="108000"/>
              </a:lnSpc>
              <a:spcAft>
                <a:spcPts val="0"/>
              </a:spcAft>
            </a:pPr>
            <a:r>
              <a:rPr sz="1450" b="1">
                <a:solidFill>
                  <a:srgbClr val="FA4616"/>
                </a:solidFill>
                <a:latin typeface="Calibri"/>
              </a:rPr>
              <a:t>Structuring detection</a:t>
            </a:r>
          </a:p>
        </p:txBody>
      </p:sp>
      <p:sp>
        <p:nvSpPr>
          <p:cNvPr id="7" name="TextBox 6"/>
          <p:cNvSpPr txBox="1"/>
          <p:nvPr/>
        </p:nvSpPr>
        <p:spPr>
          <a:xfrm>
            <a:off x="1216152" y="1965960"/>
            <a:ext cx="4480560" cy="640080"/>
          </a:xfrm>
          <a:prstGeom prst="rect">
            <a:avLst/>
          </a:prstGeom>
          <a:noFill/>
        </p:spPr>
        <p:txBody>
          <a:bodyPr wrap="square" lIns="0" tIns="0" rIns="0" bIns="0" anchor="t">
            <a:spAutoFit/>
          </a:bodyPr>
          <a:lstStyle/>
          <a:p>
            <a:pPr algn="l">
              <a:lnSpc>
                <a:spcPct val="108000"/>
              </a:lnSpc>
              <a:spcAft>
                <a:spcPts val="0"/>
              </a:spcAft>
            </a:pPr>
            <a:r>
              <a:rPr sz="1200" b="0">
                <a:solidFill>
                  <a:srgbClr val="FFFFFF"/>
                </a:solidFill>
                <a:latin typeface="Calibri"/>
              </a:rPr>
              <a:t>Sliding-window cumulative deposits; default $10,000 / 7 days</a:t>
            </a:r>
          </a:p>
        </p:txBody>
      </p:sp>
      <p:sp>
        <p:nvSpPr>
          <p:cNvPr id="8" name="Rectangle 7"/>
          <p:cNvSpPr/>
          <p:nvPr/>
        </p:nvSpPr>
        <p:spPr>
          <a:xfrm>
            <a:off x="6117336" y="1371600"/>
            <a:ext cx="5394960" cy="13258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Oval 8"/>
          <p:cNvSpPr/>
          <p:nvPr/>
        </p:nvSpPr>
        <p:spPr>
          <a:xfrm>
            <a:off x="6300216" y="1554480"/>
            <a:ext cx="384048" cy="38404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2</a:t>
            </a:r>
          </a:p>
        </p:txBody>
      </p:sp>
      <p:sp>
        <p:nvSpPr>
          <p:cNvPr id="10" name="TextBox 9"/>
          <p:cNvSpPr txBox="1"/>
          <p:nvPr/>
        </p:nvSpPr>
        <p:spPr>
          <a:xfrm>
            <a:off x="6830568" y="1527048"/>
            <a:ext cx="4480560" cy="41148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Threshold anomaly</a:t>
            </a:r>
          </a:p>
        </p:txBody>
      </p:sp>
      <p:sp>
        <p:nvSpPr>
          <p:cNvPr id="11" name="TextBox 10"/>
          <p:cNvSpPr txBox="1"/>
          <p:nvPr/>
        </p:nvSpPr>
        <p:spPr>
          <a:xfrm>
            <a:off x="6830568" y="1965960"/>
            <a:ext cx="4480560" cy="640080"/>
          </a:xfrm>
          <a:prstGeom prst="rect">
            <a:avLst/>
          </a:prstGeom>
          <a:noFill/>
        </p:spPr>
        <p:txBody>
          <a:bodyPr wrap="square" lIns="0" tIns="0" rIns="0" bIns="0" anchor="t">
            <a:spAutoFit/>
          </a:bodyPr>
          <a:lstStyle/>
          <a:p>
            <a:pPr algn="l">
              <a:lnSpc>
                <a:spcPct val="108000"/>
              </a:lnSpc>
              <a:spcAft>
                <a:spcPts val="0"/>
              </a:spcAft>
            </a:pPr>
            <a:r>
              <a:rPr sz="1200" b="0">
                <a:solidFill>
                  <a:srgbClr val="1A2B3C"/>
                </a:solidFill>
                <a:latin typeface="Calibri"/>
              </a:rPr>
              <a:t>Flags a transaction over 5x a customer's baseline peak</a:t>
            </a:r>
          </a:p>
        </p:txBody>
      </p:sp>
      <p:sp>
        <p:nvSpPr>
          <p:cNvPr id="12" name="Rectangle 11"/>
          <p:cNvSpPr/>
          <p:nvPr/>
        </p:nvSpPr>
        <p:spPr>
          <a:xfrm>
            <a:off x="502920" y="2880360"/>
            <a:ext cx="5394960" cy="13258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Oval 12"/>
          <p:cNvSpPr/>
          <p:nvPr/>
        </p:nvSpPr>
        <p:spPr>
          <a:xfrm>
            <a:off x="685800" y="3063240"/>
            <a:ext cx="384048" cy="384048"/>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3</a:t>
            </a:r>
          </a:p>
        </p:txBody>
      </p:sp>
      <p:sp>
        <p:nvSpPr>
          <p:cNvPr id="14" name="TextBox 13"/>
          <p:cNvSpPr txBox="1"/>
          <p:nvPr/>
        </p:nvSpPr>
        <p:spPr>
          <a:xfrm>
            <a:off x="1216152" y="3035808"/>
            <a:ext cx="4480560" cy="41148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Mule-ring detection</a:t>
            </a:r>
          </a:p>
        </p:txBody>
      </p:sp>
      <p:sp>
        <p:nvSpPr>
          <p:cNvPr id="15" name="TextBox 14"/>
          <p:cNvSpPr txBox="1"/>
          <p:nvPr/>
        </p:nvSpPr>
        <p:spPr>
          <a:xfrm>
            <a:off x="1216152" y="3474720"/>
            <a:ext cx="4480560" cy="640080"/>
          </a:xfrm>
          <a:prstGeom prst="rect">
            <a:avLst/>
          </a:prstGeom>
          <a:noFill/>
        </p:spPr>
        <p:txBody>
          <a:bodyPr wrap="square" lIns="0" tIns="0" rIns="0" bIns="0" anchor="t">
            <a:spAutoFit/>
          </a:bodyPr>
          <a:lstStyle/>
          <a:p>
            <a:pPr algn="l">
              <a:lnSpc>
                <a:spcPct val="108000"/>
              </a:lnSpc>
              <a:spcAft>
                <a:spcPts val="0"/>
              </a:spcAft>
            </a:pPr>
            <a:r>
              <a:rPr sz="1200" b="0">
                <a:solidFill>
                  <a:srgbClr val="1A2B3C"/>
                </a:solidFill>
                <a:latin typeface="Calibri"/>
              </a:rPr>
              <a:t>Closed-loop graph traversal over a customer's own transaction history</a:t>
            </a:r>
          </a:p>
        </p:txBody>
      </p:sp>
      <p:sp>
        <p:nvSpPr>
          <p:cNvPr id="16" name="Rectangle 15"/>
          <p:cNvSpPr/>
          <p:nvPr/>
        </p:nvSpPr>
        <p:spPr>
          <a:xfrm>
            <a:off x="6117336" y="2880360"/>
            <a:ext cx="5394960" cy="13258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Oval 16"/>
          <p:cNvSpPr/>
          <p:nvPr/>
        </p:nvSpPr>
        <p:spPr>
          <a:xfrm>
            <a:off x="6300216" y="3063240"/>
            <a:ext cx="384048" cy="384048"/>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4</a:t>
            </a:r>
          </a:p>
        </p:txBody>
      </p:sp>
      <p:sp>
        <p:nvSpPr>
          <p:cNvPr id="18" name="TextBox 17"/>
          <p:cNvSpPr txBox="1"/>
          <p:nvPr/>
        </p:nvSpPr>
        <p:spPr>
          <a:xfrm>
            <a:off x="6830568" y="3035808"/>
            <a:ext cx="4480560" cy="411480"/>
          </a:xfrm>
          <a:prstGeom prst="rect">
            <a:avLst/>
          </a:prstGeom>
          <a:noFill/>
        </p:spPr>
        <p:txBody>
          <a:bodyPr wrap="square" lIns="0" tIns="0" rIns="0" bIns="0" anchor="t">
            <a:spAutoFit/>
          </a:bodyPr>
          <a:lstStyle/>
          <a:p>
            <a:pPr algn="l">
              <a:lnSpc>
                <a:spcPct val="108000"/>
              </a:lnSpc>
              <a:spcAft>
                <a:spcPts val="0"/>
              </a:spcAft>
            </a:pPr>
            <a:r>
              <a:rPr sz="1450" b="1">
                <a:solidFill>
                  <a:srgbClr val="FA4616"/>
                </a:solidFill>
                <a:latin typeface="Calibri"/>
              </a:rPr>
              <a:t>Identity verification</a:t>
            </a:r>
          </a:p>
        </p:txBody>
      </p:sp>
      <p:sp>
        <p:nvSpPr>
          <p:cNvPr id="19" name="TextBox 18"/>
          <p:cNvSpPr txBox="1"/>
          <p:nvPr/>
        </p:nvSpPr>
        <p:spPr>
          <a:xfrm>
            <a:off x="6830568" y="3474720"/>
            <a:ext cx="4480560" cy="640080"/>
          </a:xfrm>
          <a:prstGeom prst="rect">
            <a:avLst/>
          </a:prstGeom>
          <a:noFill/>
        </p:spPr>
        <p:txBody>
          <a:bodyPr wrap="square" lIns="0" tIns="0" rIns="0" bIns="0" anchor="t">
            <a:spAutoFit/>
          </a:bodyPr>
          <a:lstStyle/>
          <a:p>
            <a:pPr algn="l">
              <a:lnSpc>
                <a:spcPct val="108000"/>
              </a:lnSpc>
              <a:spcAft>
                <a:spcPts val="0"/>
              </a:spcAft>
            </a:pPr>
            <a:r>
              <a:rPr sz="1200" b="0">
                <a:solidFill>
                  <a:srgbClr val="FFFFFF"/>
                </a:solidFill>
                <a:latin typeface="Calibri"/>
              </a:rPr>
              <a:t>Levenshtein name + DOB + ID number, weighted 0.30 / 0.30 / 0.40</a:t>
            </a:r>
          </a:p>
        </p:txBody>
      </p:sp>
      <p:sp>
        <p:nvSpPr>
          <p:cNvPr id="20" name="Rectangle 19"/>
          <p:cNvSpPr/>
          <p:nvPr/>
        </p:nvSpPr>
        <p:spPr>
          <a:xfrm>
            <a:off x="502920" y="4572000"/>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502920" y="4736592"/>
            <a:ext cx="54864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TURN IT ON</a:t>
            </a:r>
          </a:p>
        </p:txBody>
      </p:sp>
      <p:sp>
        <p:nvSpPr>
          <p:cNvPr id="22" name="TextBox 21"/>
          <p:cNvSpPr txBox="1"/>
          <p:nvPr/>
        </p:nvSpPr>
        <p:spPr>
          <a:xfrm>
            <a:off x="502920" y="5074920"/>
            <a:ext cx="5120640" cy="685800"/>
          </a:xfrm>
          <a:prstGeom prst="rect">
            <a:avLst/>
          </a:prstGeom>
          <a:noFill/>
        </p:spPr>
        <p:txBody>
          <a:bodyPr wrap="square" lIns="0" tIns="0" rIns="0" bIns="0" anchor="t">
            <a:spAutoFit/>
          </a:bodyPr>
          <a:lstStyle/>
          <a:p>
            <a:pPr algn="l">
              <a:lnSpc>
                <a:spcPct val="108000"/>
              </a:lnSpc>
              <a:spcAft>
                <a:spcPts val="0"/>
              </a:spcAft>
            </a:pPr>
            <a:r>
              <a:rPr sz="1400" b="0">
                <a:solidFill>
                  <a:srgbClr val="0021A5"/>
                </a:solidFill>
                <a:latin typeface="Courier New"/>
              </a:rPr>
              <a:t>aml_office:
  enabled: true</a:t>
            </a:r>
          </a:p>
        </p:txBody>
      </p:sp>
      <p:sp>
        <p:nvSpPr>
          <p:cNvPr id="23" name="TextBox 22"/>
          <p:cNvSpPr txBox="1"/>
          <p:nvPr/>
        </p:nvSpPr>
        <p:spPr>
          <a:xfrm>
            <a:off x="6035040" y="4937760"/>
            <a:ext cx="5394960" cy="777240"/>
          </a:xfrm>
          <a:prstGeom prst="rect">
            <a:avLst/>
          </a:prstGeom>
          <a:noFill/>
        </p:spPr>
        <p:txBody>
          <a:bodyPr wrap="square" lIns="0" tIns="0" rIns="0" bIns="0" anchor="t">
            <a:spAutoFit/>
          </a:bodyPr>
          <a:lstStyle/>
          <a:p>
            <a:pPr algn="l">
              <a:lnSpc>
                <a:spcPct val="108000"/>
              </a:lnSpc>
              <a:spcAft>
                <a:spcPts val="0"/>
              </a:spcAft>
            </a:pPr>
            <a:r>
              <a:rPr sz="1250" b="0">
                <a:solidFill>
                  <a:srgbClr val="6B7A8F"/>
                </a:solidFill>
                <a:latin typeface="Calibri"/>
              </a:rPr>
              <a:t>Off by default — every existing config's root agent is byte-identical to before this domain existed.</a:t>
            </a:r>
          </a:p>
        </p:txBody>
      </p:sp>
      <p:sp>
        <p:nvSpPr>
          <p:cNvPr id="24" name="TextBox 23"/>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Four real detectors, one toggle -- the identical discipline as Zero Trust.</a:t>
            </a:r>
          </a:p>
        </p:txBody>
      </p:sp>
      <p:sp>
        <p:nvSpPr>
          <p:cNvPr id="25" name="Rectangle 24"/>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27" name="TextBox 26"/>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Live verification found 2 real bugs</a:t>
            </a:r>
          </a:p>
        </p:txBody>
      </p:sp>
      <p:sp>
        <p:nvSpPr>
          <p:cNvPr id="3" name="TextBox 2"/>
          <p:cNvSpPr txBox="1"/>
          <p:nvPr/>
        </p:nvSpPr>
        <p:spPr>
          <a:xfrm>
            <a:off x="502920" y="1005840"/>
            <a:ext cx="91440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...BEFORE WE CALLED THE AML OFFICE “DONE”</a:t>
            </a:r>
          </a:p>
        </p:txBody>
      </p:sp>
      <p:sp>
        <p:nvSpPr>
          <p:cNvPr id="4" name="Rectangle 3"/>
          <p:cNvSpPr/>
          <p:nvPr/>
        </p:nvSpPr>
        <p:spPr>
          <a:xfrm>
            <a:off x="502920" y="1371600"/>
            <a:ext cx="5440680" cy="443484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31520" y="1536192"/>
            <a:ext cx="4983480" cy="457200"/>
          </a:xfrm>
          <a:prstGeom prst="rect">
            <a:avLst/>
          </a:prstGeom>
          <a:noFill/>
        </p:spPr>
        <p:txBody>
          <a:bodyPr wrap="square" lIns="0" tIns="0" rIns="0" bIns="0" anchor="t">
            <a:spAutoFit/>
          </a:bodyPr>
          <a:lstStyle/>
          <a:p>
            <a:pPr algn="l">
              <a:lnSpc>
                <a:spcPct val="108000"/>
              </a:lnSpc>
              <a:spcAft>
                <a:spcPts val="0"/>
              </a:spcAft>
            </a:pPr>
            <a:r>
              <a:rPr sz="1600" b="1">
                <a:solidFill>
                  <a:srgbClr val="FA4616"/>
                </a:solidFill>
                <a:latin typeface="Calibri"/>
              </a:rPr>
              <a:t>BUG 1 — Routing gap</a:t>
            </a:r>
          </a:p>
        </p:txBody>
      </p:sp>
      <p:sp>
        <p:nvSpPr>
          <p:cNvPr id="6" name="Rectangle 5"/>
          <p:cNvSpPr/>
          <p:nvPr/>
        </p:nvSpPr>
        <p:spPr>
          <a:xfrm>
            <a:off x="731520" y="2057400"/>
            <a:ext cx="4983480" cy="10972"/>
          </a:xfrm>
          <a:prstGeom prst="rect">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731520" y="2212848"/>
            <a:ext cx="4572000" cy="274320"/>
          </a:xfrm>
          <a:prstGeom prst="rect">
            <a:avLst/>
          </a:prstGeom>
          <a:noFill/>
        </p:spPr>
        <p:txBody>
          <a:bodyPr wrap="square" lIns="0" tIns="0" rIns="0" bIns="0" anchor="t">
            <a:spAutoFit/>
          </a:bodyPr>
          <a:lstStyle/>
          <a:p>
            <a:pPr algn="l">
              <a:lnSpc>
                <a:spcPct val="108000"/>
              </a:lnSpc>
              <a:spcAft>
                <a:spcPts val="0"/>
              </a:spcAft>
            </a:pPr>
            <a:r>
              <a:rPr sz="1150" b="1">
                <a:solidFill>
                  <a:srgbClr val="0021A5"/>
                </a:solidFill>
                <a:latin typeface="Calibri"/>
              </a:rPr>
              <a:t>WHAT HAPPENED</a:t>
            </a:r>
          </a:p>
        </p:txBody>
      </p:sp>
      <p:sp>
        <p:nvSpPr>
          <p:cNvPr id="8" name="TextBox 7"/>
          <p:cNvSpPr txBox="1"/>
          <p:nvPr/>
        </p:nvSpPr>
        <p:spPr>
          <a:xfrm>
            <a:off x="731520" y="2542032"/>
            <a:ext cx="4983480" cy="1234440"/>
          </a:xfrm>
          <a:prstGeom prst="rect">
            <a:avLst/>
          </a:prstGeom>
          <a:noFill/>
        </p:spPr>
        <p:txBody>
          <a:bodyPr wrap="square" lIns="0" tIns="0" rIns="0" bIns="0" anchor="t">
            <a:spAutoFit/>
          </a:bodyPr>
          <a:lstStyle/>
          <a:p>
            <a:pPr algn="l">
              <a:lnSpc>
                <a:spcPct val="108000"/>
              </a:lnSpc>
              <a:spcAft>
                <a:spcPts val="0"/>
              </a:spcAft>
            </a:pPr>
            <a:r>
              <a:rPr sz="1350" b="0">
                <a:solidFill>
                  <a:srgbClr val="1A2B3C"/>
                </a:solidFill>
                <a:latin typeface="Calibri"/>
              </a:rPr>
              <a:t>Identity verification was misrouted to the front office -- the root agent's instruction never named it as an AML task.</a:t>
            </a:r>
          </a:p>
        </p:txBody>
      </p:sp>
      <p:sp>
        <p:nvSpPr>
          <p:cNvPr id="9" name="TextBox 8"/>
          <p:cNvSpPr txBox="1"/>
          <p:nvPr/>
        </p:nvSpPr>
        <p:spPr>
          <a:xfrm>
            <a:off x="731520" y="3840480"/>
            <a:ext cx="4572000" cy="274320"/>
          </a:xfrm>
          <a:prstGeom prst="rect">
            <a:avLst/>
          </a:prstGeom>
          <a:noFill/>
        </p:spPr>
        <p:txBody>
          <a:bodyPr wrap="square" lIns="0" tIns="0" rIns="0" bIns="0" anchor="t">
            <a:spAutoFit/>
          </a:bodyPr>
          <a:lstStyle/>
          <a:p>
            <a:pPr algn="l">
              <a:lnSpc>
                <a:spcPct val="108000"/>
              </a:lnSpc>
              <a:spcAft>
                <a:spcPts val="0"/>
              </a:spcAft>
            </a:pPr>
            <a:r>
              <a:rPr sz="1150" b="1">
                <a:solidFill>
                  <a:srgbClr val="0021A5"/>
                </a:solidFill>
                <a:latin typeface="Calibri"/>
              </a:rPr>
              <a:t>FIX</a:t>
            </a:r>
          </a:p>
        </p:txBody>
      </p:sp>
      <p:sp>
        <p:nvSpPr>
          <p:cNvPr id="10" name="TextBox 9"/>
          <p:cNvSpPr txBox="1"/>
          <p:nvPr/>
        </p:nvSpPr>
        <p:spPr>
          <a:xfrm>
            <a:off x="731520" y="4169663"/>
            <a:ext cx="4983480" cy="1463040"/>
          </a:xfrm>
          <a:prstGeom prst="rect">
            <a:avLst/>
          </a:prstGeom>
          <a:noFill/>
        </p:spPr>
        <p:txBody>
          <a:bodyPr wrap="square" lIns="0" tIns="0" rIns="0" bIns="0" anchor="t">
            <a:spAutoFit/>
          </a:bodyPr>
          <a:lstStyle/>
          <a:p>
            <a:pPr algn="l">
              <a:lnSpc>
                <a:spcPct val="108000"/>
              </a:lnSpc>
              <a:spcAft>
                <a:spcPts val="0"/>
              </a:spcAft>
            </a:pPr>
            <a:r>
              <a:rPr sz="1350" b="0">
                <a:solidFill>
                  <a:srgbClr val="1A2B3C"/>
                </a:solidFill>
                <a:latin typeface="Calibri"/>
              </a:rPr>
              <a:t>Wording, not logic: both the root agent's and the AML router's instructions now name identity verification and alert triage explicitly.</a:t>
            </a:r>
          </a:p>
        </p:txBody>
      </p:sp>
      <p:sp>
        <p:nvSpPr>
          <p:cNvPr id="11" name="Rectangle 10"/>
          <p:cNvSpPr/>
          <p:nvPr/>
        </p:nvSpPr>
        <p:spPr>
          <a:xfrm>
            <a:off x="6144768" y="1371600"/>
            <a:ext cx="5440680" cy="443484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6373368" y="1536192"/>
            <a:ext cx="4983480" cy="457200"/>
          </a:xfrm>
          <a:prstGeom prst="rect">
            <a:avLst/>
          </a:prstGeom>
          <a:noFill/>
        </p:spPr>
        <p:txBody>
          <a:bodyPr wrap="square" lIns="0" tIns="0" rIns="0" bIns="0" anchor="t">
            <a:spAutoFit/>
          </a:bodyPr>
          <a:lstStyle/>
          <a:p>
            <a:pPr algn="l">
              <a:lnSpc>
                <a:spcPct val="108000"/>
              </a:lnSpc>
              <a:spcAft>
                <a:spcPts val="0"/>
              </a:spcAft>
            </a:pPr>
            <a:r>
              <a:rPr sz="1600" b="1">
                <a:solidFill>
                  <a:srgbClr val="FA4616"/>
                </a:solidFill>
                <a:latin typeface="Calibri"/>
              </a:rPr>
              <a:t>BUG 2 — Unreachable capability</a:t>
            </a:r>
          </a:p>
        </p:txBody>
      </p:sp>
      <p:sp>
        <p:nvSpPr>
          <p:cNvPr id="13" name="Rectangle 12"/>
          <p:cNvSpPr/>
          <p:nvPr/>
        </p:nvSpPr>
        <p:spPr>
          <a:xfrm>
            <a:off x="6373368" y="2057400"/>
            <a:ext cx="4983480" cy="10972"/>
          </a:xfrm>
          <a:prstGeom prst="rect">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6373368" y="2212848"/>
            <a:ext cx="4572000" cy="274320"/>
          </a:xfrm>
          <a:prstGeom prst="rect">
            <a:avLst/>
          </a:prstGeom>
          <a:noFill/>
        </p:spPr>
        <p:txBody>
          <a:bodyPr wrap="square" lIns="0" tIns="0" rIns="0" bIns="0" anchor="t">
            <a:spAutoFit/>
          </a:bodyPr>
          <a:lstStyle/>
          <a:p>
            <a:pPr algn="l">
              <a:lnSpc>
                <a:spcPct val="108000"/>
              </a:lnSpc>
              <a:spcAft>
                <a:spcPts val="0"/>
              </a:spcAft>
            </a:pPr>
            <a:r>
              <a:rPr sz="1150" b="1">
                <a:solidFill>
                  <a:srgbClr val="0021A5"/>
                </a:solidFill>
                <a:latin typeface="Calibri"/>
              </a:rPr>
              <a:t>WHAT HAPPENED</a:t>
            </a:r>
          </a:p>
        </p:txBody>
      </p:sp>
      <p:sp>
        <p:nvSpPr>
          <p:cNvPr id="15" name="TextBox 14"/>
          <p:cNvSpPr txBox="1"/>
          <p:nvPr/>
        </p:nvSpPr>
        <p:spPr>
          <a:xfrm>
            <a:off x="6373368" y="2542032"/>
            <a:ext cx="4983480" cy="1234440"/>
          </a:xfrm>
          <a:prstGeom prst="rect">
            <a:avLst/>
          </a:prstGeom>
          <a:noFill/>
        </p:spPr>
        <p:txBody>
          <a:bodyPr wrap="square" lIns="0" tIns="0" rIns="0" bIns="0" anchor="t">
            <a:spAutoFit/>
          </a:bodyPr>
          <a:lstStyle/>
          <a:p>
            <a:pPr algn="l">
              <a:lnSpc>
                <a:spcPct val="108000"/>
              </a:lnSpc>
              <a:spcAft>
                <a:spcPts val="0"/>
              </a:spcAft>
            </a:pPr>
            <a:r>
              <a:rPr sz="1350" b="0">
                <a:solidFill>
                  <a:srgbClr val="1A2B3C"/>
                </a:solidFill>
                <a:latin typeface="Calibri"/>
              </a:rPr>
              <a:t>Alert-triage was implemented and unit-tested, but no agent in the built tree had it on its toolset.</a:t>
            </a:r>
          </a:p>
        </p:txBody>
      </p:sp>
      <p:sp>
        <p:nvSpPr>
          <p:cNvPr id="16" name="TextBox 15"/>
          <p:cNvSpPr txBox="1"/>
          <p:nvPr/>
        </p:nvSpPr>
        <p:spPr>
          <a:xfrm>
            <a:off x="6373368" y="3840480"/>
            <a:ext cx="4572000" cy="274320"/>
          </a:xfrm>
          <a:prstGeom prst="rect">
            <a:avLst/>
          </a:prstGeom>
          <a:noFill/>
        </p:spPr>
        <p:txBody>
          <a:bodyPr wrap="square" lIns="0" tIns="0" rIns="0" bIns="0" anchor="t">
            <a:spAutoFit/>
          </a:bodyPr>
          <a:lstStyle/>
          <a:p>
            <a:pPr algn="l">
              <a:lnSpc>
                <a:spcPct val="108000"/>
              </a:lnSpc>
              <a:spcAft>
                <a:spcPts val="0"/>
              </a:spcAft>
            </a:pPr>
            <a:r>
              <a:rPr sz="1150" b="1">
                <a:solidFill>
                  <a:srgbClr val="0021A5"/>
                </a:solidFill>
                <a:latin typeface="Calibri"/>
              </a:rPr>
              <a:t>FIX</a:t>
            </a:r>
          </a:p>
        </p:txBody>
      </p:sp>
      <p:sp>
        <p:nvSpPr>
          <p:cNvPr id="17" name="TextBox 16"/>
          <p:cNvSpPr txBox="1"/>
          <p:nvPr/>
        </p:nvSpPr>
        <p:spPr>
          <a:xfrm>
            <a:off x="6373368" y="4169663"/>
            <a:ext cx="4983480" cy="1463040"/>
          </a:xfrm>
          <a:prstGeom prst="rect">
            <a:avLst/>
          </a:prstGeom>
          <a:noFill/>
        </p:spPr>
        <p:txBody>
          <a:bodyPr wrap="square" lIns="0" tIns="0" rIns="0" bIns="0" anchor="t">
            <a:spAutoFit/>
          </a:bodyPr>
          <a:lstStyle/>
          <a:p>
            <a:pPr algn="l">
              <a:lnSpc>
                <a:spcPct val="108000"/>
              </a:lnSpc>
              <a:spcAft>
                <a:spcPts val="0"/>
              </a:spcAft>
            </a:pPr>
            <a:r>
              <a:rPr sz="1350" b="0">
                <a:solidFill>
                  <a:srgbClr val="1A2B3C"/>
                </a:solidFill>
                <a:latin typeface="Calibri"/>
              </a:rPr>
              <a:t>Wired the three alert-lifecycle tools onto the investigator agent. Re-verified: a real database status transition, confirmed by reading it back.</a:t>
            </a:r>
          </a:p>
        </p:txBody>
      </p:sp>
      <p:sp>
        <p:nvSpPr>
          <p:cNvPr id="18" name="TextBox 17"/>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Neither bug was caught by the unit suite -- both are properties of the live agent tree.</a:t>
            </a:r>
          </a:p>
        </p:txBody>
      </p:sp>
      <p:sp>
        <p:nvSpPr>
          <p:cNvPr id="19" name="Rectangle 18"/>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21" name="TextBox 20"/>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320040"/>
            <a:ext cx="10789920" cy="594360"/>
          </a:xfrm>
          <a:prstGeom prst="rect">
            <a:avLst/>
          </a:prstGeom>
          <a:noFill/>
        </p:spPr>
        <p:txBody>
          <a:bodyPr wrap="square" lIns="0" tIns="0" rIns="0" bIns="0" anchor="t">
            <a:spAutoFit/>
          </a:bodyPr>
          <a:lstStyle/>
          <a:p>
            <a:pPr algn="l">
              <a:lnSpc>
                <a:spcPct val="108000"/>
              </a:lnSpc>
              <a:spcAft>
                <a:spcPts val="0"/>
              </a:spcAft>
            </a:pPr>
            <a:r>
              <a:rPr sz="2700" b="1">
                <a:solidFill>
                  <a:srgbClr val="0021A5"/>
                </a:solidFill>
                <a:latin typeface="Calibri"/>
              </a:rPr>
              <a:t>Where things stand</a:t>
            </a:r>
          </a:p>
        </p:txBody>
      </p:sp>
      <p:sp>
        <p:nvSpPr>
          <p:cNvPr id="3" name="TextBox 2"/>
          <p:cNvSpPr txBox="1"/>
          <p:nvPr/>
        </p:nvSpPr>
        <p:spPr>
          <a:xfrm>
            <a:off x="502920" y="1005840"/>
            <a:ext cx="91440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BY THE NUMBERS</a:t>
            </a:r>
          </a:p>
        </p:txBody>
      </p:sp>
      <p:sp>
        <p:nvSpPr>
          <p:cNvPr id="4" name="TextBox 3"/>
          <p:cNvSpPr txBox="1"/>
          <p:nvPr/>
        </p:nvSpPr>
        <p:spPr>
          <a:xfrm>
            <a:off x="502920" y="1417320"/>
            <a:ext cx="2606040" cy="822960"/>
          </a:xfrm>
          <a:prstGeom prst="rect">
            <a:avLst/>
          </a:prstGeom>
          <a:noFill/>
        </p:spPr>
        <p:txBody>
          <a:bodyPr wrap="square" lIns="0" tIns="0" rIns="0" bIns="0" anchor="t">
            <a:spAutoFit/>
          </a:bodyPr>
          <a:lstStyle/>
          <a:p>
            <a:pPr algn="l">
              <a:lnSpc>
                <a:spcPct val="108000"/>
              </a:lnSpc>
              <a:spcAft>
                <a:spcPts val="0"/>
              </a:spcAft>
            </a:pPr>
            <a:r>
              <a:rPr sz="4200" b="1">
                <a:solidFill>
                  <a:srgbClr val="0021A5"/>
                </a:solidFill>
                <a:latin typeface="Calibri"/>
              </a:rPr>
              <a:t>853</a:t>
            </a:r>
          </a:p>
        </p:txBody>
      </p:sp>
      <p:sp>
        <p:nvSpPr>
          <p:cNvPr id="5" name="TextBox 4"/>
          <p:cNvSpPr txBox="1"/>
          <p:nvPr/>
        </p:nvSpPr>
        <p:spPr>
          <a:xfrm>
            <a:off x="502920" y="2194560"/>
            <a:ext cx="2606040" cy="640080"/>
          </a:xfrm>
          <a:prstGeom prst="rect">
            <a:avLst/>
          </a:prstGeom>
          <a:noFill/>
        </p:spPr>
        <p:txBody>
          <a:bodyPr wrap="square" lIns="0" tIns="0" rIns="0" bIns="0" anchor="t">
            <a:spAutoFit/>
          </a:bodyPr>
          <a:lstStyle/>
          <a:p>
            <a:pPr algn="l">
              <a:lnSpc>
                <a:spcPct val="108000"/>
              </a:lnSpc>
              <a:spcAft>
                <a:spcPts val="0"/>
              </a:spcAft>
            </a:pPr>
            <a:r>
              <a:rPr sz="1250" b="0">
                <a:solidFill>
                  <a:srgbClr val="6B7A8F"/>
                </a:solidFill>
                <a:latin typeface="Calibri"/>
              </a:rPr>
              <a:t>tests passing offline</a:t>
            </a:r>
          </a:p>
        </p:txBody>
      </p:sp>
      <p:sp>
        <p:nvSpPr>
          <p:cNvPr id="6" name="TextBox 5"/>
          <p:cNvSpPr txBox="1"/>
          <p:nvPr/>
        </p:nvSpPr>
        <p:spPr>
          <a:xfrm>
            <a:off x="3319272" y="1417320"/>
            <a:ext cx="2606040" cy="822960"/>
          </a:xfrm>
          <a:prstGeom prst="rect">
            <a:avLst/>
          </a:prstGeom>
          <a:noFill/>
        </p:spPr>
        <p:txBody>
          <a:bodyPr wrap="square" lIns="0" tIns="0" rIns="0" bIns="0" anchor="t">
            <a:spAutoFit/>
          </a:bodyPr>
          <a:lstStyle/>
          <a:p>
            <a:pPr algn="l">
              <a:lnSpc>
                <a:spcPct val="108000"/>
              </a:lnSpc>
              <a:spcAft>
                <a:spcPts val="0"/>
              </a:spcAft>
            </a:pPr>
            <a:r>
              <a:rPr sz="4200" b="1">
                <a:solidFill>
                  <a:srgbClr val="0021A5"/>
                </a:solidFill>
                <a:latin typeface="Calibri"/>
              </a:rPr>
              <a:t>880</a:t>
            </a:r>
          </a:p>
        </p:txBody>
      </p:sp>
      <p:sp>
        <p:nvSpPr>
          <p:cNvPr id="7" name="TextBox 6"/>
          <p:cNvSpPr txBox="1"/>
          <p:nvPr/>
        </p:nvSpPr>
        <p:spPr>
          <a:xfrm>
            <a:off x="3319272" y="2194560"/>
            <a:ext cx="2606040" cy="640080"/>
          </a:xfrm>
          <a:prstGeom prst="rect">
            <a:avLst/>
          </a:prstGeom>
          <a:noFill/>
        </p:spPr>
        <p:txBody>
          <a:bodyPr wrap="square" lIns="0" tIns="0" rIns="0" bIns="0" anchor="t">
            <a:spAutoFit/>
          </a:bodyPr>
          <a:lstStyle/>
          <a:p>
            <a:pPr algn="l">
              <a:lnSpc>
                <a:spcPct val="108000"/>
              </a:lnSpc>
              <a:spcAft>
                <a:spcPts val="0"/>
              </a:spcAft>
            </a:pPr>
            <a:r>
              <a:rPr sz="1250" b="0">
                <a:solidFill>
                  <a:srgbClr val="6B7A8F"/>
                </a:solidFill>
                <a:latin typeface="Calibri"/>
              </a:rPr>
              <a:t>with both toggles' deps installed</a:t>
            </a:r>
          </a:p>
        </p:txBody>
      </p:sp>
      <p:sp>
        <p:nvSpPr>
          <p:cNvPr id="8" name="TextBox 7"/>
          <p:cNvSpPr txBox="1"/>
          <p:nvPr/>
        </p:nvSpPr>
        <p:spPr>
          <a:xfrm>
            <a:off x="6135624" y="1417320"/>
            <a:ext cx="2606040" cy="822960"/>
          </a:xfrm>
          <a:prstGeom prst="rect">
            <a:avLst/>
          </a:prstGeom>
          <a:noFill/>
        </p:spPr>
        <p:txBody>
          <a:bodyPr wrap="square" lIns="0" tIns="0" rIns="0" bIns="0" anchor="t">
            <a:spAutoFit/>
          </a:bodyPr>
          <a:lstStyle/>
          <a:p>
            <a:pPr algn="l">
              <a:lnSpc>
                <a:spcPct val="108000"/>
              </a:lnSpc>
              <a:spcAft>
                <a:spcPts val="0"/>
              </a:spcAft>
            </a:pPr>
            <a:r>
              <a:rPr sz="4200" b="1">
                <a:solidFill>
                  <a:srgbClr val="0021A5"/>
                </a:solidFill>
                <a:latin typeface="Calibri"/>
              </a:rPr>
              <a:t>0</a:t>
            </a:r>
          </a:p>
        </p:txBody>
      </p:sp>
      <p:sp>
        <p:nvSpPr>
          <p:cNvPr id="9" name="TextBox 8"/>
          <p:cNvSpPr txBox="1"/>
          <p:nvPr/>
        </p:nvSpPr>
        <p:spPr>
          <a:xfrm>
            <a:off x="6135624" y="2194560"/>
            <a:ext cx="2606040" cy="640080"/>
          </a:xfrm>
          <a:prstGeom prst="rect">
            <a:avLst/>
          </a:prstGeom>
          <a:noFill/>
        </p:spPr>
        <p:txBody>
          <a:bodyPr wrap="square" lIns="0" tIns="0" rIns="0" bIns="0" anchor="t">
            <a:spAutoFit/>
          </a:bodyPr>
          <a:lstStyle/>
          <a:p>
            <a:pPr algn="l">
              <a:lnSpc>
                <a:spcPct val="108000"/>
              </a:lnSpc>
              <a:spcAft>
                <a:spcPts val="0"/>
              </a:spcAft>
            </a:pPr>
            <a:r>
              <a:rPr sz="1250" b="0">
                <a:solidFill>
                  <a:srgbClr val="6B7A8F"/>
                </a:solidFill>
                <a:latin typeface="Calibri"/>
              </a:rPr>
              <a:t>failures, either way</a:t>
            </a:r>
          </a:p>
        </p:txBody>
      </p:sp>
      <p:sp>
        <p:nvSpPr>
          <p:cNvPr id="10" name="TextBox 9"/>
          <p:cNvSpPr txBox="1"/>
          <p:nvPr/>
        </p:nvSpPr>
        <p:spPr>
          <a:xfrm>
            <a:off x="8951976" y="1417320"/>
            <a:ext cx="2606040" cy="822960"/>
          </a:xfrm>
          <a:prstGeom prst="rect">
            <a:avLst/>
          </a:prstGeom>
          <a:noFill/>
        </p:spPr>
        <p:txBody>
          <a:bodyPr wrap="square" lIns="0" tIns="0" rIns="0" bIns="0" anchor="t">
            <a:spAutoFit/>
          </a:bodyPr>
          <a:lstStyle/>
          <a:p>
            <a:pPr algn="l">
              <a:lnSpc>
                <a:spcPct val="108000"/>
              </a:lnSpc>
              <a:spcAft>
                <a:spcPts val="0"/>
              </a:spcAft>
            </a:pPr>
            <a:r>
              <a:rPr sz="4200" b="1">
                <a:solidFill>
                  <a:srgbClr val="0021A5"/>
                </a:solidFill>
                <a:latin typeface="Calibri"/>
              </a:rPr>
              <a:t>2</a:t>
            </a:r>
          </a:p>
        </p:txBody>
      </p:sp>
      <p:sp>
        <p:nvSpPr>
          <p:cNvPr id="11" name="TextBox 10"/>
          <p:cNvSpPr txBox="1"/>
          <p:nvPr/>
        </p:nvSpPr>
        <p:spPr>
          <a:xfrm>
            <a:off x="8951976" y="2194560"/>
            <a:ext cx="2606040" cy="640080"/>
          </a:xfrm>
          <a:prstGeom prst="rect">
            <a:avLst/>
          </a:prstGeom>
          <a:noFill/>
        </p:spPr>
        <p:txBody>
          <a:bodyPr wrap="square" lIns="0" tIns="0" rIns="0" bIns="0" anchor="t">
            <a:spAutoFit/>
          </a:bodyPr>
          <a:lstStyle/>
          <a:p>
            <a:pPr algn="l">
              <a:lnSpc>
                <a:spcPct val="108000"/>
              </a:lnSpc>
              <a:spcAft>
                <a:spcPts val="0"/>
              </a:spcAft>
            </a:pPr>
            <a:r>
              <a:rPr sz="1250" b="0">
                <a:solidFill>
                  <a:srgbClr val="6B7A8F"/>
                </a:solidFill>
                <a:latin typeface="Calibri"/>
              </a:rPr>
              <a:t>new toggles, zero impact when off</a:t>
            </a:r>
          </a:p>
        </p:txBody>
      </p:sp>
      <p:sp>
        <p:nvSpPr>
          <p:cNvPr id="12" name="Rectangle 11"/>
          <p:cNvSpPr/>
          <p:nvPr/>
        </p:nvSpPr>
        <p:spPr>
          <a:xfrm>
            <a:off x="502920" y="2971800"/>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02920" y="3154680"/>
            <a:ext cx="9144000" cy="274320"/>
          </a:xfrm>
          <a:prstGeom prst="rect">
            <a:avLst/>
          </a:prstGeom>
          <a:noFill/>
        </p:spPr>
        <p:txBody>
          <a:bodyPr wrap="square" lIns="0" tIns="0" rIns="0" bIns="0" anchor="t">
            <a:spAutoFit/>
          </a:bodyPr>
          <a:lstStyle/>
          <a:p>
            <a:pPr algn="l">
              <a:lnSpc>
                <a:spcPct val="108000"/>
              </a:lnSpc>
              <a:spcAft>
                <a:spcPts val="0"/>
              </a:spcAft>
            </a:pPr>
            <a:r>
              <a:rPr sz="1150" b="1">
                <a:solidFill>
                  <a:srgbClr val="FA4616"/>
                </a:solidFill>
                <a:latin typeface="Calibri"/>
              </a:rPr>
              <a:t>THE SAME DISCIPLINE, BOTH TIMES</a:t>
            </a:r>
          </a:p>
        </p:txBody>
      </p:sp>
      <p:sp>
        <p:nvSpPr>
          <p:cNvPr id="14" name="Rectangle 13"/>
          <p:cNvSpPr/>
          <p:nvPr/>
        </p:nvSpPr>
        <p:spPr>
          <a:xfrm>
            <a:off x="502920" y="3520440"/>
            <a:ext cx="5349240" cy="8686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Oval 14"/>
          <p:cNvSpPr/>
          <p:nvPr/>
        </p:nvSpPr>
        <p:spPr>
          <a:xfrm>
            <a:off x="685800" y="3758184"/>
            <a:ext cx="365760" cy="365760"/>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1</a:t>
            </a:r>
          </a:p>
        </p:txBody>
      </p:sp>
      <p:sp>
        <p:nvSpPr>
          <p:cNvPr id="16" name="TextBox 15"/>
          <p:cNvSpPr txBox="1"/>
          <p:nvPr/>
        </p:nvSpPr>
        <p:spPr>
          <a:xfrm>
            <a:off x="1188720" y="3520440"/>
            <a:ext cx="4480560" cy="868680"/>
          </a:xfrm>
          <a:prstGeom prst="rect">
            <a:avLst/>
          </a:prstGeom>
          <a:noFill/>
        </p:spPr>
        <p:txBody>
          <a:bodyPr wrap="square" lIns="0" tIns="0" rIns="0" bIns="0" anchor="ctr">
            <a:spAutoFit/>
          </a:bodyPr>
          <a:lstStyle/>
          <a:p>
            <a:pPr algn="l">
              <a:lnSpc>
                <a:spcPct val="108000"/>
              </a:lnSpc>
              <a:spcAft>
                <a:spcPts val="0"/>
              </a:spcAft>
            </a:pPr>
            <a:r>
              <a:rPr sz="1350" b="0">
                <a:solidFill>
                  <a:srgbClr val="1A2B3C"/>
                </a:solidFill>
                <a:latin typeface="Calibri"/>
              </a:rPr>
              <a:t>Opt-in, off by default</a:t>
            </a:r>
          </a:p>
        </p:txBody>
      </p:sp>
      <p:sp>
        <p:nvSpPr>
          <p:cNvPr id="17" name="Rectangle 16"/>
          <p:cNvSpPr/>
          <p:nvPr/>
        </p:nvSpPr>
        <p:spPr>
          <a:xfrm>
            <a:off x="6108192" y="3520440"/>
            <a:ext cx="5349240" cy="86868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Oval 17"/>
          <p:cNvSpPr/>
          <p:nvPr/>
        </p:nvSpPr>
        <p:spPr>
          <a:xfrm>
            <a:off x="6291072" y="3758184"/>
            <a:ext cx="365760" cy="365760"/>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2</a:t>
            </a:r>
          </a:p>
        </p:txBody>
      </p:sp>
      <p:sp>
        <p:nvSpPr>
          <p:cNvPr id="19" name="TextBox 18"/>
          <p:cNvSpPr txBox="1"/>
          <p:nvPr/>
        </p:nvSpPr>
        <p:spPr>
          <a:xfrm>
            <a:off x="6793992" y="3520440"/>
            <a:ext cx="4480560" cy="868680"/>
          </a:xfrm>
          <a:prstGeom prst="rect">
            <a:avLst/>
          </a:prstGeom>
          <a:noFill/>
        </p:spPr>
        <p:txBody>
          <a:bodyPr wrap="square" lIns="0" tIns="0" rIns="0" bIns="0" anchor="ctr">
            <a:spAutoFit/>
          </a:bodyPr>
          <a:lstStyle/>
          <a:p>
            <a:pPr algn="l">
              <a:lnSpc>
                <a:spcPct val="108000"/>
              </a:lnSpc>
              <a:spcAft>
                <a:spcPts val="0"/>
              </a:spcAft>
            </a:pPr>
            <a:r>
              <a:rPr sz="1350" b="0">
                <a:solidFill>
                  <a:srgbClr val="1A2B3C"/>
                </a:solidFill>
                <a:latin typeface="Calibri"/>
              </a:rPr>
              <a:t>Byte-identical existing behavior when disabled</a:t>
            </a:r>
          </a:p>
        </p:txBody>
      </p:sp>
      <p:sp>
        <p:nvSpPr>
          <p:cNvPr id="20" name="Rectangle 19"/>
          <p:cNvSpPr/>
          <p:nvPr/>
        </p:nvSpPr>
        <p:spPr>
          <a:xfrm>
            <a:off x="502920" y="4572000"/>
            <a:ext cx="5349240" cy="868680"/>
          </a:xfrm>
          <a:prstGeom prst="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Oval 20"/>
          <p:cNvSpPr/>
          <p:nvPr/>
        </p:nvSpPr>
        <p:spPr>
          <a:xfrm>
            <a:off x="685800" y="4809744"/>
            <a:ext cx="365760" cy="365760"/>
          </a:xfrm>
          <a:prstGeom prst="ellipse">
            <a:avLst/>
          </a:prstGeom>
          <a:solidFill>
            <a:srgbClr val="0021A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3</a:t>
            </a:r>
          </a:p>
        </p:txBody>
      </p:sp>
      <p:sp>
        <p:nvSpPr>
          <p:cNvPr id="22" name="TextBox 21"/>
          <p:cNvSpPr txBox="1"/>
          <p:nvPr/>
        </p:nvSpPr>
        <p:spPr>
          <a:xfrm>
            <a:off x="1188720" y="4572000"/>
            <a:ext cx="4480560" cy="868680"/>
          </a:xfrm>
          <a:prstGeom prst="rect">
            <a:avLst/>
          </a:prstGeom>
          <a:noFill/>
        </p:spPr>
        <p:txBody>
          <a:bodyPr wrap="square" lIns="0" tIns="0" rIns="0" bIns="0" anchor="ctr">
            <a:spAutoFit/>
          </a:bodyPr>
          <a:lstStyle/>
          <a:p>
            <a:pPr algn="l">
              <a:lnSpc>
                <a:spcPct val="108000"/>
              </a:lnSpc>
              <a:spcAft>
                <a:spcPts val="0"/>
              </a:spcAft>
            </a:pPr>
            <a:r>
              <a:rPr sz="1350" b="0">
                <a:solidFill>
                  <a:srgbClr val="1A2B3C"/>
                </a:solidFill>
                <a:latin typeface="Calibri"/>
              </a:rPr>
              <a:t>Real external logic, not reimplemented or invented</a:t>
            </a:r>
          </a:p>
        </p:txBody>
      </p:sp>
      <p:sp>
        <p:nvSpPr>
          <p:cNvPr id="23" name="Rectangle 22"/>
          <p:cNvSpPr/>
          <p:nvPr/>
        </p:nvSpPr>
        <p:spPr>
          <a:xfrm>
            <a:off x="6108192" y="4572000"/>
            <a:ext cx="5349240" cy="868680"/>
          </a:xfrm>
          <a:prstGeom prst="rect">
            <a:avLst/>
          </a:prstGeom>
          <a:solidFill>
            <a:srgbClr val="FDEEE4"/>
          </a:solidFill>
          <a:ln w="15875">
            <a:solidFill>
              <a:srgbClr val="FA461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Oval 23"/>
          <p:cNvSpPr/>
          <p:nvPr/>
        </p:nvSpPr>
        <p:spPr>
          <a:xfrm>
            <a:off x="6291072" y="4809744"/>
            <a:ext cx="365760" cy="365760"/>
          </a:xfrm>
          <a:prstGeom prst="ellipse">
            <a:avLst/>
          </a:prstGeom>
          <a:solidFill>
            <a:srgbClr val="FA461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300" b="1">
                <a:solidFill>
                  <a:srgbClr val="FFFFFF"/>
                </a:solidFill>
                <a:latin typeface="Arial"/>
              </a:rPr>
              <a:t>4</a:t>
            </a:r>
          </a:p>
        </p:txBody>
      </p:sp>
      <p:sp>
        <p:nvSpPr>
          <p:cNvPr id="25" name="TextBox 24"/>
          <p:cNvSpPr txBox="1"/>
          <p:nvPr/>
        </p:nvSpPr>
        <p:spPr>
          <a:xfrm>
            <a:off x="6793992" y="4572000"/>
            <a:ext cx="4480560" cy="868680"/>
          </a:xfrm>
          <a:prstGeom prst="rect">
            <a:avLst/>
          </a:prstGeom>
          <a:noFill/>
        </p:spPr>
        <p:txBody>
          <a:bodyPr wrap="square" lIns="0" tIns="0" rIns="0" bIns="0" anchor="ctr">
            <a:spAutoFit/>
          </a:bodyPr>
          <a:lstStyle/>
          <a:p>
            <a:pPr algn="l">
              <a:lnSpc>
                <a:spcPct val="108000"/>
              </a:lnSpc>
              <a:spcAft>
                <a:spcPts val="0"/>
              </a:spcAft>
            </a:pPr>
            <a:r>
              <a:rPr sz="1350" b="0">
                <a:solidFill>
                  <a:srgbClr val="1A2B3C"/>
                </a:solidFill>
                <a:latin typeface="Calibri"/>
              </a:rPr>
              <a:t>Verified against the live trace / database, not a clean exit code</a:t>
            </a:r>
          </a:p>
        </p:txBody>
      </p:sp>
      <p:sp>
        <p:nvSpPr>
          <p:cNvPr id="26" name="TextBox 25"/>
          <p:cNvSpPr txBox="1"/>
          <p:nvPr/>
        </p:nvSpPr>
        <p:spPr>
          <a:xfrm>
            <a:off x="502920" y="5961888"/>
            <a:ext cx="11155680" cy="365760"/>
          </a:xfrm>
          <a:prstGeom prst="rect">
            <a:avLst/>
          </a:prstGeom>
          <a:noFill/>
        </p:spPr>
        <p:txBody>
          <a:bodyPr wrap="square" lIns="0" tIns="0" rIns="0" bIns="0" anchor="t">
            <a:spAutoFit/>
          </a:bodyPr>
          <a:lstStyle/>
          <a:p>
            <a:pPr algn="l">
              <a:lnSpc>
                <a:spcPct val="108000"/>
              </a:lnSpc>
              <a:spcAft>
                <a:spcPts val="0"/>
              </a:spcAft>
            </a:pPr>
            <a:r>
              <a:rPr sz="1450" b="1">
                <a:solidFill>
                  <a:srgbClr val="0021A5"/>
                </a:solidFill>
                <a:latin typeface="Calibri"/>
              </a:rPr>
              <a:t>Reproducible from a committed config, against the real backend and a real model.</a:t>
            </a:r>
          </a:p>
        </p:txBody>
      </p:sp>
      <p:sp>
        <p:nvSpPr>
          <p:cNvPr id="27" name="Rectangle 26"/>
          <p:cNvSpPr/>
          <p:nvPr/>
        </p:nvSpPr>
        <p:spPr>
          <a:xfrm>
            <a:off x="502920" y="6382512"/>
            <a:ext cx="11183112" cy="10972"/>
          </a:xfrm>
          <a:prstGeom prst="rect">
            <a:avLst/>
          </a:prstGeom>
          <a:solidFill>
            <a:srgbClr val="CBD6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502920" y="6473952"/>
            <a:ext cx="8686800" cy="274320"/>
          </a:xfrm>
          <a:prstGeom prst="rect">
            <a:avLst/>
          </a:prstGeom>
          <a:noFill/>
        </p:spPr>
        <p:txBody>
          <a:bodyPr wrap="square" lIns="0" tIns="0" rIns="0" bIns="0" anchor="t">
            <a:spAutoFit/>
          </a:bodyPr>
          <a:lstStyle/>
          <a:p>
            <a:pPr algn="l">
              <a:lnSpc>
                <a:spcPct val="108000"/>
              </a:lnSpc>
              <a:spcAft>
                <a:spcPts val="0"/>
              </a:spcAft>
            </a:pPr>
            <a:r>
              <a:rPr sz="850" b="0">
                <a:solidFill>
                  <a:srgbClr val="6B7A8F"/>
                </a:solidFill>
                <a:latin typeface="Calibri"/>
              </a:rPr>
              <a:t>U N I V E R S I T Y   O F   F L O R I D A   H E R B E R T   W E R T H E I M   C O L L E G E   O F   E N G I N E E R I N G</a:t>
            </a:r>
          </a:p>
        </p:txBody>
      </p:sp>
      <p:sp>
        <p:nvSpPr>
          <p:cNvPr id="29" name="TextBox 28"/>
          <p:cNvSpPr txBox="1"/>
          <p:nvPr/>
        </p:nvSpPr>
        <p:spPr>
          <a:xfrm>
            <a:off x="10881360" y="6473952"/>
            <a:ext cx="822960" cy="274320"/>
          </a:xfrm>
          <a:prstGeom prst="rect">
            <a:avLst/>
          </a:prstGeom>
          <a:noFill/>
        </p:spPr>
        <p:txBody>
          <a:bodyPr wrap="square" lIns="0" tIns="0" rIns="0" bIns="0" anchor="t">
            <a:spAutoFit/>
          </a:bodyPr>
          <a:lstStyle/>
          <a:p>
            <a:pPr algn="r">
              <a:lnSpc>
                <a:spcPct val="108000"/>
              </a:lnSpc>
              <a:spcAft>
                <a:spcPts val="0"/>
              </a:spcAft>
            </a:pPr>
            <a:r>
              <a:rPr sz="900" b="0">
                <a:solidFill>
                  <a:srgbClr val="6B7A8F"/>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2194</Words>
  <Application>Microsoft Macintosh PowerPoint</Application>
  <PresentationFormat>Widescreen</PresentationFormat>
  <Paragraphs>122</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Rohith Kumar Ballem</cp:lastModifiedBy>
  <cp:revision>2</cp:revision>
  <dcterms:created xsi:type="dcterms:W3CDTF">2013-01-27T09:14:16Z</dcterms:created>
  <dcterms:modified xsi:type="dcterms:W3CDTF">2026-10-29T13:48:45Z</dcterms:modified>
  <cp:category/>
</cp:coreProperties>
</file>