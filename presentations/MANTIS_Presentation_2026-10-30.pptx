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update, not a full re-introduction: three things landed since the last deck. A real, toggleable integration of the independent Zero Trust Backplane project. A minimal browser UI over the same CLI. And new this week: a toggleable AML office, ported from the legacy codebase MANTIS's banking agents were originally extracted from. Everything is off by default and verified live, not just unit-tested.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refresher. MANTIS is a configuration-driven security testbed built on a real, unmodified banking multi-agent system. Five fixed control points -- input, agent, interaction, tool, output -- let an attack, failure, or defense plugin declare itself entirely in YAML. Front, mid, and back office are always on: 34 agents, 27 tools. Everything we're covering today -- Zero Trust, the AML office -- is a toggle on top of that unchanged core.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integration of the independent Citi_P3_Zero_Trust_Backplane project's signed Policy Decision Point -- not a reimplementation. A stock install never imports it; it's an optional dependency, guarded by a try/except so it's genuinely unregistered rather than registered-but-broken when absent. Toggle it with a dedicated zero_trust block in any config, or the same checkbox in the UI. The policy itself is generated from MANTIS's own live inventory: an agent may act on a tool in its own domain, everything else is denied by the PDP's own default. Live-verified: same-domain allow, cross-domain deny, an unrecognized agent denied before a challenge is even issued, and two full legitimate runs through the real PDP completing identically to the undefended baseline. Eleven regression tests guard it against future drift.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schema-driven experiment editor and trace viewer over the same mantis CLI -- no separate business logic. Validate and Run shell out to the exact same subprocess a terminal user would invoke. Domain, workflow, scenario, and plugin dropdowns are populated live from the running registries, not hardcoded, so they can never drift from the real system. Verified directly: a deliberately invalid config submitted through the UI comes back with the real CLI's own error text, not a UI-side check. Dedicated toggle fieldsets for Zero Trust and, new this week, the AML office sit right next to the generic attack and policy dropdowns -- this is a real screenshot of it running against a real AML office run,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MANTIS's banking agents were extracted from a larger legacy codebase, Citi_P3. That legacy codebase had a working AML investigation office -- an investigator agent, a SAR drafting agent, four real detection functions -- that never made the transition when the rest was translated into MANTIS. This week we ported it. Four detection functions are unchanged from the source: structuring detection is a real sliding-window cumulative-deposit analysis, threshold-anomaly flags anything over five times a customer's baseline, mule-ring detection is real closed-loop graph traversal over a customer's transaction history, and identity verification is Levenshtein name scoring weighted thirty-thirty-forty against date of birth and ID number. Plus a real alert lifecycle: open, in-investigation, cleared or escalated to SAR. It's a fourth banking domain, off by default, toggled exactly like Zero Trust.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point of verifying against the real trace, not a clean exit code: live verification against five new AML scenarios found two real integration defects before we could honestly call the extension complete. First, a routing gap -- the identity-verification scenario was misrouted to the front office instead of the AML office, because the root agent's own routing instruction never mentioned identity verification by name. Second, an unreachable capability -- the alert-triage tool existed, was correctly implemented, was unit-tested directly as a function -- but no agent in the actual built tree had it on its toolset at all, so it could never be called live. Neither was caught by the unit test suite, because both are properties of the live agent tree, not of any single ported function in isolation. Both fixed and re-verified live, including one effect confirmed by reading the real database state back afterward, not just trusting the model's own report. All five scenarios now score 1.0 on tool-use correctness and workflow outcome,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toggles follow the identical discipline: opt-in, off by default, byte-identical existing behavior when absent, live-verified rather than just unit-tested. The full offline test suite stands at 853 passing with neither optional dependency installed, 880 with both Zero Trust and AML installed, zero failures either way. Every capability here -- Zero Trust, the AML office, the UI -- is reproducible from a committed configuration file against the real backend and a real model, not a one-off claim.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update: a real Zero Trust Backplane integration, a minimal UI over the same CLI, and this week's AML office, ported faithfully from Citi_P3 and live-verified hard enough to find and fix two real bugs before calling it done. Code, both papers, and the platform guide are all in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21A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02920" y="411480"/>
            <a:ext cx="56692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429768"/>
            <a:ext cx="566928" cy="530352"/>
          </a:xfrm>
          <a:prstGeom prst="rect">
            <a:avLst/>
          </a:prstGeom>
          <a:noFill/>
        </p:spPr>
        <p:txBody>
          <a:bodyPr wrap="square" lIns="0" rIns="0" tIns="0" bIns="0" anchor="ctr">
            <a:spAutoFit/>
          </a:bodyPr>
          <a:lstStyle/>
          <a:p>
            <a:pPr algn="ctr">
              <a:lnSpc>
                <a:spcPct val="108000"/>
              </a:lnSpc>
              <a:spcAft>
                <a:spcPts val="0"/>
              </a:spcAft>
            </a:pPr>
            <a:r>
              <a:rPr sz="2200" b="1">
                <a:solidFill>
                  <a:srgbClr val="0021A5"/>
                </a:solidFill>
                <a:latin typeface="Calibri"/>
              </a:rPr>
              <a:t>UF</a:t>
            </a:r>
          </a:p>
        </p:txBody>
      </p:sp>
      <p:sp>
        <p:nvSpPr>
          <p:cNvPr id="5" name="TextBox 4"/>
          <p:cNvSpPr txBox="1"/>
          <p:nvPr/>
        </p:nvSpPr>
        <p:spPr>
          <a:xfrm>
            <a:off x="1188720" y="384048"/>
            <a:ext cx="4206240" cy="274320"/>
          </a:xfrm>
          <a:prstGeom prst="rect">
            <a:avLst/>
          </a:prstGeom>
          <a:noFill/>
        </p:spPr>
        <p:txBody>
          <a:bodyPr wrap="square" lIns="0" rIns="0" tIns="0" bIns="0" anchor="t">
            <a:spAutoFit/>
          </a:bodyPr>
          <a:lstStyle/>
          <a:p>
            <a:pPr algn="l">
              <a:lnSpc>
                <a:spcPct val="108000"/>
              </a:lnSpc>
              <a:spcAft>
                <a:spcPts val="0"/>
              </a:spcAft>
            </a:pPr>
            <a:r>
              <a:rPr sz="1200" b="1">
                <a:solidFill>
                  <a:srgbClr val="FFFFFF"/>
                </a:solidFill>
                <a:latin typeface="Calibri"/>
              </a:rPr>
              <a:t>Herbert Wertheim</a:t>
            </a:r>
          </a:p>
        </p:txBody>
      </p:sp>
      <p:sp>
        <p:nvSpPr>
          <p:cNvPr id="6" name="TextBox 5"/>
          <p:cNvSpPr txBox="1"/>
          <p:nvPr/>
        </p:nvSpPr>
        <p:spPr>
          <a:xfrm>
            <a:off x="1188720" y="621792"/>
            <a:ext cx="4206240" cy="274320"/>
          </a:xfrm>
          <a:prstGeom prst="rect">
            <a:avLst/>
          </a:prstGeom>
          <a:noFill/>
        </p:spPr>
        <p:txBody>
          <a:bodyPr wrap="square" lIns="0" rIns="0" tIns="0" bIns="0" anchor="t">
            <a:spAutoFit/>
          </a:bodyPr>
          <a:lstStyle/>
          <a:p>
            <a:pPr algn="l">
              <a:lnSpc>
                <a:spcPct val="108000"/>
              </a:lnSpc>
              <a:spcAft>
                <a:spcPts val="0"/>
              </a:spcAft>
            </a:pPr>
            <a:r>
              <a:rPr sz="1200" b="1">
                <a:solidFill>
                  <a:srgbClr val="FFFFFF"/>
                </a:solidFill>
                <a:latin typeface="Calibri"/>
              </a:rPr>
              <a:t>College of Engineering</a:t>
            </a:r>
          </a:p>
        </p:txBody>
      </p:sp>
      <p:sp>
        <p:nvSpPr>
          <p:cNvPr id="7" name="TextBox 6"/>
          <p:cNvSpPr txBox="1"/>
          <p:nvPr/>
        </p:nvSpPr>
        <p:spPr>
          <a:xfrm>
            <a:off x="1188720" y="877824"/>
            <a:ext cx="4206240" cy="237744"/>
          </a:xfrm>
          <a:prstGeom prst="rect">
            <a:avLst/>
          </a:prstGeom>
          <a:noFill/>
        </p:spPr>
        <p:txBody>
          <a:bodyPr wrap="square" lIns="0" rIns="0" tIns="0" bIns="0" anchor="t">
            <a:spAutoFit/>
          </a:bodyPr>
          <a:lstStyle/>
          <a:p>
            <a:pPr algn="l">
              <a:lnSpc>
                <a:spcPct val="108000"/>
              </a:lnSpc>
              <a:spcAft>
                <a:spcPts val="0"/>
              </a:spcAft>
            </a:pPr>
            <a:r>
              <a:rPr sz="1000" b="0">
                <a:solidFill>
                  <a:srgbClr val="FFFFFF"/>
                </a:solidFill>
                <a:latin typeface="Calibri"/>
              </a:rPr>
              <a:t>UNIVERSITY of FLORIDA</a:t>
            </a:r>
          </a:p>
        </p:txBody>
      </p:sp>
      <p:sp>
        <p:nvSpPr>
          <p:cNvPr id="8" name="TextBox 7"/>
          <p:cNvSpPr txBox="1"/>
          <p:nvPr/>
        </p:nvSpPr>
        <p:spPr>
          <a:xfrm>
            <a:off x="731520" y="2103120"/>
            <a:ext cx="10058400" cy="1554480"/>
          </a:xfrm>
          <a:prstGeom prst="rect">
            <a:avLst/>
          </a:prstGeom>
          <a:noFill/>
        </p:spPr>
        <p:txBody>
          <a:bodyPr wrap="square" lIns="0" rIns="0" tIns="0" bIns="0" anchor="t">
            <a:spAutoFit/>
          </a:bodyPr>
          <a:lstStyle/>
          <a:p>
            <a:pPr algn="l">
              <a:lnSpc>
                <a:spcPct val="108000"/>
              </a:lnSpc>
              <a:spcAft>
                <a:spcPts val="0"/>
              </a:spcAft>
            </a:pPr>
            <a:r>
              <a:rPr sz="5600" b="1">
                <a:solidFill>
                  <a:srgbClr val="FFFFFF"/>
                </a:solidFill>
                <a:latin typeface="Calibri"/>
              </a:rPr>
              <a:t>MANTIS -- This Week</a:t>
            </a:r>
          </a:p>
        </p:txBody>
      </p:sp>
      <p:sp>
        <p:nvSpPr>
          <p:cNvPr id="9" name="TextBox 8"/>
          <p:cNvSpPr txBox="1"/>
          <p:nvPr/>
        </p:nvSpPr>
        <p:spPr>
          <a:xfrm>
            <a:off x="731520" y="3429000"/>
            <a:ext cx="9601200" cy="914400"/>
          </a:xfrm>
          <a:prstGeom prst="rect">
            <a:avLst/>
          </a:prstGeom>
          <a:noFill/>
        </p:spPr>
        <p:txBody>
          <a:bodyPr wrap="square" lIns="0" rIns="0" tIns="0" bIns="0" anchor="t">
            <a:spAutoFit/>
          </a:bodyPr>
          <a:lstStyle/>
          <a:p>
            <a:pPr algn="l">
              <a:lnSpc>
                <a:spcPct val="108000"/>
              </a:lnSpc>
              <a:spcAft>
                <a:spcPts val="0"/>
              </a:spcAft>
            </a:pPr>
            <a:r>
              <a:rPr sz="2600" b="1">
                <a:solidFill>
                  <a:srgbClr val="FA4616"/>
                </a:solidFill>
                <a:latin typeface="Calibri"/>
              </a:rPr>
              <a:t>Zero Trust  ·  the UI  ·  the AML Office</a:t>
            </a:r>
          </a:p>
        </p:txBody>
      </p:sp>
      <p:sp>
        <p:nvSpPr>
          <p:cNvPr id="10" name="TextBox 9"/>
          <p:cNvSpPr txBox="1"/>
          <p:nvPr/>
        </p:nvSpPr>
        <p:spPr>
          <a:xfrm>
            <a:off x="731520" y="5029200"/>
            <a:ext cx="8686800" cy="365760"/>
          </a:xfrm>
          <a:prstGeom prst="rect">
            <a:avLst/>
          </a:prstGeom>
          <a:noFill/>
        </p:spPr>
        <p:txBody>
          <a:bodyPr wrap="square" lIns="0" rIns="0" tIns="0" bIns="0" anchor="t">
            <a:spAutoFit/>
          </a:bodyPr>
          <a:lstStyle/>
          <a:p>
            <a:pPr algn="l">
              <a:lnSpc>
                <a:spcPct val="108000"/>
              </a:lnSpc>
              <a:spcAft>
                <a:spcPts val="0"/>
              </a:spcAft>
            </a:pPr>
            <a:r>
              <a:rPr sz="1500" b="1">
                <a:solidFill>
                  <a:srgbClr val="FA4616"/>
                </a:solidFill>
                <a:latin typeface="Calibri"/>
              </a:rPr>
              <a:t>October 30, 2026</a:t>
            </a:r>
          </a:p>
        </p:txBody>
      </p:sp>
      <p:sp>
        <p:nvSpPr>
          <p:cNvPr id="11" name="TextBox 10"/>
          <p:cNvSpPr txBox="1"/>
          <p:nvPr/>
        </p:nvSpPr>
        <p:spPr>
          <a:xfrm>
            <a:off x="731520" y="5394960"/>
            <a:ext cx="8686800" cy="365760"/>
          </a:xfrm>
          <a:prstGeom prst="rect">
            <a:avLst/>
          </a:prstGeom>
          <a:noFill/>
        </p:spPr>
        <p:txBody>
          <a:bodyPr wrap="square" lIns="0" rIns="0" tIns="0" bIns="0" anchor="t">
            <a:spAutoFit/>
          </a:bodyPr>
          <a:lstStyle/>
          <a:p>
            <a:pPr algn="l">
              <a:lnSpc>
                <a:spcPct val="108000"/>
              </a:lnSpc>
              <a:spcAft>
                <a:spcPts val="0"/>
              </a:spcAft>
            </a:pPr>
            <a:r>
              <a:rPr sz="1400" b="0">
                <a:solidFill>
                  <a:srgbClr val="FA4616"/>
                </a:solidFill>
                <a:latin typeface="Calibri"/>
              </a:rPr>
              <a:t>Smart Systems Lab · Research testbed, synthetic data only</a:t>
            </a:r>
          </a:p>
        </p:txBody>
      </p:sp>
      <p:sp>
        <p:nvSpPr>
          <p:cNvPr id="12" name="Rectangle 11"/>
          <p:cNvSpPr/>
          <p:nvPr/>
        </p:nvSpPr>
        <p:spPr>
          <a:xfrm>
            <a:off x="731520" y="6355080"/>
            <a:ext cx="2011680"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34640" y="6236208"/>
            <a:ext cx="6492240" cy="274320"/>
          </a:xfrm>
          <a:prstGeom prst="rect">
            <a:avLst/>
          </a:prstGeom>
          <a:noFill/>
        </p:spPr>
        <p:txBody>
          <a:bodyPr wrap="square" lIns="0" rIns="0" tIns="0" bIns="0" anchor="t">
            <a:spAutoFit/>
          </a:bodyPr>
          <a:lstStyle/>
          <a:p>
            <a:pPr algn="ctr">
              <a:lnSpc>
                <a:spcPct val="108000"/>
              </a:lnSpc>
              <a:spcAft>
                <a:spcPts val="0"/>
              </a:spcAft>
            </a:pPr>
            <a:r>
              <a:rPr sz="1050" b="0">
                <a:solidFill>
                  <a:srgbClr val="FFFFFF"/>
                </a:solidFill>
                <a:latin typeface="Calibri"/>
              </a:rPr>
              <a:t>L E A D I N G   T H E   C H A R G E ,   C H A R G I N G   A H E A D</a:t>
            </a:r>
          </a:p>
        </p:txBody>
      </p:sp>
      <p:sp>
        <p:nvSpPr>
          <p:cNvPr id="14" name="Rectangle 13"/>
          <p:cNvSpPr/>
          <p:nvPr/>
        </p:nvSpPr>
        <p:spPr>
          <a:xfrm>
            <a:off x="9464040" y="6355080"/>
            <a:ext cx="2011680" cy="109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MANTIS in brief</a:t>
            </a:r>
          </a:p>
        </p:txBody>
      </p:sp>
      <p:sp>
        <p:nvSpPr>
          <p:cNvPr id="3" name="TextBox 2"/>
          <p:cNvSpPr txBox="1"/>
          <p:nvPr/>
        </p:nvSpPr>
        <p:spPr>
          <a:xfrm>
            <a:off x="502920" y="1005840"/>
            <a:ext cx="73152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THE TESTBED</a:t>
            </a:r>
          </a:p>
        </p:txBody>
      </p:sp>
      <p:sp>
        <p:nvSpPr>
          <p:cNvPr id="4" name="Rectangle 3"/>
          <p:cNvSpPr/>
          <p:nvPr/>
        </p:nvSpPr>
        <p:spPr>
          <a:xfrm>
            <a:off x="502920" y="1417320"/>
            <a:ext cx="3566160" cy="2468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600200"/>
            <a:ext cx="3108960" cy="640080"/>
          </a:xfrm>
          <a:prstGeom prst="rect">
            <a:avLst/>
          </a:prstGeom>
          <a:noFill/>
        </p:spPr>
        <p:txBody>
          <a:bodyPr wrap="square" lIns="0" rIns="0" tIns="0" bIns="0" anchor="t">
            <a:spAutoFit/>
          </a:bodyPr>
          <a:lstStyle/>
          <a:p>
            <a:pPr algn="l">
              <a:lnSpc>
                <a:spcPct val="108000"/>
              </a:lnSpc>
              <a:spcAft>
                <a:spcPts val="0"/>
              </a:spcAft>
            </a:pPr>
            <a:r>
              <a:rPr sz="1550" b="1">
                <a:solidFill>
                  <a:srgbClr val="0021A5"/>
                </a:solidFill>
                <a:latin typeface="Calibri"/>
              </a:rPr>
              <a:t>A real system under test</a:t>
            </a:r>
          </a:p>
        </p:txBody>
      </p:sp>
      <p:sp>
        <p:nvSpPr>
          <p:cNvPr id="6" name="TextBox 5"/>
          <p:cNvSpPr txBox="1"/>
          <p:nvPr/>
        </p:nvSpPr>
        <p:spPr>
          <a:xfrm>
            <a:off x="731520" y="2286000"/>
            <a:ext cx="3108960" cy="1463040"/>
          </a:xfrm>
          <a:prstGeom prst="rect">
            <a:avLst/>
          </a:prstGeom>
          <a:noFill/>
        </p:spPr>
        <p:txBody>
          <a:bodyPr wrap="square" lIns="0" rIns="0" tIns="0" bIns="0" anchor="t">
            <a:spAutoFit/>
          </a:bodyPr>
          <a:lstStyle/>
          <a:p>
            <a:pPr algn="l">
              <a:lnSpc>
                <a:spcPct val="108000"/>
              </a:lnSpc>
              <a:spcAft>
                <a:spcPts val="0"/>
              </a:spcAft>
            </a:pPr>
            <a:r>
              <a:rPr sz="1300" b="0">
                <a:solidFill>
                  <a:srgbClr val="1A2B3C"/>
                </a:solidFill>
                <a:latin typeface="Calibri"/>
              </a:rPr>
              <a:t>Unmodified banking multi-agent system. Front / mid / back office: 34 agents, 27 tools, a real backend.</a:t>
            </a:r>
          </a:p>
        </p:txBody>
      </p:sp>
      <p:sp>
        <p:nvSpPr>
          <p:cNvPr id="7" name="Rectangle 6"/>
          <p:cNvSpPr/>
          <p:nvPr/>
        </p:nvSpPr>
        <p:spPr>
          <a:xfrm>
            <a:off x="4279392" y="1417320"/>
            <a:ext cx="3566160" cy="24688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07992" y="1600200"/>
            <a:ext cx="3108960" cy="640080"/>
          </a:xfrm>
          <a:prstGeom prst="rect">
            <a:avLst/>
          </a:prstGeom>
          <a:noFill/>
        </p:spPr>
        <p:txBody>
          <a:bodyPr wrap="square" lIns="0" rIns="0" tIns="0" bIns="0" anchor="t">
            <a:spAutoFit/>
          </a:bodyPr>
          <a:lstStyle/>
          <a:p>
            <a:pPr algn="l">
              <a:lnSpc>
                <a:spcPct val="108000"/>
              </a:lnSpc>
              <a:spcAft>
                <a:spcPts val="0"/>
              </a:spcAft>
            </a:pPr>
            <a:r>
              <a:rPr sz="1550" b="1">
                <a:solidFill>
                  <a:srgbClr val="FFFFFF"/>
                </a:solidFill>
                <a:latin typeface="Calibri"/>
              </a:rPr>
              <a:t>Five control points, one hook bus</a:t>
            </a:r>
          </a:p>
        </p:txBody>
      </p:sp>
      <p:sp>
        <p:nvSpPr>
          <p:cNvPr id="9" name="TextBox 8"/>
          <p:cNvSpPr txBox="1"/>
          <p:nvPr/>
        </p:nvSpPr>
        <p:spPr>
          <a:xfrm>
            <a:off x="4507992" y="2286000"/>
            <a:ext cx="3108960" cy="1463040"/>
          </a:xfrm>
          <a:prstGeom prst="rect">
            <a:avLst/>
          </a:prstGeom>
          <a:noFill/>
        </p:spPr>
        <p:txBody>
          <a:bodyPr wrap="square" lIns="0" rIns="0" tIns="0" bIns="0" anchor="t">
            <a:spAutoFit/>
          </a:bodyPr>
          <a:lstStyle/>
          <a:p>
            <a:pPr algn="l">
              <a:lnSpc>
                <a:spcPct val="108000"/>
              </a:lnSpc>
              <a:spcAft>
                <a:spcPts val="0"/>
              </a:spcAft>
            </a:pPr>
            <a:r>
              <a:rPr sz="1300" b="0">
                <a:solidFill>
                  <a:srgbClr val="FFFFFF"/>
                </a:solidFill>
                <a:latin typeface="Calibri"/>
              </a:rPr>
              <a:t>Input, agent, interaction, tool, output. An attack, failure, or defense is a plugin declared in YAML.</a:t>
            </a:r>
          </a:p>
        </p:txBody>
      </p:sp>
      <p:sp>
        <p:nvSpPr>
          <p:cNvPr id="10" name="Rectangle 9"/>
          <p:cNvSpPr/>
          <p:nvPr/>
        </p:nvSpPr>
        <p:spPr>
          <a:xfrm>
            <a:off x="8055864" y="1417320"/>
            <a:ext cx="3566160" cy="2468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84464" y="1600200"/>
            <a:ext cx="3108960" cy="640080"/>
          </a:xfrm>
          <a:prstGeom prst="rect">
            <a:avLst/>
          </a:prstGeom>
          <a:noFill/>
        </p:spPr>
        <p:txBody>
          <a:bodyPr wrap="square" lIns="0" rIns="0" tIns="0" bIns="0" anchor="t">
            <a:spAutoFit/>
          </a:bodyPr>
          <a:lstStyle/>
          <a:p>
            <a:pPr algn="l">
              <a:lnSpc>
                <a:spcPct val="108000"/>
              </a:lnSpc>
              <a:spcAft>
                <a:spcPts val="0"/>
              </a:spcAft>
            </a:pPr>
            <a:r>
              <a:rPr sz="1550" b="1">
                <a:solidFill>
                  <a:srgbClr val="0021A5"/>
                </a:solidFill>
                <a:latin typeface="Calibri"/>
              </a:rPr>
              <a:t>Evidence, not exit codes</a:t>
            </a:r>
          </a:p>
        </p:txBody>
      </p:sp>
      <p:sp>
        <p:nvSpPr>
          <p:cNvPr id="12" name="TextBox 11"/>
          <p:cNvSpPr txBox="1"/>
          <p:nvPr/>
        </p:nvSpPr>
        <p:spPr>
          <a:xfrm>
            <a:off x="8284464" y="2286000"/>
            <a:ext cx="3108960" cy="1463040"/>
          </a:xfrm>
          <a:prstGeom prst="rect">
            <a:avLst/>
          </a:prstGeom>
          <a:noFill/>
        </p:spPr>
        <p:txBody>
          <a:bodyPr wrap="square" lIns="0" rIns="0" tIns="0" bIns="0" anchor="t">
            <a:spAutoFit/>
          </a:bodyPr>
          <a:lstStyle/>
          <a:p>
            <a:pPr algn="l">
              <a:lnSpc>
                <a:spcPct val="108000"/>
              </a:lnSpc>
              <a:spcAft>
                <a:spcPts val="0"/>
              </a:spcAft>
            </a:pPr>
            <a:r>
              <a:rPr sz="1300" b="0">
                <a:solidFill>
                  <a:srgbClr val="1A2B3C"/>
                </a:solidFill>
                <a:latin typeface="Calibri"/>
              </a:rPr>
              <a:t>Every run writes a manifest, a trace, and a scorecard -- verified against the real trace, every time.</a:t>
            </a:r>
          </a:p>
        </p:txBody>
      </p:sp>
      <p:sp>
        <p:nvSpPr>
          <p:cNvPr id="13" name="TextBox 12"/>
          <p:cNvSpPr txBox="1"/>
          <p:nvPr/>
        </p:nvSpPr>
        <p:spPr>
          <a:xfrm>
            <a:off x="502920" y="4160520"/>
            <a:ext cx="73152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WHAT'S NEW</a:t>
            </a:r>
          </a:p>
        </p:txBody>
      </p:sp>
      <p:sp>
        <p:nvSpPr>
          <p:cNvPr id="14" name="Rectangle 13"/>
          <p:cNvSpPr/>
          <p:nvPr/>
        </p:nvSpPr>
        <p:spPr>
          <a:xfrm>
            <a:off x="502920" y="4480560"/>
            <a:ext cx="11183112" cy="128016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663440"/>
            <a:ext cx="10607040" cy="914400"/>
          </a:xfrm>
          <a:prstGeom prst="rect">
            <a:avLst/>
          </a:prstGeom>
          <a:noFill/>
        </p:spPr>
        <p:txBody>
          <a:bodyPr wrap="square" lIns="0" rIns="0" tIns="0" bIns="0" anchor="t">
            <a:spAutoFit/>
          </a:bodyPr>
          <a:lstStyle/>
          <a:p>
            <a:pPr algn="l">
              <a:lnSpc>
                <a:spcPct val="108000"/>
              </a:lnSpc>
              <a:spcAft>
                <a:spcPts val="0"/>
              </a:spcAft>
            </a:pPr>
            <a:r>
              <a:rPr sz="1500" b="1">
                <a:solidFill>
                  <a:srgbClr val="FA4616"/>
                </a:solidFill>
                <a:latin typeface="Calibri"/>
              </a:rPr>
              <a:t>Two new toggles, zero risk to the rest. </a:t>
            </a:r>
            <a:r>
              <a:rPr sz="1500" b="0">
                <a:solidFill>
                  <a:srgbClr val="1A2B3C"/>
                </a:solidFill>
                <a:latin typeface="Calibri"/>
              </a:rPr>
              <a:t>Zero Trust and the AML office are both off by default -- every existing config's behavior is byte-identical whether or not they exist.</a:t>
            </a:r>
          </a:p>
        </p:txBody>
      </p:sp>
      <p:sp>
        <p:nvSpPr>
          <p:cNvPr id="16" name="TextBox 15"/>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Everything below is a toggle on top of that unchanged core.</a:t>
            </a:r>
          </a:p>
        </p:txBody>
      </p:sp>
      <p:sp>
        <p:nvSpPr>
          <p:cNvPr id="17" name="Rectangle 16"/>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19" name="TextBox 18"/>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Zero Trust Backplane: real PDP, toggled per run</a:t>
            </a:r>
          </a:p>
        </p:txBody>
      </p:sp>
      <p:sp>
        <p:nvSpPr>
          <p:cNvPr id="3" name="TextBox 2"/>
          <p:cNvSpPr txBox="1"/>
          <p:nvPr/>
        </p:nvSpPr>
        <p:spPr>
          <a:xfrm>
            <a:off x="502920" y="1005840"/>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POLICY DECISION</a:t>
            </a:r>
          </a:p>
        </p:txBody>
      </p:sp>
      <p:sp>
        <p:nvSpPr>
          <p:cNvPr id="4" name="Rectangle 3"/>
          <p:cNvSpPr/>
          <p:nvPr/>
        </p:nvSpPr>
        <p:spPr>
          <a:xfrm>
            <a:off x="502920" y="1371600"/>
            <a:ext cx="2377440" cy="68580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76072" y="1371600"/>
            <a:ext cx="2231136" cy="685800"/>
          </a:xfrm>
          <a:prstGeom prst="rect">
            <a:avLst/>
          </a:prstGeom>
          <a:noFill/>
        </p:spPr>
        <p:txBody>
          <a:bodyPr wrap="square" lIns="0" rIns="0" tIns="0" bIns="0" anchor="ctr">
            <a:spAutoFit/>
          </a:bodyPr>
          <a:lstStyle/>
          <a:p>
            <a:pPr algn="ctr">
              <a:lnSpc>
                <a:spcPct val="108000"/>
              </a:lnSpc>
              <a:spcAft>
                <a:spcPts val="0"/>
              </a:spcAft>
            </a:pPr>
            <a:r>
              <a:rPr sz="1350" b="1">
                <a:solidFill>
                  <a:srgbClr val="1A2B3C"/>
                </a:solidFill>
                <a:latin typeface="Calibri"/>
              </a:rPr>
              <a:t>Agent request</a:t>
            </a:r>
          </a:p>
        </p:txBody>
      </p:sp>
      <p:sp>
        <p:nvSpPr>
          <p:cNvPr id="6" name="Right Arrow 5"/>
          <p:cNvSpPr/>
          <p:nvPr/>
        </p:nvSpPr>
        <p:spPr>
          <a:xfrm>
            <a:off x="2971800" y="1600200"/>
            <a:ext cx="274320" cy="201168"/>
          </a:xfrm>
          <a:prstGeom prst="rightArrow">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337560" y="1371600"/>
            <a:ext cx="2651760" cy="68580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10712" y="1371600"/>
            <a:ext cx="2505456" cy="685800"/>
          </a:xfrm>
          <a:prstGeom prst="rect">
            <a:avLst/>
          </a:prstGeom>
          <a:noFill/>
        </p:spPr>
        <p:txBody>
          <a:bodyPr wrap="square" lIns="0" rIns="0" tIns="0" bIns="0" anchor="ctr">
            <a:spAutoFit/>
          </a:bodyPr>
          <a:lstStyle/>
          <a:p>
            <a:pPr algn="ctr">
              <a:lnSpc>
                <a:spcPct val="108000"/>
              </a:lnSpc>
              <a:spcAft>
                <a:spcPts val="0"/>
              </a:spcAft>
            </a:pPr>
            <a:r>
              <a:rPr sz="1350" b="1">
                <a:solidFill>
                  <a:srgbClr val="FA4616"/>
                </a:solidFill>
                <a:latin typeface="Calibri"/>
              </a:rPr>
              <a:t>PDP policy check</a:t>
            </a:r>
          </a:p>
        </p:txBody>
      </p:sp>
      <p:sp>
        <p:nvSpPr>
          <p:cNvPr id="9" name="Right Arrow 8"/>
          <p:cNvSpPr/>
          <p:nvPr/>
        </p:nvSpPr>
        <p:spPr>
          <a:xfrm>
            <a:off x="6080760" y="1600200"/>
            <a:ext cx="274320" cy="201168"/>
          </a:xfrm>
          <a:prstGeom prst="rightArrow">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46520" y="1051560"/>
            <a:ext cx="2331720" cy="548640"/>
          </a:xfrm>
          <a:prstGeom prst="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46520" y="1051560"/>
            <a:ext cx="2331720" cy="548640"/>
          </a:xfrm>
          <a:prstGeom prst="rect">
            <a:avLst/>
          </a:prstGeom>
          <a:noFill/>
        </p:spPr>
        <p:txBody>
          <a:bodyPr wrap="square" lIns="0" rIns="0" tIns="0" bIns="0" anchor="ctr">
            <a:spAutoFit/>
          </a:bodyPr>
          <a:lstStyle/>
          <a:p>
            <a:pPr algn="ctr">
              <a:lnSpc>
                <a:spcPct val="108000"/>
              </a:lnSpc>
              <a:spcAft>
                <a:spcPts val="0"/>
              </a:spcAft>
            </a:pPr>
            <a:r>
              <a:rPr sz="1250" b="1">
                <a:solidFill>
                  <a:srgbClr val="1C7C4C"/>
                </a:solidFill>
                <a:latin typeface="Calibri"/>
              </a:rPr>
              <a:t>ALLOW — same domain</a:t>
            </a:r>
          </a:p>
        </p:txBody>
      </p:sp>
      <p:sp>
        <p:nvSpPr>
          <p:cNvPr id="12" name="Rectangle 11"/>
          <p:cNvSpPr/>
          <p:nvPr/>
        </p:nvSpPr>
        <p:spPr>
          <a:xfrm>
            <a:off x="6446520" y="1783080"/>
            <a:ext cx="2331720" cy="548640"/>
          </a:xfrm>
          <a:prstGeom prst="rect">
            <a:avLst/>
          </a:prstGeom>
          <a:solidFill>
            <a:srgbClr val="FB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1783080"/>
            <a:ext cx="2331720" cy="548640"/>
          </a:xfrm>
          <a:prstGeom prst="rect">
            <a:avLst/>
          </a:prstGeom>
          <a:noFill/>
        </p:spPr>
        <p:txBody>
          <a:bodyPr wrap="square" lIns="0" rIns="0" tIns="0" bIns="0" anchor="ctr">
            <a:spAutoFit/>
          </a:bodyPr>
          <a:lstStyle/>
          <a:p>
            <a:pPr algn="ctr">
              <a:lnSpc>
                <a:spcPct val="108000"/>
              </a:lnSpc>
              <a:spcAft>
                <a:spcPts val="0"/>
              </a:spcAft>
            </a:pPr>
            <a:r>
              <a:rPr sz="1250" b="1">
                <a:solidFill>
                  <a:srgbClr val="A32638"/>
                </a:solidFill>
                <a:latin typeface="Calibri"/>
              </a:rPr>
              <a:t>DENY — everything else</a:t>
            </a:r>
          </a:p>
        </p:txBody>
      </p:sp>
      <p:sp>
        <p:nvSpPr>
          <p:cNvPr id="14" name="TextBox 13"/>
          <p:cNvSpPr txBox="1"/>
          <p:nvPr/>
        </p:nvSpPr>
        <p:spPr>
          <a:xfrm>
            <a:off x="9006840" y="1371600"/>
            <a:ext cx="2651760" cy="685800"/>
          </a:xfrm>
          <a:prstGeom prst="rect">
            <a:avLst/>
          </a:prstGeom>
          <a:noFill/>
        </p:spPr>
        <p:txBody>
          <a:bodyPr wrap="square" lIns="0" rIns="0" tIns="0" bIns="0" anchor="t">
            <a:spAutoFit/>
          </a:bodyPr>
          <a:lstStyle/>
          <a:p>
            <a:pPr algn="l">
              <a:lnSpc>
                <a:spcPct val="108000"/>
              </a:lnSpc>
              <a:spcAft>
                <a:spcPts val="0"/>
              </a:spcAft>
            </a:pPr>
            <a:r>
              <a:rPr sz="1150" b="0">
                <a:solidFill>
                  <a:srgbClr val="6B7A8F"/>
                </a:solidFill>
                <a:latin typeface="Calibri"/>
              </a:rPr>
              <a:t>Unknown identity or
unrecognized call: deny
before a challenge issues.</a:t>
            </a:r>
          </a:p>
        </p:txBody>
      </p:sp>
      <p:sp>
        <p:nvSpPr>
          <p:cNvPr id="15" name="Rectangle 14"/>
          <p:cNvSpPr/>
          <p:nvPr/>
        </p:nvSpPr>
        <p:spPr>
          <a:xfrm>
            <a:off x="502920" y="2606040"/>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2920" y="2788920"/>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WHAT IT IS</a:t>
            </a:r>
          </a:p>
        </p:txBody>
      </p:sp>
      <p:sp>
        <p:nvSpPr>
          <p:cNvPr id="17" name="TextBox 16"/>
          <p:cNvSpPr txBox="1"/>
          <p:nvPr/>
        </p:nvSpPr>
        <p:spPr>
          <a:xfrm>
            <a:off x="502920" y="3108960"/>
            <a:ext cx="5394960" cy="1920240"/>
          </a:xfrm>
          <a:prstGeom prst="rect">
            <a:avLst/>
          </a:prstGeom>
          <a:noFill/>
        </p:spPr>
        <p:txBody>
          <a:bodyPr wrap="square" lIns="0" rIns="0" tIns="0" bIns="0" anchor="t">
            <a:spAutoFit/>
          </a:bodyPr>
          <a:lstStyle/>
          <a:p>
            <a:pPr algn="l">
              <a:lnSpc>
                <a:spcPct val="108000"/>
              </a:lnSpc>
              <a:spcAft>
                <a:spcPts val="900"/>
              </a:spcAft>
            </a:pPr>
            <a:r>
              <a:rPr sz="1350" b="1">
                <a:solidFill>
                  <a:srgbClr val="0021A5"/>
                </a:solidFill>
                <a:latin typeface="Calibri"/>
              </a:rPr>
              <a:t>Real external project. </a:t>
            </a:r>
            <a:r>
              <a:rPr sz="1350" b="0">
                <a:solidFill>
                  <a:srgbClr val="1A2B3C"/>
                </a:solidFill>
                <a:latin typeface="Calibri"/>
              </a:rPr>
              <a:t>The independent Citi_P3_Zero_Trust_Backplane's own signed PDP -- not reimplemented here.</a:t>
            </a:r>
          </a:p>
          <a:p>
            <a:pPr algn="l">
              <a:lnSpc>
                <a:spcPct val="108000"/>
              </a:lnSpc>
              <a:spcAft>
                <a:spcPts val="900"/>
              </a:spcAft>
            </a:pPr>
            <a:r>
              <a:rPr sz="1350" b="1">
                <a:solidFill>
                  <a:srgbClr val="0021A5"/>
                </a:solidFill>
                <a:latin typeface="Calibri"/>
              </a:rPr>
              <a:t>Fails closed. </a:t>
            </a:r>
            <a:r>
              <a:rPr sz="1350" b="0">
                <a:solidFill>
                  <a:srgbClr val="1A2B3C"/>
                </a:solidFill>
                <a:latin typeface="Calibri"/>
              </a:rPr>
              <a:t>Unreachable PDP, or anything but ALLOW, means deny -- not a silent pass-through.</a:t>
            </a:r>
          </a:p>
          <a:p>
            <a:pPr algn="l">
              <a:lnSpc>
                <a:spcPct val="108000"/>
              </a:lnSpc>
              <a:spcAft>
                <a:spcPts val="0"/>
              </a:spcAft>
            </a:pPr>
            <a:r>
              <a:rPr sz="1350" b="1">
                <a:solidFill>
                  <a:srgbClr val="0021A5"/>
                </a:solidFill>
                <a:latin typeface="Calibri"/>
              </a:rPr>
              <a:t>Opt-in dependency. </a:t>
            </a:r>
            <a:r>
              <a:rPr sz="1350" b="0">
                <a:solidFill>
                  <a:srgbClr val="1A2B3C"/>
                </a:solidFill>
                <a:latin typeface="Calibri"/>
              </a:rPr>
              <a:t>Guarded import -- a stock install never touches it.</a:t>
            </a:r>
          </a:p>
        </p:txBody>
      </p:sp>
      <p:sp>
        <p:nvSpPr>
          <p:cNvPr id="18" name="TextBox 17"/>
          <p:cNvSpPr txBox="1"/>
          <p:nvPr/>
        </p:nvSpPr>
        <p:spPr>
          <a:xfrm>
            <a:off x="6199632" y="2788920"/>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LIVE-VERIFIED</a:t>
            </a:r>
          </a:p>
        </p:txBody>
      </p:sp>
      <p:sp>
        <p:nvSpPr>
          <p:cNvPr id="19" name="Oval 18"/>
          <p:cNvSpPr/>
          <p:nvPr/>
        </p:nvSpPr>
        <p:spPr>
          <a:xfrm>
            <a:off x="6199632" y="31272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20" name="TextBox 19"/>
          <p:cNvSpPr txBox="1"/>
          <p:nvPr/>
        </p:nvSpPr>
        <p:spPr>
          <a:xfrm>
            <a:off x="6629400" y="31089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Same-domain allow, cross-domain deny</a:t>
            </a:r>
          </a:p>
        </p:txBody>
      </p:sp>
      <p:sp>
        <p:nvSpPr>
          <p:cNvPr id="21" name="Oval 20"/>
          <p:cNvSpPr/>
          <p:nvPr/>
        </p:nvSpPr>
        <p:spPr>
          <a:xfrm>
            <a:off x="6199632" y="35844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2" name="TextBox 21"/>
          <p:cNvSpPr txBox="1"/>
          <p:nvPr/>
        </p:nvSpPr>
        <p:spPr>
          <a:xfrm>
            <a:off x="6629400" y="35661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Unrecognized agent denied pre-challenge</a:t>
            </a:r>
          </a:p>
        </p:txBody>
      </p:sp>
      <p:sp>
        <p:nvSpPr>
          <p:cNvPr id="23" name="Oval 22"/>
          <p:cNvSpPr/>
          <p:nvPr/>
        </p:nvSpPr>
        <p:spPr>
          <a:xfrm>
            <a:off x="6199632" y="40416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4" name="TextBox 23"/>
          <p:cNvSpPr txBox="1"/>
          <p:nvPr/>
        </p:nvSpPr>
        <p:spPr>
          <a:xfrm>
            <a:off x="6629400" y="40233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Shared tool name resolves correctly, both directions</a:t>
            </a:r>
          </a:p>
        </p:txBody>
      </p:sp>
      <p:sp>
        <p:nvSpPr>
          <p:cNvPr id="25" name="Oval 24"/>
          <p:cNvSpPr/>
          <p:nvPr/>
        </p:nvSpPr>
        <p:spPr>
          <a:xfrm>
            <a:off x="6199632" y="4498848"/>
            <a:ext cx="292608" cy="29260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6" name="TextBox 25"/>
          <p:cNvSpPr txBox="1"/>
          <p:nvPr/>
        </p:nvSpPr>
        <p:spPr>
          <a:xfrm>
            <a:off x="6629400" y="4480560"/>
            <a:ext cx="5029200" cy="411480"/>
          </a:xfrm>
          <a:prstGeom prst="rect">
            <a:avLst/>
          </a:prstGeom>
          <a:noFill/>
        </p:spPr>
        <p:txBody>
          <a:bodyPr wrap="square" lIns="0" rIns="0" tIns="0" bIns="0" anchor="ctr">
            <a:spAutoFit/>
          </a:bodyPr>
          <a:lstStyle/>
          <a:p>
            <a:pPr algn="l">
              <a:lnSpc>
                <a:spcPct val="108000"/>
              </a:lnSpc>
              <a:spcAft>
                <a:spcPts val="0"/>
              </a:spcAft>
            </a:pPr>
            <a:r>
              <a:rPr sz="1300" b="0">
                <a:solidFill>
                  <a:srgbClr val="1A2B3C"/>
                </a:solidFill>
                <a:latin typeface="Calibri"/>
              </a:rPr>
              <a:t>2 full legitimate runs identical to the undefended baseline</a:t>
            </a:r>
          </a:p>
        </p:txBody>
      </p:sp>
      <p:sp>
        <p:nvSpPr>
          <p:cNvPr id="27" name="TextBox 26"/>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zero_trust: {enabled: true}  --  11 regression tests guard it against drift.</a:t>
            </a:r>
          </a:p>
        </p:txBody>
      </p:sp>
      <p:sp>
        <p:nvSpPr>
          <p:cNvPr id="28" name="Rectangle 27"/>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30" name="TextBox 29"/>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The minimal UI: a thin layer over the real CLI</a:t>
            </a:r>
          </a:p>
        </p:txBody>
      </p:sp>
      <p:sp>
        <p:nvSpPr>
          <p:cNvPr id="3" name="Rectangle 2"/>
          <p:cNvSpPr/>
          <p:nvPr/>
        </p:nvSpPr>
        <p:spPr>
          <a:xfrm>
            <a:off x="457200" y="1143000"/>
            <a:ext cx="4206240" cy="470916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ui_editor_zt_crop.png"/>
          <p:cNvPicPr>
            <a:picLocks noChangeAspect="1"/>
          </p:cNvPicPr>
          <p:nvPr/>
        </p:nvPicPr>
        <p:blipFill>
          <a:blip r:embed="rId3"/>
          <a:stretch>
            <a:fillRect/>
          </a:stretch>
        </p:blipFill>
        <p:spPr>
          <a:xfrm>
            <a:off x="566928" y="1252728"/>
            <a:ext cx="3329677" cy="4526280"/>
          </a:xfrm>
          <a:prstGeom prst="rect">
            <a:avLst/>
          </a:prstGeom>
        </p:spPr>
      </p:pic>
      <p:sp>
        <p:nvSpPr>
          <p:cNvPr id="5" name="TextBox 4"/>
          <p:cNvSpPr txBox="1"/>
          <p:nvPr/>
        </p:nvSpPr>
        <p:spPr>
          <a:xfrm>
            <a:off x="4937760" y="1143000"/>
            <a:ext cx="64008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NO SEPARATE BUSINESS LOGIC</a:t>
            </a:r>
          </a:p>
        </p:txBody>
      </p:sp>
      <p:sp>
        <p:nvSpPr>
          <p:cNvPr id="6" name="Rectangle 5"/>
          <p:cNvSpPr/>
          <p:nvPr/>
        </p:nvSpPr>
        <p:spPr>
          <a:xfrm>
            <a:off x="4937760" y="1463040"/>
            <a:ext cx="6720840" cy="228600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6360" y="1645920"/>
            <a:ext cx="6309360" cy="1920240"/>
          </a:xfrm>
          <a:prstGeom prst="rect">
            <a:avLst/>
          </a:prstGeom>
          <a:noFill/>
        </p:spPr>
        <p:txBody>
          <a:bodyPr wrap="square" lIns="0" rIns="0" tIns="0" bIns="0" anchor="t">
            <a:spAutoFit/>
          </a:bodyPr>
          <a:lstStyle/>
          <a:p>
            <a:pPr algn="l">
              <a:lnSpc>
                <a:spcPct val="108000"/>
              </a:lnSpc>
              <a:spcAft>
                <a:spcPts val="900"/>
              </a:spcAft>
            </a:pPr>
            <a:r>
              <a:rPr sz="1350" b="0">
                <a:solidFill>
                  <a:srgbClr val="1A2B3C"/>
                </a:solidFill>
                <a:latin typeface="Calibri"/>
              </a:rPr>
              <a:t>Validate / Run → the real mantis CLI subprocess.</a:t>
            </a:r>
          </a:p>
          <a:p>
            <a:pPr algn="l">
              <a:lnSpc>
                <a:spcPct val="108000"/>
              </a:lnSpc>
              <a:spcAft>
                <a:spcPts val="900"/>
              </a:spcAft>
            </a:pPr>
            <a:r>
              <a:rPr sz="1350" b="0">
                <a:solidFill>
                  <a:srgbClr val="1A2B3C"/>
                </a:solidFill>
                <a:latin typeface="Calibri"/>
              </a:rPr>
              <a:t>Schema, registries, inventory → the same live objects mantis --inventory reads.</a:t>
            </a:r>
          </a:p>
          <a:p>
            <a:pPr algn="l">
              <a:lnSpc>
                <a:spcPct val="108000"/>
              </a:lnSpc>
              <a:spcAft>
                <a:spcPts val="900"/>
              </a:spcAft>
            </a:pPr>
            <a:r>
              <a:rPr sz="1350" b="0">
                <a:solidFill>
                  <a:srgbClr val="1A2B3C"/>
                </a:solidFill>
                <a:latin typeface="Calibri"/>
              </a:rPr>
              <a:t>Trace / evaluation / hook-coverage → the same JSON files every other consumer reads.</a:t>
            </a:r>
          </a:p>
          <a:p>
            <a:pPr algn="l">
              <a:lnSpc>
                <a:spcPct val="108000"/>
              </a:lnSpc>
              <a:spcAft>
                <a:spcPts val="0"/>
              </a:spcAft>
            </a:pPr>
            <a:r>
              <a:rPr sz="1350" b="0">
                <a:solidFill>
                  <a:srgbClr val="1A2B3C"/>
                </a:solidFill>
                <a:latin typeface="Calibri"/>
              </a:rPr>
              <a:t>Campaign → two real CLI invocations chained, not UI-side aggregation.</a:t>
            </a:r>
          </a:p>
        </p:txBody>
      </p:sp>
      <p:sp>
        <p:nvSpPr>
          <p:cNvPr id="8" name="TextBox 7"/>
          <p:cNvSpPr txBox="1"/>
          <p:nvPr/>
        </p:nvSpPr>
        <p:spPr>
          <a:xfrm>
            <a:off x="4937760" y="3931920"/>
            <a:ext cx="64008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TURN IT ON</a:t>
            </a:r>
          </a:p>
        </p:txBody>
      </p:sp>
      <p:sp>
        <p:nvSpPr>
          <p:cNvPr id="9" name="Rectangle 8"/>
          <p:cNvSpPr/>
          <p:nvPr/>
        </p:nvSpPr>
        <p:spPr>
          <a:xfrm>
            <a:off x="4937760" y="4251960"/>
            <a:ext cx="6720840" cy="14630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66360" y="4434840"/>
            <a:ext cx="6309360" cy="365760"/>
          </a:xfrm>
          <a:prstGeom prst="rect">
            <a:avLst/>
          </a:prstGeom>
          <a:noFill/>
        </p:spPr>
        <p:txBody>
          <a:bodyPr wrap="square" lIns="0" rIns="0" tIns="0" bIns="0" anchor="t">
            <a:spAutoFit/>
          </a:bodyPr>
          <a:lstStyle/>
          <a:p>
            <a:pPr algn="l">
              <a:lnSpc>
                <a:spcPct val="108000"/>
              </a:lnSpc>
              <a:spcAft>
                <a:spcPts val="0"/>
              </a:spcAft>
            </a:pPr>
            <a:r>
              <a:rPr sz="1600" b="1">
                <a:solidFill>
                  <a:srgbClr val="FA4616"/>
                </a:solidFill>
                <a:latin typeface="Courier New"/>
              </a:rPr>
              <a:t>mantis --ui</a:t>
            </a:r>
          </a:p>
        </p:txBody>
      </p:sp>
      <p:sp>
        <p:nvSpPr>
          <p:cNvPr id="11" name="TextBox 10"/>
          <p:cNvSpPr txBox="1"/>
          <p:nvPr/>
        </p:nvSpPr>
        <p:spPr>
          <a:xfrm>
            <a:off x="5166360" y="4846320"/>
            <a:ext cx="6309360" cy="274320"/>
          </a:xfrm>
          <a:prstGeom prst="rect">
            <a:avLst/>
          </a:prstGeom>
          <a:noFill/>
        </p:spPr>
        <p:txBody>
          <a:bodyPr wrap="square" lIns="0" rIns="0" tIns="0" bIns="0" anchor="t">
            <a:spAutoFit/>
          </a:bodyPr>
          <a:lstStyle/>
          <a:p>
            <a:pPr algn="l">
              <a:lnSpc>
                <a:spcPct val="108000"/>
              </a:lnSpc>
              <a:spcAft>
                <a:spcPts val="0"/>
              </a:spcAft>
            </a:pPr>
            <a:r>
              <a:rPr sz="1300" b="0">
                <a:solidFill>
                  <a:srgbClr val="FFFFFF"/>
                </a:solidFill>
                <a:latin typeface="Courier New"/>
              </a:rPr>
              <a:t>http://127.0.0.1:8765</a:t>
            </a:r>
          </a:p>
        </p:txBody>
      </p:sp>
      <p:sp>
        <p:nvSpPr>
          <p:cNvPr id="12" name="TextBox 11"/>
          <p:cNvSpPr txBox="1"/>
          <p:nvPr/>
        </p:nvSpPr>
        <p:spPr>
          <a:xfrm>
            <a:off x="5166360" y="5212080"/>
            <a:ext cx="6309360" cy="365760"/>
          </a:xfrm>
          <a:prstGeom prst="rect">
            <a:avLst/>
          </a:prstGeom>
          <a:noFill/>
        </p:spPr>
        <p:txBody>
          <a:bodyPr wrap="square" lIns="0" rIns="0" tIns="0" bIns="0" anchor="t">
            <a:spAutoFit/>
          </a:bodyPr>
          <a:lstStyle/>
          <a:p>
            <a:pPr algn="l">
              <a:lnSpc>
                <a:spcPct val="108000"/>
              </a:lnSpc>
              <a:spcAft>
                <a:spcPts val="0"/>
              </a:spcAft>
            </a:pPr>
            <a:r>
              <a:rPr sz="1250" b="0">
                <a:solidFill>
                  <a:srgbClr val="BFD0E8"/>
                </a:solidFill>
                <a:latin typeface="Calibri"/>
              </a:rPr>
              <a:t>Dedicated toggle fieldsets: Zero Trust + AML Office</a:t>
            </a:r>
          </a:p>
        </p:txBody>
      </p:sp>
      <p:sp>
        <p:nvSpPr>
          <p:cNvPr id="13" name="TextBox 12"/>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A real screenshot of the real UI -- not a mockup.</a:t>
            </a:r>
          </a:p>
        </p:txBody>
      </p:sp>
      <p:sp>
        <p:nvSpPr>
          <p:cNvPr id="14" name="Rectangle 13"/>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16" name="TextBox 15"/>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AML office: four real detectors, ported from Citi_P3</a:t>
            </a:r>
          </a:p>
        </p:txBody>
      </p:sp>
      <p:sp>
        <p:nvSpPr>
          <p:cNvPr id="3" name="TextBox 2"/>
          <p:cNvSpPr txBox="1"/>
          <p:nvPr/>
        </p:nvSpPr>
        <p:spPr>
          <a:xfrm>
            <a:off x="502920" y="100584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PORTED, NOT REINVENTED</a:t>
            </a:r>
          </a:p>
        </p:txBody>
      </p:sp>
      <p:sp>
        <p:nvSpPr>
          <p:cNvPr id="4" name="Rectangle 3"/>
          <p:cNvSpPr/>
          <p:nvPr/>
        </p:nvSpPr>
        <p:spPr>
          <a:xfrm>
            <a:off x="502920" y="1371600"/>
            <a:ext cx="5394960" cy="13258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685800" y="1554480"/>
            <a:ext cx="384048" cy="384048"/>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6" name="TextBox 5"/>
          <p:cNvSpPr txBox="1"/>
          <p:nvPr/>
        </p:nvSpPr>
        <p:spPr>
          <a:xfrm>
            <a:off x="1216152" y="152704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FA4616"/>
                </a:solidFill>
                <a:latin typeface="Calibri"/>
              </a:rPr>
              <a:t>Structuring detection</a:t>
            </a:r>
          </a:p>
        </p:txBody>
      </p:sp>
      <p:sp>
        <p:nvSpPr>
          <p:cNvPr id="7" name="TextBox 6"/>
          <p:cNvSpPr txBox="1"/>
          <p:nvPr/>
        </p:nvSpPr>
        <p:spPr>
          <a:xfrm>
            <a:off x="1216152" y="196596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FFFFFF"/>
                </a:solidFill>
                <a:latin typeface="Calibri"/>
              </a:rPr>
              <a:t>Sliding-window cumulative deposits; default $10,000 / 7 days</a:t>
            </a:r>
          </a:p>
        </p:txBody>
      </p:sp>
      <p:sp>
        <p:nvSpPr>
          <p:cNvPr id="8" name="Rectangle 7"/>
          <p:cNvSpPr/>
          <p:nvPr/>
        </p:nvSpPr>
        <p:spPr>
          <a:xfrm>
            <a:off x="6117336" y="1371600"/>
            <a:ext cx="5394960" cy="1325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00216" y="1554480"/>
            <a:ext cx="384048" cy="38404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6830568" y="152704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Threshold anomaly</a:t>
            </a:r>
          </a:p>
        </p:txBody>
      </p:sp>
      <p:sp>
        <p:nvSpPr>
          <p:cNvPr id="11" name="TextBox 10"/>
          <p:cNvSpPr txBox="1"/>
          <p:nvPr/>
        </p:nvSpPr>
        <p:spPr>
          <a:xfrm>
            <a:off x="6830568" y="196596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1A2B3C"/>
                </a:solidFill>
                <a:latin typeface="Calibri"/>
              </a:rPr>
              <a:t>Flags a transaction over 5x a customer's baseline peak</a:t>
            </a:r>
          </a:p>
        </p:txBody>
      </p:sp>
      <p:sp>
        <p:nvSpPr>
          <p:cNvPr id="12" name="Rectangle 11"/>
          <p:cNvSpPr/>
          <p:nvPr/>
        </p:nvSpPr>
        <p:spPr>
          <a:xfrm>
            <a:off x="502920" y="2880360"/>
            <a:ext cx="5394960" cy="13258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85800" y="3063240"/>
            <a:ext cx="384048" cy="384048"/>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4" name="TextBox 13"/>
          <p:cNvSpPr txBox="1"/>
          <p:nvPr/>
        </p:nvSpPr>
        <p:spPr>
          <a:xfrm>
            <a:off x="1216152" y="303580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Mule-ring detection</a:t>
            </a:r>
          </a:p>
        </p:txBody>
      </p:sp>
      <p:sp>
        <p:nvSpPr>
          <p:cNvPr id="15" name="TextBox 14"/>
          <p:cNvSpPr txBox="1"/>
          <p:nvPr/>
        </p:nvSpPr>
        <p:spPr>
          <a:xfrm>
            <a:off x="1216152" y="347472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1A2B3C"/>
                </a:solidFill>
                <a:latin typeface="Calibri"/>
              </a:rPr>
              <a:t>Closed-loop graph traversal over a customer's own transaction history</a:t>
            </a:r>
          </a:p>
        </p:txBody>
      </p:sp>
      <p:sp>
        <p:nvSpPr>
          <p:cNvPr id="16" name="Rectangle 15"/>
          <p:cNvSpPr/>
          <p:nvPr/>
        </p:nvSpPr>
        <p:spPr>
          <a:xfrm>
            <a:off x="6117336" y="2880360"/>
            <a:ext cx="5394960" cy="13258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00216" y="3063240"/>
            <a:ext cx="384048" cy="384048"/>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8" name="TextBox 17"/>
          <p:cNvSpPr txBox="1"/>
          <p:nvPr/>
        </p:nvSpPr>
        <p:spPr>
          <a:xfrm>
            <a:off x="6830568" y="3035808"/>
            <a:ext cx="4480560" cy="411480"/>
          </a:xfrm>
          <a:prstGeom prst="rect">
            <a:avLst/>
          </a:prstGeom>
          <a:noFill/>
        </p:spPr>
        <p:txBody>
          <a:bodyPr wrap="square" lIns="0" rIns="0" tIns="0" bIns="0" anchor="t">
            <a:spAutoFit/>
          </a:bodyPr>
          <a:lstStyle/>
          <a:p>
            <a:pPr algn="l">
              <a:lnSpc>
                <a:spcPct val="108000"/>
              </a:lnSpc>
              <a:spcAft>
                <a:spcPts val="0"/>
              </a:spcAft>
            </a:pPr>
            <a:r>
              <a:rPr sz="1450" b="1">
                <a:solidFill>
                  <a:srgbClr val="FA4616"/>
                </a:solidFill>
                <a:latin typeface="Calibri"/>
              </a:rPr>
              <a:t>Identity verification</a:t>
            </a:r>
          </a:p>
        </p:txBody>
      </p:sp>
      <p:sp>
        <p:nvSpPr>
          <p:cNvPr id="19" name="TextBox 18"/>
          <p:cNvSpPr txBox="1"/>
          <p:nvPr/>
        </p:nvSpPr>
        <p:spPr>
          <a:xfrm>
            <a:off x="6830568" y="3474720"/>
            <a:ext cx="4480560" cy="640080"/>
          </a:xfrm>
          <a:prstGeom prst="rect">
            <a:avLst/>
          </a:prstGeom>
          <a:noFill/>
        </p:spPr>
        <p:txBody>
          <a:bodyPr wrap="square" lIns="0" rIns="0" tIns="0" bIns="0" anchor="t">
            <a:spAutoFit/>
          </a:bodyPr>
          <a:lstStyle/>
          <a:p>
            <a:pPr algn="l">
              <a:lnSpc>
                <a:spcPct val="108000"/>
              </a:lnSpc>
              <a:spcAft>
                <a:spcPts val="0"/>
              </a:spcAft>
            </a:pPr>
            <a:r>
              <a:rPr sz="1200" b="0">
                <a:solidFill>
                  <a:srgbClr val="FFFFFF"/>
                </a:solidFill>
                <a:latin typeface="Calibri"/>
              </a:rPr>
              <a:t>Levenshtein name + DOB + ID number, weighted 0.30 / 0.30 / 0.40</a:t>
            </a:r>
          </a:p>
        </p:txBody>
      </p:sp>
      <p:sp>
        <p:nvSpPr>
          <p:cNvPr id="20" name="Rectangle 19"/>
          <p:cNvSpPr/>
          <p:nvPr/>
        </p:nvSpPr>
        <p:spPr>
          <a:xfrm>
            <a:off x="502920" y="4572000"/>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2920" y="4736592"/>
            <a:ext cx="54864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TURN IT ON</a:t>
            </a:r>
          </a:p>
        </p:txBody>
      </p:sp>
      <p:sp>
        <p:nvSpPr>
          <p:cNvPr id="22" name="TextBox 21"/>
          <p:cNvSpPr txBox="1"/>
          <p:nvPr/>
        </p:nvSpPr>
        <p:spPr>
          <a:xfrm>
            <a:off x="502920" y="5074920"/>
            <a:ext cx="5120640" cy="685800"/>
          </a:xfrm>
          <a:prstGeom prst="rect">
            <a:avLst/>
          </a:prstGeom>
          <a:noFill/>
        </p:spPr>
        <p:txBody>
          <a:bodyPr wrap="square" lIns="0" rIns="0" tIns="0" bIns="0" anchor="t">
            <a:spAutoFit/>
          </a:bodyPr>
          <a:lstStyle/>
          <a:p>
            <a:pPr algn="l">
              <a:lnSpc>
                <a:spcPct val="108000"/>
              </a:lnSpc>
              <a:spcAft>
                <a:spcPts val="0"/>
              </a:spcAft>
            </a:pPr>
            <a:r>
              <a:rPr sz="1400" b="0">
                <a:solidFill>
                  <a:srgbClr val="0021A5"/>
                </a:solidFill>
                <a:latin typeface="Courier New"/>
              </a:rPr>
              <a:t>aml_office:
  enabled: true</a:t>
            </a:r>
          </a:p>
        </p:txBody>
      </p:sp>
      <p:sp>
        <p:nvSpPr>
          <p:cNvPr id="23" name="TextBox 22"/>
          <p:cNvSpPr txBox="1"/>
          <p:nvPr/>
        </p:nvSpPr>
        <p:spPr>
          <a:xfrm>
            <a:off x="6035040" y="4937760"/>
            <a:ext cx="5394960" cy="77724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Off by default — every existing config's root agent is byte-identical to before this domain existed.</a:t>
            </a:r>
          </a:p>
        </p:txBody>
      </p:sp>
      <p:sp>
        <p:nvSpPr>
          <p:cNvPr id="24" name="TextBox 23"/>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Four real detectors, one toggle -- the identical discipline as Zero Trust.</a:t>
            </a:r>
          </a:p>
        </p:txBody>
      </p:sp>
      <p:sp>
        <p:nvSpPr>
          <p:cNvPr id="25" name="Rectangle 24"/>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27" name="TextBox 26"/>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Live verification found 2 real bugs</a:t>
            </a:r>
          </a:p>
        </p:txBody>
      </p:sp>
      <p:sp>
        <p:nvSpPr>
          <p:cNvPr id="3" name="TextBox 2"/>
          <p:cNvSpPr txBox="1"/>
          <p:nvPr/>
        </p:nvSpPr>
        <p:spPr>
          <a:xfrm>
            <a:off x="502920" y="100584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...BEFORE WE CALLED THE AML OFFICE “DONE”</a:t>
            </a:r>
          </a:p>
        </p:txBody>
      </p:sp>
      <p:sp>
        <p:nvSpPr>
          <p:cNvPr id="4" name="Rectangle 3"/>
          <p:cNvSpPr/>
          <p:nvPr/>
        </p:nvSpPr>
        <p:spPr>
          <a:xfrm>
            <a:off x="502920" y="1371600"/>
            <a:ext cx="5440680" cy="443484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536192"/>
            <a:ext cx="4983480" cy="457200"/>
          </a:xfrm>
          <a:prstGeom prst="rect">
            <a:avLst/>
          </a:prstGeom>
          <a:noFill/>
        </p:spPr>
        <p:txBody>
          <a:bodyPr wrap="square" lIns="0" rIns="0" tIns="0" bIns="0" anchor="t">
            <a:spAutoFit/>
          </a:bodyPr>
          <a:lstStyle/>
          <a:p>
            <a:pPr algn="l">
              <a:lnSpc>
                <a:spcPct val="108000"/>
              </a:lnSpc>
              <a:spcAft>
                <a:spcPts val="0"/>
              </a:spcAft>
            </a:pPr>
            <a:r>
              <a:rPr sz="1600" b="1">
                <a:solidFill>
                  <a:srgbClr val="FA4616"/>
                </a:solidFill>
                <a:latin typeface="Calibri"/>
              </a:rPr>
              <a:t>BUG 1 — Routing gap</a:t>
            </a:r>
          </a:p>
        </p:txBody>
      </p:sp>
      <p:sp>
        <p:nvSpPr>
          <p:cNvPr id="6" name="Rectangle 5"/>
          <p:cNvSpPr/>
          <p:nvPr/>
        </p:nvSpPr>
        <p:spPr>
          <a:xfrm>
            <a:off x="731520" y="2057400"/>
            <a:ext cx="4983480" cy="10972"/>
          </a:xfrm>
          <a:prstGeom prst="rect">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2212848"/>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WHAT HAPPENED</a:t>
            </a:r>
          </a:p>
        </p:txBody>
      </p:sp>
      <p:sp>
        <p:nvSpPr>
          <p:cNvPr id="8" name="TextBox 7"/>
          <p:cNvSpPr txBox="1"/>
          <p:nvPr/>
        </p:nvSpPr>
        <p:spPr>
          <a:xfrm>
            <a:off x="731520" y="2542032"/>
            <a:ext cx="4983480" cy="12344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Identity verification was misrouted to the front office -- the root agent's instruction never named it as an AML task.</a:t>
            </a:r>
          </a:p>
        </p:txBody>
      </p:sp>
      <p:sp>
        <p:nvSpPr>
          <p:cNvPr id="9" name="TextBox 8"/>
          <p:cNvSpPr txBox="1"/>
          <p:nvPr/>
        </p:nvSpPr>
        <p:spPr>
          <a:xfrm>
            <a:off x="731520" y="3840480"/>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FIX</a:t>
            </a:r>
          </a:p>
        </p:txBody>
      </p:sp>
      <p:sp>
        <p:nvSpPr>
          <p:cNvPr id="10" name="TextBox 9"/>
          <p:cNvSpPr txBox="1"/>
          <p:nvPr/>
        </p:nvSpPr>
        <p:spPr>
          <a:xfrm>
            <a:off x="731520" y="4169663"/>
            <a:ext cx="4983480" cy="14630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Wording, not logic: both the root agent's and the AML router's instructions now name identity verification and alert triage explicitly.</a:t>
            </a:r>
          </a:p>
        </p:txBody>
      </p:sp>
      <p:sp>
        <p:nvSpPr>
          <p:cNvPr id="11" name="Rectangle 10"/>
          <p:cNvSpPr/>
          <p:nvPr/>
        </p:nvSpPr>
        <p:spPr>
          <a:xfrm>
            <a:off x="6144768" y="1371600"/>
            <a:ext cx="5440680" cy="443484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73368" y="1536192"/>
            <a:ext cx="4983480" cy="457200"/>
          </a:xfrm>
          <a:prstGeom prst="rect">
            <a:avLst/>
          </a:prstGeom>
          <a:noFill/>
        </p:spPr>
        <p:txBody>
          <a:bodyPr wrap="square" lIns="0" rIns="0" tIns="0" bIns="0" anchor="t">
            <a:spAutoFit/>
          </a:bodyPr>
          <a:lstStyle/>
          <a:p>
            <a:pPr algn="l">
              <a:lnSpc>
                <a:spcPct val="108000"/>
              </a:lnSpc>
              <a:spcAft>
                <a:spcPts val="0"/>
              </a:spcAft>
            </a:pPr>
            <a:r>
              <a:rPr sz="1600" b="1">
                <a:solidFill>
                  <a:srgbClr val="FA4616"/>
                </a:solidFill>
                <a:latin typeface="Calibri"/>
              </a:rPr>
              <a:t>BUG 2 — Unreachable capability</a:t>
            </a:r>
          </a:p>
        </p:txBody>
      </p:sp>
      <p:sp>
        <p:nvSpPr>
          <p:cNvPr id="13" name="Rectangle 12"/>
          <p:cNvSpPr/>
          <p:nvPr/>
        </p:nvSpPr>
        <p:spPr>
          <a:xfrm>
            <a:off x="6373368" y="2057400"/>
            <a:ext cx="4983480" cy="10972"/>
          </a:xfrm>
          <a:prstGeom prst="rect">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73368" y="2212848"/>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WHAT HAPPENED</a:t>
            </a:r>
          </a:p>
        </p:txBody>
      </p:sp>
      <p:sp>
        <p:nvSpPr>
          <p:cNvPr id="15" name="TextBox 14"/>
          <p:cNvSpPr txBox="1"/>
          <p:nvPr/>
        </p:nvSpPr>
        <p:spPr>
          <a:xfrm>
            <a:off x="6373368" y="2542032"/>
            <a:ext cx="4983480" cy="12344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Alert-triage was implemented and unit-tested, but no agent in the built tree had it on its toolset.</a:t>
            </a:r>
          </a:p>
        </p:txBody>
      </p:sp>
      <p:sp>
        <p:nvSpPr>
          <p:cNvPr id="16" name="TextBox 15"/>
          <p:cNvSpPr txBox="1"/>
          <p:nvPr/>
        </p:nvSpPr>
        <p:spPr>
          <a:xfrm>
            <a:off x="6373368" y="3840480"/>
            <a:ext cx="4572000" cy="274320"/>
          </a:xfrm>
          <a:prstGeom prst="rect">
            <a:avLst/>
          </a:prstGeom>
          <a:noFill/>
        </p:spPr>
        <p:txBody>
          <a:bodyPr wrap="square" lIns="0" rIns="0" tIns="0" bIns="0" anchor="t">
            <a:spAutoFit/>
          </a:bodyPr>
          <a:lstStyle/>
          <a:p>
            <a:pPr algn="l">
              <a:lnSpc>
                <a:spcPct val="108000"/>
              </a:lnSpc>
              <a:spcAft>
                <a:spcPts val="0"/>
              </a:spcAft>
            </a:pPr>
            <a:r>
              <a:rPr sz="1150" b="1">
                <a:solidFill>
                  <a:srgbClr val="0021A5"/>
                </a:solidFill>
                <a:latin typeface="Calibri"/>
              </a:rPr>
              <a:t>FIX</a:t>
            </a:r>
          </a:p>
        </p:txBody>
      </p:sp>
      <p:sp>
        <p:nvSpPr>
          <p:cNvPr id="17" name="TextBox 16"/>
          <p:cNvSpPr txBox="1"/>
          <p:nvPr/>
        </p:nvSpPr>
        <p:spPr>
          <a:xfrm>
            <a:off x="6373368" y="4169663"/>
            <a:ext cx="4983480" cy="1463040"/>
          </a:xfrm>
          <a:prstGeom prst="rect">
            <a:avLst/>
          </a:prstGeom>
          <a:noFill/>
        </p:spPr>
        <p:txBody>
          <a:bodyPr wrap="square" lIns="0" rIns="0" tIns="0" bIns="0" anchor="t">
            <a:spAutoFit/>
          </a:bodyPr>
          <a:lstStyle/>
          <a:p>
            <a:pPr algn="l">
              <a:lnSpc>
                <a:spcPct val="108000"/>
              </a:lnSpc>
              <a:spcAft>
                <a:spcPts val="0"/>
              </a:spcAft>
            </a:pPr>
            <a:r>
              <a:rPr sz="1350" b="0">
                <a:solidFill>
                  <a:srgbClr val="1A2B3C"/>
                </a:solidFill>
                <a:latin typeface="Calibri"/>
              </a:rPr>
              <a:t>Wired the three alert-lifecycle tools onto the investigator agent. Re-verified: a real database status transition, confirmed by reading it back.</a:t>
            </a:r>
          </a:p>
        </p:txBody>
      </p:sp>
      <p:sp>
        <p:nvSpPr>
          <p:cNvPr id="18" name="TextBox 17"/>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Neither bug was caught by the unit suite -- both are properties of the live agent tree.</a:t>
            </a:r>
          </a:p>
        </p:txBody>
      </p:sp>
      <p:sp>
        <p:nvSpPr>
          <p:cNvPr id="19" name="Rectangle 18"/>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21" name="TextBox 20"/>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Where things stand</a:t>
            </a:r>
          </a:p>
        </p:txBody>
      </p:sp>
      <p:sp>
        <p:nvSpPr>
          <p:cNvPr id="3" name="TextBox 2"/>
          <p:cNvSpPr txBox="1"/>
          <p:nvPr/>
        </p:nvSpPr>
        <p:spPr>
          <a:xfrm>
            <a:off x="502920" y="100584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BY THE NUMBERS</a:t>
            </a:r>
          </a:p>
        </p:txBody>
      </p:sp>
      <p:sp>
        <p:nvSpPr>
          <p:cNvPr id="4" name="TextBox 3"/>
          <p:cNvSpPr txBox="1"/>
          <p:nvPr/>
        </p:nvSpPr>
        <p:spPr>
          <a:xfrm>
            <a:off x="502920"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853</a:t>
            </a:r>
          </a:p>
        </p:txBody>
      </p:sp>
      <p:sp>
        <p:nvSpPr>
          <p:cNvPr id="5" name="TextBox 4"/>
          <p:cNvSpPr txBox="1"/>
          <p:nvPr/>
        </p:nvSpPr>
        <p:spPr>
          <a:xfrm>
            <a:off x="502920"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tests passing offline</a:t>
            </a:r>
          </a:p>
        </p:txBody>
      </p:sp>
      <p:sp>
        <p:nvSpPr>
          <p:cNvPr id="6" name="TextBox 5"/>
          <p:cNvSpPr txBox="1"/>
          <p:nvPr/>
        </p:nvSpPr>
        <p:spPr>
          <a:xfrm>
            <a:off x="3319272"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880</a:t>
            </a:r>
          </a:p>
        </p:txBody>
      </p:sp>
      <p:sp>
        <p:nvSpPr>
          <p:cNvPr id="7" name="TextBox 6"/>
          <p:cNvSpPr txBox="1"/>
          <p:nvPr/>
        </p:nvSpPr>
        <p:spPr>
          <a:xfrm>
            <a:off x="3319272"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with both toggles' deps installed</a:t>
            </a:r>
          </a:p>
        </p:txBody>
      </p:sp>
      <p:sp>
        <p:nvSpPr>
          <p:cNvPr id="8" name="TextBox 7"/>
          <p:cNvSpPr txBox="1"/>
          <p:nvPr/>
        </p:nvSpPr>
        <p:spPr>
          <a:xfrm>
            <a:off x="6135624"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0</a:t>
            </a:r>
          </a:p>
        </p:txBody>
      </p:sp>
      <p:sp>
        <p:nvSpPr>
          <p:cNvPr id="9" name="TextBox 8"/>
          <p:cNvSpPr txBox="1"/>
          <p:nvPr/>
        </p:nvSpPr>
        <p:spPr>
          <a:xfrm>
            <a:off x="6135624"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failures, either way</a:t>
            </a:r>
          </a:p>
        </p:txBody>
      </p:sp>
      <p:sp>
        <p:nvSpPr>
          <p:cNvPr id="10" name="TextBox 9"/>
          <p:cNvSpPr txBox="1"/>
          <p:nvPr/>
        </p:nvSpPr>
        <p:spPr>
          <a:xfrm>
            <a:off x="8951976" y="1417320"/>
            <a:ext cx="2606040" cy="822960"/>
          </a:xfrm>
          <a:prstGeom prst="rect">
            <a:avLst/>
          </a:prstGeom>
          <a:noFill/>
        </p:spPr>
        <p:txBody>
          <a:bodyPr wrap="square" lIns="0" rIns="0" tIns="0" bIns="0" anchor="t">
            <a:spAutoFit/>
          </a:bodyPr>
          <a:lstStyle/>
          <a:p>
            <a:pPr algn="l">
              <a:lnSpc>
                <a:spcPct val="108000"/>
              </a:lnSpc>
              <a:spcAft>
                <a:spcPts val="0"/>
              </a:spcAft>
            </a:pPr>
            <a:r>
              <a:rPr sz="4200" b="1">
                <a:solidFill>
                  <a:srgbClr val="0021A5"/>
                </a:solidFill>
                <a:latin typeface="Calibri"/>
              </a:rPr>
              <a:t>2</a:t>
            </a:r>
          </a:p>
        </p:txBody>
      </p:sp>
      <p:sp>
        <p:nvSpPr>
          <p:cNvPr id="11" name="TextBox 10"/>
          <p:cNvSpPr txBox="1"/>
          <p:nvPr/>
        </p:nvSpPr>
        <p:spPr>
          <a:xfrm>
            <a:off x="8951976" y="2194560"/>
            <a:ext cx="2606040" cy="640080"/>
          </a:xfrm>
          <a:prstGeom prst="rect">
            <a:avLst/>
          </a:prstGeom>
          <a:noFill/>
        </p:spPr>
        <p:txBody>
          <a:bodyPr wrap="square" lIns="0" rIns="0" tIns="0" bIns="0" anchor="t">
            <a:spAutoFit/>
          </a:bodyPr>
          <a:lstStyle/>
          <a:p>
            <a:pPr algn="l">
              <a:lnSpc>
                <a:spcPct val="108000"/>
              </a:lnSpc>
              <a:spcAft>
                <a:spcPts val="0"/>
              </a:spcAft>
            </a:pPr>
            <a:r>
              <a:rPr sz="1250" b="0">
                <a:solidFill>
                  <a:srgbClr val="6B7A8F"/>
                </a:solidFill>
                <a:latin typeface="Calibri"/>
              </a:rPr>
              <a:t>new toggles, zero impact when off</a:t>
            </a:r>
          </a:p>
        </p:txBody>
      </p:sp>
      <p:sp>
        <p:nvSpPr>
          <p:cNvPr id="12" name="Rectangle 11"/>
          <p:cNvSpPr/>
          <p:nvPr/>
        </p:nvSpPr>
        <p:spPr>
          <a:xfrm>
            <a:off x="502920" y="2971800"/>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20" y="3154680"/>
            <a:ext cx="9144000" cy="274320"/>
          </a:xfrm>
          <a:prstGeom prst="rect">
            <a:avLst/>
          </a:prstGeom>
          <a:noFill/>
        </p:spPr>
        <p:txBody>
          <a:bodyPr wrap="square" lIns="0" rIns="0" tIns="0" bIns="0" anchor="t">
            <a:spAutoFit/>
          </a:bodyPr>
          <a:lstStyle/>
          <a:p>
            <a:pPr algn="l">
              <a:lnSpc>
                <a:spcPct val="108000"/>
              </a:lnSpc>
              <a:spcAft>
                <a:spcPts val="0"/>
              </a:spcAft>
            </a:pPr>
            <a:r>
              <a:rPr sz="1150" b="1">
                <a:solidFill>
                  <a:srgbClr val="FA4616"/>
                </a:solidFill>
                <a:latin typeface="Calibri"/>
              </a:rPr>
              <a:t>THE SAME DISCIPLINE, BOTH TIMES</a:t>
            </a:r>
          </a:p>
        </p:txBody>
      </p:sp>
      <p:sp>
        <p:nvSpPr>
          <p:cNvPr id="14" name="Rectangle 13"/>
          <p:cNvSpPr/>
          <p:nvPr/>
        </p:nvSpPr>
        <p:spPr>
          <a:xfrm>
            <a:off x="502920" y="3520440"/>
            <a:ext cx="5349240" cy="8686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5800" y="3758184"/>
            <a:ext cx="365760" cy="365760"/>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16" name="TextBox 15"/>
          <p:cNvSpPr txBox="1"/>
          <p:nvPr/>
        </p:nvSpPr>
        <p:spPr>
          <a:xfrm>
            <a:off x="1188720" y="352044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Opt-in, off by default</a:t>
            </a:r>
          </a:p>
        </p:txBody>
      </p:sp>
      <p:sp>
        <p:nvSpPr>
          <p:cNvPr id="17" name="Rectangle 16"/>
          <p:cNvSpPr/>
          <p:nvPr/>
        </p:nvSpPr>
        <p:spPr>
          <a:xfrm>
            <a:off x="6108192" y="3520440"/>
            <a:ext cx="5349240" cy="86868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291072" y="3758184"/>
            <a:ext cx="365760" cy="365760"/>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9" name="TextBox 18"/>
          <p:cNvSpPr txBox="1"/>
          <p:nvPr/>
        </p:nvSpPr>
        <p:spPr>
          <a:xfrm>
            <a:off x="6793992" y="352044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Byte-identical existing behavior when disabled</a:t>
            </a:r>
          </a:p>
        </p:txBody>
      </p:sp>
      <p:sp>
        <p:nvSpPr>
          <p:cNvPr id="20" name="Rectangle 19"/>
          <p:cNvSpPr/>
          <p:nvPr/>
        </p:nvSpPr>
        <p:spPr>
          <a:xfrm>
            <a:off x="502920" y="4572000"/>
            <a:ext cx="5349240" cy="868680"/>
          </a:xfrm>
          <a:prstGeom prst="rect">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85800" y="4809744"/>
            <a:ext cx="365760" cy="365760"/>
          </a:xfrm>
          <a:prstGeom prst="ellipse">
            <a:avLst/>
          </a:prstGeom>
          <a:solidFill>
            <a:srgbClr val="0021A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22" name="TextBox 21"/>
          <p:cNvSpPr txBox="1"/>
          <p:nvPr/>
        </p:nvSpPr>
        <p:spPr>
          <a:xfrm>
            <a:off x="1188720" y="457200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Real external logic, not reimplemented or invented</a:t>
            </a:r>
          </a:p>
        </p:txBody>
      </p:sp>
      <p:sp>
        <p:nvSpPr>
          <p:cNvPr id="23" name="Rectangle 22"/>
          <p:cNvSpPr/>
          <p:nvPr/>
        </p:nvSpPr>
        <p:spPr>
          <a:xfrm>
            <a:off x="6108192" y="4572000"/>
            <a:ext cx="5349240" cy="868680"/>
          </a:xfrm>
          <a:prstGeom prst="rect">
            <a:avLst/>
          </a:prstGeom>
          <a:solidFill>
            <a:srgbClr val="FDEEE4"/>
          </a:solidFill>
          <a:ln w="1587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91072" y="4809744"/>
            <a:ext cx="365760" cy="365760"/>
          </a:xfrm>
          <a:prstGeom prst="ellipse">
            <a:avLst/>
          </a:prstGeom>
          <a:solidFill>
            <a:srgbClr val="FA461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25" name="TextBox 24"/>
          <p:cNvSpPr txBox="1"/>
          <p:nvPr/>
        </p:nvSpPr>
        <p:spPr>
          <a:xfrm>
            <a:off x="6793992" y="4572000"/>
            <a:ext cx="4480560" cy="868680"/>
          </a:xfrm>
          <a:prstGeom prst="rect">
            <a:avLst/>
          </a:prstGeom>
          <a:noFill/>
        </p:spPr>
        <p:txBody>
          <a:bodyPr wrap="square" lIns="0" rIns="0" tIns="0" bIns="0" anchor="ctr">
            <a:spAutoFit/>
          </a:bodyPr>
          <a:lstStyle/>
          <a:p>
            <a:pPr algn="l">
              <a:lnSpc>
                <a:spcPct val="108000"/>
              </a:lnSpc>
              <a:spcAft>
                <a:spcPts val="0"/>
              </a:spcAft>
            </a:pPr>
            <a:r>
              <a:rPr sz="1350" b="0">
                <a:solidFill>
                  <a:srgbClr val="1A2B3C"/>
                </a:solidFill>
                <a:latin typeface="Calibri"/>
              </a:rPr>
              <a:t>Verified against the live trace / database, not a clean exit code</a:t>
            </a:r>
          </a:p>
        </p:txBody>
      </p:sp>
      <p:sp>
        <p:nvSpPr>
          <p:cNvPr id="26" name="TextBox 25"/>
          <p:cNvSpPr txBox="1"/>
          <p:nvPr/>
        </p:nvSpPr>
        <p:spPr>
          <a:xfrm>
            <a:off x="502920" y="5961888"/>
            <a:ext cx="11155680" cy="365760"/>
          </a:xfrm>
          <a:prstGeom prst="rect">
            <a:avLst/>
          </a:prstGeom>
          <a:noFill/>
        </p:spPr>
        <p:txBody>
          <a:bodyPr wrap="square" lIns="0" rIns="0" tIns="0" bIns="0" anchor="t">
            <a:spAutoFit/>
          </a:bodyPr>
          <a:lstStyle/>
          <a:p>
            <a:pPr algn="l">
              <a:lnSpc>
                <a:spcPct val="108000"/>
              </a:lnSpc>
              <a:spcAft>
                <a:spcPts val="0"/>
              </a:spcAft>
            </a:pPr>
            <a:r>
              <a:rPr sz="1450" b="1">
                <a:solidFill>
                  <a:srgbClr val="0021A5"/>
                </a:solidFill>
                <a:latin typeface="Calibri"/>
              </a:rPr>
              <a:t>Reproducible from a committed config, against the real backend and a real model.</a:t>
            </a:r>
          </a:p>
        </p:txBody>
      </p:sp>
      <p:sp>
        <p:nvSpPr>
          <p:cNvPr id="27" name="Rectangle 26"/>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29" name="TextBox 28"/>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0789920" cy="594360"/>
          </a:xfrm>
          <a:prstGeom prst="rect">
            <a:avLst/>
          </a:prstGeom>
          <a:noFill/>
        </p:spPr>
        <p:txBody>
          <a:bodyPr wrap="square" lIns="0" rIns="0" tIns="0" bIns="0" anchor="t">
            <a:spAutoFit/>
          </a:bodyPr>
          <a:lstStyle/>
          <a:p>
            <a:pPr algn="l">
              <a:lnSpc>
                <a:spcPct val="108000"/>
              </a:lnSpc>
              <a:spcAft>
                <a:spcPts val="0"/>
              </a:spcAft>
            </a:pPr>
            <a:r>
              <a:rPr sz="2700" b="1">
                <a:solidFill>
                  <a:srgbClr val="0021A5"/>
                </a:solidFill>
                <a:latin typeface="Calibri"/>
              </a:rPr>
              <a:t>Discussion</a:t>
            </a:r>
          </a:p>
        </p:txBody>
      </p:sp>
      <p:sp>
        <p:nvSpPr>
          <p:cNvPr id="3" name="TextBox 2"/>
          <p:cNvSpPr txBox="1"/>
          <p:nvPr/>
        </p:nvSpPr>
        <p:spPr>
          <a:xfrm>
            <a:off x="731520" y="2377440"/>
            <a:ext cx="10515600" cy="1463040"/>
          </a:xfrm>
          <a:prstGeom prst="rect">
            <a:avLst/>
          </a:prstGeom>
          <a:noFill/>
        </p:spPr>
        <p:txBody>
          <a:bodyPr wrap="square" lIns="0" rIns="0" tIns="0" bIns="0" anchor="t">
            <a:spAutoFit/>
          </a:bodyPr>
          <a:lstStyle/>
          <a:p>
            <a:pPr algn="ctr">
              <a:lnSpc>
                <a:spcPct val="108000"/>
              </a:lnSpc>
              <a:spcAft>
                <a:spcPts val="0"/>
              </a:spcAft>
            </a:pPr>
            <a:r>
              <a:rPr sz="3400" b="1">
                <a:solidFill>
                  <a:srgbClr val="0021A5"/>
                </a:solidFill>
                <a:latin typeface="Calibri"/>
              </a:rPr>
              <a:t>What should we verify live next?</a:t>
            </a:r>
          </a:p>
        </p:txBody>
      </p:sp>
      <p:sp>
        <p:nvSpPr>
          <p:cNvPr id="4" name="TextBox 3"/>
          <p:cNvSpPr txBox="1"/>
          <p:nvPr/>
        </p:nvSpPr>
        <p:spPr>
          <a:xfrm>
            <a:off x="731520" y="3840480"/>
            <a:ext cx="10515600" cy="365760"/>
          </a:xfrm>
          <a:prstGeom prst="rect">
            <a:avLst/>
          </a:prstGeom>
          <a:noFill/>
        </p:spPr>
        <p:txBody>
          <a:bodyPr wrap="square" lIns="0" rIns="0" tIns="0" bIns="0" anchor="t">
            <a:spAutoFit/>
          </a:bodyPr>
          <a:lstStyle/>
          <a:p>
            <a:pPr algn="ctr">
              <a:lnSpc>
                <a:spcPct val="108000"/>
              </a:lnSpc>
              <a:spcAft>
                <a:spcPts val="0"/>
              </a:spcAft>
            </a:pPr>
            <a:r>
              <a:rPr sz="1500" b="0">
                <a:solidFill>
                  <a:srgbClr val="6B7A8F"/>
                </a:solidFill>
                <a:latin typeface="Calibri"/>
              </a:rPr>
              <a:t>Zero Trust  ·  the UI  ·  the AML Office — all toggleable, all live-verified</a:t>
            </a:r>
          </a:p>
        </p:txBody>
      </p:sp>
      <p:sp>
        <p:nvSpPr>
          <p:cNvPr id="5" name="TextBox 4"/>
          <p:cNvSpPr txBox="1"/>
          <p:nvPr/>
        </p:nvSpPr>
        <p:spPr>
          <a:xfrm>
            <a:off x="731520" y="4572000"/>
            <a:ext cx="10515600" cy="365760"/>
          </a:xfrm>
          <a:prstGeom prst="rect">
            <a:avLst/>
          </a:prstGeom>
          <a:noFill/>
        </p:spPr>
        <p:txBody>
          <a:bodyPr wrap="square" lIns="0" rIns="0" tIns="0" bIns="0" anchor="t">
            <a:spAutoFit/>
          </a:bodyPr>
          <a:lstStyle/>
          <a:p>
            <a:pPr algn="ctr">
              <a:lnSpc>
                <a:spcPct val="108000"/>
              </a:lnSpc>
              <a:spcAft>
                <a:spcPts val="0"/>
              </a:spcAft>
            </a:pPr>
            <a:r>
              <a:rPr sz="1300" b="0">
                <a:solidFill>
                  <a:srgbClr val="6B7A8F"/>
                </a:solidFill>
                <a:latin typeface="Calibri"/>
              </a:rPr>
              <a:t>Code, papers, and platform guide: the repository. Synthetic data only.</a:t>
            </a:r>
          </a:p>
        </p:txBody>
      </p:sp>
      <p:sp>
        <p:nvSpPr>
          <p:cNvPr id="6" name="Rectangle 5"/>
          <p:cNvSpPr/>
          <p:nvPr/>
        </p:nvSpPr>
        <p:spPr>
          <a:xfrm>
            <a:off x="502920" y="6382512"/>
            <a:ext cx="11183112" cy="10972"/>
          </a:xfrm>
          <a:prstGeom prst="rect">
            <a:avLst/>
          </a:prstGeom>
          <a:solidFill>
            <a:srgbClr val="CBD6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6473952"/>
            <a:ext cx="8686800" cy="274320"/>
          </a:xfrm>
          <a:prstGeom prst="rect">
            <a:avLst/>
          </a:prstGeom>
          <a:noFill/>
        </p:spPr>
        <p:txBody>
          <a:bodyPr wrap="square" lIns="0" rIns="0" tIns="0" bIns="0" anchor="t">
            <a:spAutoFit/>
          </a:bodyPr>
          <a:lstStyle/>
          <a:p>
            <a:pPr algn="l">
              <a:lnSpc>
                <a:spcPct val="108000"/>
              </a:lnSpc>
              <a:spcAft>
                <a:spcPts val="0"/>
              </a:spcAft>
            </a:pPr>
            <a:r>
              <a:rPr sz="850" b="0">
                <a:solidFill>
                  <a:srgbClr val="6B7A8F"/>
                </a:solidFill>
                <a:latin typeface="Calibri"/>
              </a:rPr>
              <a:t>U N I V E R S I T Y   O F   F L O R I D A   H E R B E R T   W E R T H E I M   C O L L E G E   O F   E N G I N E E R I N G</a:t>
            </a:r>
          </a:p>
        </p:txBody>
      </p:sp>
      <p:sp>
        <p:nvSpPr>
          <p:cNvPr id="8" name="TextBox 7"/>
          <p:cNvSpPr txBox="1"/>
          <p:nvPr/>
        </p:nvSpPr>
        <p:spPr>
          <a:xfrm>
            <a:off x="10881360" y="6473952"/>
            <a:ext cx="822960" cy="274320"/>
          </a:xfrm>
          <a:prstGeom prst="rect">
            <a:avLst/>
          </a:prstGeom>
          <a:noFill/>
        </p:spPr>
        <p:txBody>
          <a:bodyPr wrap="square" lIns="0" rIns="0" tIns="0" bIns="0" anchor="t">
            <a:spAutoFit/>
          </a:bodyPr>
          <a:lstStyle/>
          <a:p>
            <a:pPr algn="r">
              <a:lnSpc>
                <a:spcPct val="108000"/>
              </a:lnSpc>
              <a:spcAft>
                <a:spcPts val="0"/>
              </a:spcAft>
            </a:pPr>
            <a:r>
              <a:rPr sz="900" b="0">
                <a:solidFill>
                  <a:srgbClr val="6B7A8F"/>
                </a:solidFill>
                <a:latin typeface="Calibri"/>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