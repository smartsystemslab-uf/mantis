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I'm [Your Name]. Today I'm walking you through MANTIS — a banking multi-agent security and observability testbed I built. This is the Paper 1 research artifact: it's config-driven, it's fully instrumented, and everything I'm about to show you I've actually run live, not just written and hoped it works. Let's get into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problem I was starting from. Banks are already deploying multi-agent LLM systems — one agent reviews a transaction, another checks compliance, another decides whether to approve it. That's real and it's happening. But there's no standard way to actually test one of these systems under adversarial conditions — what happens if someone injects a malicious instruction, or spoofs a message between two agents, or tricks the system into skipping a compliance check? I built MANTIS to answer exactly that: take a real banking multi-agent system, and give it five fixed points where I can inject an attack, and see — with full observability — exactly what happens.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show you how it actually fits together. A YAML config drives an orchestrator, which runs the request through a hook bus — that's the core piece I designed. The hook bus has five fixed control points: input, agent, interaction, tool, and output. Every single request passes through all five, no matter which banking workflow it's hitting. An attack plugin — I'll show you the four I built in a minute — just registers itself at one of those points. It never touches the front office, mid office, or back office code underneath. And everything that happens gets pushed into an observability pipeline and scored by an evaluator. That separation is the whole design: attacks are declarative and swappable; the banking logic underneath never changes.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attacks, I want to be clear about scale, because this isn't a toy demo with three agents. I modularized an existing banking multi-agent system into thirty one agents across three domains, calling nineteen-plus real banking tools — get customer context, execute a transfer, apply ledger updates, that kind of thing. Every one of these numbers is live — mantis --inventory introspects the actual tool modules and agent registry, it's not a list I typed by hand and let go stale. That mattered to me, because I actually caught myself with a stale hand-typed list in the docs later — more on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five attack configurations I actually implemented, across four plugin types. Prompt injection targets the front office transaction monitor directly at the input stage. Message spoofing fakes a compliance clearance and injects it into the risk compliance agent's call to the model, mid rep-assist workflow. Route confusion forces the front office router to skip compliance entirely and jump straight to a decision. Tool parameter mutation rewrites the destination account on a live transfer call before it ever reaches the banking backend — and I shipped a second configuration of that same plugin against the back office, redirecting a validated end-of-day ledger post onto a different, unvalidated batch. That gives me all three domains covered, not just front and mid. All five go through the exact same plugin interface — same registration, same hook bus, same trace format. That was a deliberate choice: I didn't want five different one-off hacks, I wanted one contract every future attack plugin follows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let me actually show you this live instead of just talking about it. I'm going to run seven commands. First, inventory, so you can see the real system. Then validate an attack config — watch, if I typo an agent name it fails right here, not mid-run. Then I run the clean baseline so we have something to compare against. Then the actual attack — route confusion, same scenario. Now here's the important step: hook_coverage.json only proves the control point fired — that transfer_to_agent got called. It does NOT prove the attack plugin matched anything. I only found that distinction mattered because I went looking for the second, stronger signal — grep the trace for ATTACK_INJECTED — and it wasn't there. That's how I found a real bug: this plugin was checking the wrong argument name against the routing tool, so it had never once fired, in any run, ever, including real ones before today. Fixed now, covered by a regression test, still waiting on a live model to re-confirm end to end. Then evaluate — watch actual_outcome, that's the real terminal state, not a fixed placeholder. And finally, campaign mode — run all five attacks and get one report. [Switch to terminal now.]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show you one thing I'm actually proud of, because it's the difference between writing code and actually verifying it works. I built the message spoofing attack, wired it up, wrote a test — looked done. Then when I was verifying my observability fixes with a live run, I noticed the attack was firing — the hook was being called — but it never actually mutated anything. Ever. In any run. I dug in and found two bugs stacked on top of each other: my own runtime code was passing the literal string 'agent' as the sender identity instead of the real agent's name, and the shipped config was targeting an agent name that didn't even exist in the system. Two independent bugs, and together they meant this attack had never once done what it claimed to do. I fixed both, and verified it live — you can see the corrected event on the right, correctly identifying risk_compliance_agent.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I actually know all of this works, beyond just trusting my own code? I built layers of automated tests — a hundred twenty-five tests total, all offline, all running in seconds. But the one I trust most is the live validation suite, because that's the one that actually makes real LLM calls end to end, and it's exactly that kind of live check — not a green offline suite — that would have caught both the message-spoofing bug and the route-confusion bug I just showed you, sooner than it actually did. And here's concrete before-and-after proof: before my fixes, four of the ten hook points were permanently stuck at zero, no matter how many times I ran it. The workflow outcome was hardcoded to 'completed' regardless of what actually happened. After the fixes, same command, same file — every hook point fires, and the outcome reflects what the agent actually decided.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terms of project status: all eight work packages from the plan are done, and I mean genuinely done, not just checked off — verified against live runs, and re-verified. I went back through the plan's own definition of done — ten specific criteria — and checked my own work against it line by line, twice now. First pass found two gaps: run artifacts weren't capturing environment metadata, like the Python version and package versions, and the Zero Trust extension folder was completely empty. I fixed both. Second pass, going even deeper — actually grepping traces for the security event an attack emits, not just checking hook coverage — found a real bug in route confusion, one attack plugin that had never once fired, in any run, because it checked the wrong argument name. Also found and fixed a campaign-report bug that was silently dropping baseline runs. Both fixed, both tested. I'm showing you this because I think the willingness to keep re-checking your own 'done' work against the spec, and actually fix what you find, matters more than getting it perfect on the first pass.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two gaps I flagged before: both are actually implemented now. I built a zero-latency mock model — opt into it per benchmark config, no API key needed — and a volume-scaling mode that sweeps repetition counts instead of running just one. And here's the honest part: implementing the mock model didn't just fix the overhead benchmark, it taught me my original hypothesis was wrong. I assumed LLM latency was the dominant noise source. With it removed entirely, the off-versus-full comparison was still just as noisy — turns out spawning a fresh process per run costs more than the LLM call did. That's a better, more specific finding than what I started with, and I've already updated the paper to say that instead of the vaguer original claim. What's still genuinely open: a full statistical campaign with many trials per domain, and a way to amortize that per-process startup cost so instrumentation overhead can be measured cleanly on its own. Beyond that: a live model to re-confirm route confusion end to end and refresh the other attacks against current code, and real repeated-trial statistics for attack efficacy itself, not just latency, across domains and attack families. Beyond that: a minimal UI, Zero Trust as a separate paper, more exporters, and policy plugins through the same interface the attacks already use. That's it from me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22960" y="1874519"/>
            <a:ext cx="9144000" cy="365760"/>
          </a:xfrm>
          <a:prstGeom prst="rect">
            <a:avLst/>
          </a:prstGeom>
          <a:noFill/>
        </p:spPr>
        <p:txBody>
          <a:bodyPr wrap="square" anchor="t" lIns="0" rIns="0" tIns="0" bIns="0">
            <a:spAutoFit/>
          </a:bodyPr>
          <a:lstStyle/>
          <a:p>
            <a:pPr algn="l">
              <a:lnSpc>
                <a:spcPct val="100000"/>
              </a:lnSpc>
            </a:pPr>
            <a:r>
              <a:rPr sz="1400" b="1" i="0">
                <a:solidFill>
                  <a:srgbClr val="A6741C"/>
                </a:solidFill>
                <a:latin typeface="Consolas"/>
              </a:rPr>
              <a:t>RESEARCH ARTIFACT · PAPER 1</a:t>
            </a:r>
          </a:p>
        </p:txBody>
      </p:sp>
      <p:sp>
        <p:nvSpPr>
          <p:cNvPr id="3" name="TextBox 2"/>
          <p:cNvSpPr txBox="1"/>
          <p:nvPr/>
        </p:nvSpPr>
        <p:spPr>
          <a:xfrm>
            <a:off x="777240" y="2240280"/>
            <a:ext cx="10515600" cy="1463040"/>
          </a:xfrm>
          <a:prstGeom prst="rect">
            <a:avLst/>
          </a:prstGeom>
          <a:noFill/>
        </p:spPr>
        <p:txBody>
          <a:bodyPr wrap="square" anchor="t" lIns="0" rIns="0" tIns="0" bIns="0">
            <a:spAutoFit/>
          </a:bodyPr>
          <a:lstStyle/>
          <a:p>
            <a:pPr algn="l">
              <a:lnSpc>
                <a:spcPct val="100000"/>
              </a:lnSpc>
            </a:pPr>
            <a:r>
              <a:rPr sz="8400" b="1" i="1">
                <a:solidFill>
                  <a:srgbClr val="1C1E27"/>
                </a:solidFill>
                <a:latin typeface="Georgia"/>
              </a:rPr>
              <a:t>MANTIS</a:t>
            </a:r>
          </a:p>
        </p:txBody>
      </p:sp>
      <p:sp>
        <p:nvSpPr>
          <p:cNvPr id="4" name="TextBox 3"/>
          <p:cNvSpPr txBox="1"/>
          <p:nvPr/>
        </p:nvSpPr>
        <p:spPr>
          <a:xfrm>
            <a:off x="822960" y="3520440"/>
            <a:ext cx="9601200" cy="640080"/>
          </a:xfrm>
          <a:prstGeom prst="rect">
            <a:avLst/>
          </a:prstGeom>
          <a:noFill/>
        </p:spPr>
        <p:txBody>
          <a:bodyPr wrap="square" anchor="t" lIns="0" rIns="0" tIns="0" bIns="0">
            <a:spAutoFit/>
          </a:bodyPr>
          <a:lstStyle/>
          <a:p>
            <a:pPr algn="l">
              <a:lnSpc>
                <a:spcPct val="100000"/>
              </a:lnSpc>
            </a:pPr>
            <a:r>
              <a:rPr sz="2300" b="0" i="0">
                <a:solidFill>
                  <a:srgbClr val="5B6072"/>
                </a:solidFill>
                <a:latin typeface="Calibri"/>
              </a:rPr>
              <a:t>A banking multi-agent security testbed I built</a:t>
            </a:r>
          </a:p>
        </p:txBody>
      </p:sp>
      <p:sp>
        <p:nvSpPr>
          <p:cNvPr id="5" name="TextBox 4"/>
          <p:cNvSpPr txBox="1"/>
          <p:nvPr/>
        </p:nvSpPr>
        <p:spPr>
          <a:xfrm>
            <a:off x="822960" y="5623560"/>
            <a:ext cx="8229600" cy="365760"/>
          </a:xfrm>
          <a:prstGeom prst="rect">
            <a:avLst/>
          </a:prstGeom>
          <a:noFill/>
        </p:spPr>
        <p:txBody>
          <a:bodyPr wrap="square" anchor="t" lIns="0" rIns="0" tIns="0" bIns="0">
            <a:spAutoFit/>
          </a:bodyPr>
          <a:lstStyle/>
          <a:p>
            <a:pPr algn="l">
              <a:lnSpc>
                <a:spcPct val="100000"/>
              </a:lnSpc>
            </a:pPr>
            <a:r>
              <a:rPr sz="1400" b="0" i="0">
                <a:solidFill>
                  <a:srgbClr val="5B6072"/>
                </a:solidFill>
                <a:latin typeface="Consolas"/>
              </a:rPr>
              <a:t>[Your Name]  ·  Paper 1 Research Artifact  ·  2026-09-07</a:t>
            </a:r>
          </a:p>
        </p:txBody>
      </p:sp>
      <p:sp>
        <p:nvSpPr>
          <p:cNvPr id="6" name="TextBox 5"/>
          <p:cNvSpPr txBox="1"/>
          <p:nvPr/>
        </p:nvSpPr>
        <p:spPr>
          <a:xfrm>
            <a:off x="822960" y="5989320"/>
            <a:ext cx="9601200" cy="36576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github.com/smartsystemslab-uf/MANTIS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WHY I BUILT THIS</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800" b="1" i="1">
                <a:solidFill>
                  <a:srgbClr val="1C1E27"/>
                </a:solidFill>
                <a:latin typeface="Georgia"/>
              </a:rPr>
              <a:t>There was no standard way to attack-test</a:t>
            </a:r>
          </a:p>
          <a:p>
            <a:pPr algn="l">
              <a:lnSpc>
                <a:spcPct val="100000"/>
              </a:lnSpc>
            </a:pPr>
            <a:r>
              <a:rPr sz="2800" b="1" i="1">
                <a:solidFill>
                  <a:srgbClr val="1C1E27"/>
                </a:solidFill>
                <a:latin typeface="Georgia"/>
              </a:rPr>
              <a:t>a banking multi-agent system</a:t>
            </a:r>
          </a:p>
        </p:txBody>
      </p:sp>
      <p:sp>
        <p:nvSpPr>
          <p:cNvPr id="4" name="TextBox 3"/>
          <p:cNvSpPr txBox="1"/>
          <p:nvPr/>
        </p:nvSpPr>
        <p:spPr>
          <a:xfrm>
            <a:off x="640080" y="1965960"/>
            <a:ext cx="10789920" cy="3931920"/>
          </a:xfrm>
          <a:prstGeom prst="rect">
            <a:avLst/>
          </a:prstGeom>
          <a:noFill/>
        </p:spPr>
        <p:txBody>
          <a:bodyPr wrap="square" lIns="0" rIns="0">
            <a:spAutoFit/>
          </a:bodyPr>
          <a:lstStyle/>
          <a:p>
            <a:pPr>
              <a:spcAft>
                <a:spcPts val="1800"/>
              </a:spcAft>
            </a:pPr>
            <a:r>
              <a:rPr sz="1800" b="1">
                <a:solidFill>
                  <a:srgbClr val="A6741C"/>
                </a:solidFill>
                <a:latin typeface="Calibri"/>
              </a:rPr>
              <a:t>—  </a:t>
            </a:r>
            <a:r>
              <a:rPr sz="1800" b="1">
                <a:solidFill>
                  <a:srgbClr val="1C1E27"/>
                </a:solidFill>
                <a:latin typeface="Calibri"/>
              </a:rPr>
              <a:t>The gap. </a:t>
            </a:r>
            <a:r>
              <a:rPr sz="1800">
                <a:solidFill>
                  <a:srgbClr val="5B6072"/>
                </a:solidFill>
                <a:latin typeface="Calibri"/>
              </a:rPr>
              <a:t>Multi-agent LLM systems are already handling fraud review, operations planning, and reconciliation in banking — but adversarial testing for them is ad hoc, one-off, per-project.</a:t>
            </a:r>
          </a:p>
          <a:p>
            <a:pPr>
              <a:spcAft>
                <a:spcPts val="1800"/>
              </a:spcAft>
            </a:pPr>
            <a:r>
              <a:rPr sz="1800" b="1">
                <a:solidFill>
                  <a:srgbClr val="A6741C"/>
                </a:solidFill>
                <a:latin typeface="Calibri"/>
              </a:rPr>
              <a:t>—  </a:t>
            </a:r>
            <a:r>
              <a:rPr sz="1800" b="1">
                <a:solidFill>
                  <a:srgbClr val="1C1E27"/>
                </a:solidFill>
                <a:latin typeface="Calibri"/>
              </a:rPr>
              <a:t>What I set out to do. </a:t>
            </a:r>
            <a:r>
              <a:rPr sz="1800">
                <a:solidFill>
                  <a:srgbClr val="5B6072"/>
                </a:solidFill>
                <a:latin typeface="Calibri"/>
              </a:rPr>
              <a:t>Take a real banking multi-agent system and instrument it at five fixed control points, so an attack is a YAML file, not a code change.</a:t>
            </a:r>
          </a:p>
          <a:p>
            <a:pPr>
              <a:spcAft>
                <a:spcPts val="1800"/>
              </a:spcAft>
            </a:pPr>
            <a:r>
              <a:rPr sz="1800" b="1">
                <a:solidFill>
                  <a:srgbClr val="A6741C"/>
                </a:solidFill>
                <a:latin typeface="Calibri"/>
              </a:rPr>
              <a:t>—  </a:t>
            </a:r>
            <a:r>
              <a:rPr sz="1800" b="1">
                <a:solidFill>
                  <a:srgbClr val="1C1E27"/>
                </a:solidFill>
                <a:latin typeface="Calibri"/>
              </a:rPr>
              <a:t>The constraint I held myself to. </a:t>
            </a:r>
            <a:r>
              <a:rPr sz="1800">
                <a:solidFill>
                  <a:srgbClr val="5B6072"/>
                </a:solidFill>
                <a:latin typeface="Calibri"/>
              </a:rPr>
              <a:t>Don't touch the banking business logic. If I have to edit the fraud agent to add an experiment, I've failed the design.</a:t>
            </a:r>
          </a:p>
        </p:txBody>
      </p:sp>
      <p:sp>
        <p:nvSpPr>
          <p:cNvPr id="5" name="TextBox 4"/>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6" name="TextBox 5"/>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ARCHITECTURE</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1">
                <a:solidFill>
                  <a:srgbClr val="1C1E27"/>
                </a:solidFill>
                <a:latin typeface="Georgia"/>
              </a:rPr>
              <a:t>Where I made attacks attach</a:t>
            </a:r>
          </a:p>
        </p:txBody>
      </p:sp>
      <p:sp>
        <p:nvSpPr>
          <p:cNvPr id="4" name="TextBox 3"/>
          <p:cNvSpPr txBox="1"/>
          <p:nvPr/>
        </p:nvSpPr>
        <p:spPr>
          <a:xfrm>
            <a:off x="640080" y="1325880"/>
            <a:ext cx="10789920" cy="457200"/>
          </a:xfrm>
          <a:prstGeom prst="rect">
            <a:avLst/>
          </a:prstGeom>
          <a:noFill/>
        </p:spPr>
        <p:txBody>
          <a:bodyPr wrap="square" anchor="t" lIns="0" rIns="0" tIns="0" bIns="0">
            <a:spAutoFit/>
          </a:bodyPr>
          <a:lstStyle/>
          <a:p>
            <a:pPr algn="l">
              <a:lnSpc>
                <a:spcPct val="100000"/>
              </a:lnSpc>
            </a:pPr>
            <a:r>
              <a:rPr sz="1400" b="0" i="1">
                <a:solidFill>
                  <a:srgbClr val="5B6072"/>
                </a:solidFill>
                <a:latin typeface="Calibri"/>
              </a:rPr>
              <a:t>The banking agents never know a plugin is there — attacks tap the hook bus from the side.</a:t>
            </a:r>
          </a:p>
        </p:txBody>
      </p:sp>
      <p:sp>
        <p:nvSpPr>
          <p:cNvPr id="5" name="Rounded Rectangle 4"/>
          <p:cNvSpPr/>
          <p:nvPr/>
        </p:nvSpPr>
        <p:spPr>
          <a:xfrm>
            <a:off x="4480560" y="1874519"/>
            <a:ext cx="3200400" cy="457200"/>
          </a:xfrm>
          <a:prstGeom prst="roundRect">
            <a:avLst>
              <a:gd name="adj" fmla="val 15000"/>
            </a:avLst>
          </a:prstGeom>
          <a:solidFill>
            <a:srgbClr val="FFFFF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60" y="1874519"/>
            <a:ext cx="3200400" cy="457200"/>
          </a:xfrm>
          <a:prstGeom prst="rect">
            <a:avLst/>
          </a:prstGeom>
          <a:noFill/>
        </p:spPr>
        <p:txBody>
          <a:bodyPr wrap="square" anchor="ctr" lIns="0" rIns="0" tIns="0" bIns="0">
            <a:spAutoFit/>
          </a:bodyPr>
          <a:lstStyle/>
          <a:p>
            <a:pPr algn="ctr">
              <a:lnSpc>
                <a:spcPct val="100000"/>
              </a:lnSpc>
            </a:pPr>
            <a:r>
              <a:rPr sz="1300" b="0" i="0">
                <a:solidFill>
                  <a:srgbClr val="1C1E27"/>
                </a:solidFill>
                <a:latin typeface="Consolas"/>
              </a:rPr>
              <a:t>experiment.yaml</a:t>
            </a:r>
          </a:p>
        </p:txBody>
      </p:sp>
      <p:cxnSp>
        <p:nvCxnSpPr>
          <p:cNvPr id="7" name="Connector 6"/>
          <p:cNvCxnSpPr/>
          <p:nvPr/>
        </p:nvCxnSpPr>
        <p:spPr>
          <a:xfrm>
            <a:off x="5394960" y="2331720"/>
            <a:ext cx="0" cy="274320"/>
          </a:xfrm>
          <a:prstGeom prst="line">
            <a:avLst/>
          </a:prstGeom>
          <a:ln w="19050">
            <a:solidFill>
              <a:srgbClr val="1C1E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914400" y="2606040"/>
            <a:ext cx="10332720" cy="1371600"/>
          </a:xfrm>
          <a:prstGeom prst="roundRect">
            <a:avLst>
              <a:gd name="adj" fmla="val 6000"/>
            </a:avLst>
          </a:prstGeom>
          <a:solidFill>
            <a:srgbClr val="FFFFFF"/>
          </a:solidFill>
          <a:ln w="22225">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724912"/>
            <a:ext cx="5486400" cy="274320"/>
          </a:xfrm>
          <a:prstGeom prst="rect">
            <a:avLst/>
          </a:prstGeom>
          <a:noFill/>
        </p:spPr>
        <p:txBody>
          <a:bodyPr wrap="square" anchor="t" lIns="0" rIns="0" tIns="0" bIns="0">
            <a:spAutoFit/>
          </a:bodyPr>
          <a:lstStyle/>
          <a:p>
            <a:pPr algn="l">
              <a:lnSpc>
                <a:spcPct val="100000"/>
              </a:lnSpc>
            </a:pPr>
            <a:r>
              <a:rPr sz="1100" b="1" i="0">
                <a:solidFill>
                  <a:srgbClr val="5B6072"/>
                </a:solidFill>
                <a:latin typeface="Consolas"/>
              </a:rPr>
              <a:t>HOOK BUS — FIVE CONTROL POINTS I INSTRUMENTED</a:t>
            </a:r>
          </a:p>
        </p:txBody>
      </p:sp>
      <p:sp>
        <p:nvSpPr>
          <p:cNvPr id="10" name="Rounded Rectangle 9"/>
          <p:cNvSpPr/>
          <p:nvPr/>
        </p:nvSpPr>
        <p:spPr>
          <a:xfrm>
            <a:off x="1371600" y="3246120"/>
            <a:ext cx="1371600" cy="566928"/>
          </a:xfrm>
          <a:prstGeom prst="roundRect">
            <a:avLst>
              <a:gd name="adj" fmla="val 50000"/>
            </a:avLst>
          </a:prstGeom>
          <a:solidFill>
            <a:srgbClr val="F7F5E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71600" y="3246120"/>
            <a:ext cx="1371600" cy="566928"/>
          </a:xfrm>
          <a:prstGeom prst="rect">
            <a:avLst/>
          </a:prstGeom>
          <a:noFill/>
        </p:spPr>
        <p:txBody>
          <a:bodyPr wrap="square" anchor="ctr" lIns="0" rIns="0" tIns="0" bIns="0">
            <a:spAutoFit/>
          </a:bodyPr>
          <a:lstStyle/>
          <a:p>
            <a:pPr algn="ctr">
              <a:lnSpc>
                <a:spcPct val="100000"/>
              </a:lnSpc>
            </a:pPr>
            <a:r>
              <a:rPr sz="1300" b="1" i="0">
                <a:solidFill>
                  <a:srgbClr val="1C1E27"/>
                </a:solidFill>
                <a:latin typeface="Calibri"/>
              </a:rPr>
              <a:t>Input</a:t>
            </a:r>
          </a:p>
        </p:txBody>
      </p:sp>
      <p:sp>
        <p:nvSpPr>
          <p:cNvPr id="12" name="Rounded Rectangle 11"/>
          <p:cNvSpPr/>
          <p:nvPr/>
        </p:nvSpPr>
        <p:spPr>
          <a:xfrm>
            <a:off x="3337560" y="3246120"/>
            <a:ext cx="1371600" cy="566928"/>
          </a:xfrm>
          <a:prstGeom prst="roundRect">
            <a:avLst>
              <a:gd name="adj" fmla="val 50000"/>
            </a:avLst>
          </a:prstGeom>
          <a:solidFill>
            <a:srgbClr val="F7F5E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3246120"/>
            <a:ext cx="1371600" cy="566928"/>
          </a:xfrm>
          <a:prstGeom prst="rect">
            <a:avLst/>
          </a:prstGeom>
          <a:noFill/>
        </p:spPr>
        <p:txBody>
          <a:bodyPr wrap="square" anchor="ctr" lIns="0" rIns="0" tIns="0" bIns="0">
            <a:spAutoFit/>
          </a:bodyPr>
          <a:lstStyle/>
          <a:p>
            <a:pPr algn="ctr">
              <a:lnSpc>
                <a:spcPct val="100000"/>
              </a:lnSpc>
            </a:pPr>
            <a:r>
              <a:rPr sz="1300" b="1" i="0">
                <a:solidFill>
                  <a:srgbClr val="1C1E27"/>
                </a:solidFill>
                <a:latin typeface="Calibri"/>
              </a:rPr>
              <a:t>Agent</a:t>
            </a:r>
          </a:p>
        </p:txBody>
      </p:sp>
      <p:sp>
        <p:nvSpPr>
          <p:cNvPr id="14" name="Rounded Rectangle 13"/>
          <p:cNvSpPr/>
          <p:nvPr/>
        </p:nvSpPr>
        <p:spPr>
          <a:xfrm>
            <a:off x="5303520" y="3246120"/>
            <a:ext cx="1371600" cy="566928"/>
          </a:xfrm>
          <a:prstGeom prst="roundRect">
            <a:avLst>
              <a:gd name="adj" fmla="val 50000"/>
            </a:avLst>
          </a:prstGeom>
          <a:solidFill>
            <a:srgbClr val="F7F5E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03520" y="3246120"/>
            <a:ext cx="1371600" cy="566928"/>
          </a:xfrm>
          <a:prstGeom prst="rect">
            <a:avLst/>
          </a:prstGeom>
          <a:noFill/>
        </p:spPr>
        <p:txBody>
          <a:bodyPr wrap="square" anchor="ctr" lIns="0" rIns="0" tIns="0" bIns="0">
            <a:spAutoFit/>
          </a:bodyPr>
          <a:lstStyle/>
          <a:p>
            <a:pPr algn="ctr">
              <a:lnSpc>
                <a:spcPct val="100000"/>
              </a:lnSpc>
            </a:pPr>
            <a:r>
              <a:rPr sz="1300" b="1" i="0">
                <a:solidFill>
                  <a:srgbClr val="1C1E27"/>
                </a:solidFill>
                <a:latin typeface="Calibri"/>
              </a:rPr>
              <a:t>Interaction</a:t>
            </a:r>
          </a:p>
        </p:txBody>
      </p:sp>
      <p:sp>
        <p:nvSpPr>
          <p:cNvPr id="16" name="Rounded Rectangle 15"/>
          <p:cNvSpPr/>
          <p:nvPr/>
        </p:nvSpPr>
        <p:spPr>
          <a:xfrm>
            <a:off x="7269480" y="3246120"/>
            <a:ext cx="1371600" cy="566928"/>
          </a:xfrm>
          <a:prstGeom prst="roundRect">
            <a:avLst>
              <a:gd name="adj" fmla="val 50000"/>
            </a:avLst>
          </a:prstGeom>
          <a:solidFill>
            <a:srgbClr val="F7F5E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80" y="3246120"/>
            <a:ext cx="1371600" cy="566928"/>
          </a:xfrm>
          <a:prstGeom prst="rect">
            <a:avLst/>
          </a:prstGeom>
          <a:noFill/>
        </p:spPr>
        <p:txBody>
          <a:bodyPr wrap="square" anchor="ctr" lIns="0" rIns="0" tIns="0" bIns="0">
            <a:spAutoFit/>
          </a:bodyPr>
          <a:lstStyle/>
          <a:p>
            <a:pPr algn="ctr">
              <a:lnSpc>
                <a:spcPct val="100000"/>
              </a:lnSpc>
            </a:pPr>
            <a:r>
              <a:rPr sz="1300" b="1" i="0">
                <a:solidFill>
                  <a:srgbClr val="1C1E27"/>
                </a:solidFill>
                <a:latin typeface="Calibri"/>
              </a:rPr>
              <a:t>Tool</a:t>
            </a:r>
          </a:p>
        </p:txBody>
      </p:sp>
      <p:sp>
        <p:nvSpPr>
          <p:cNvPr id="18" name="Rounded Rectangle 17"/>
          <p:cNvSpPr/>
          <p:nvPr/>
        </p:nvSpPr>
        <p:spPr>
          <a:xfrm>
            <a:off x="9235440" y="3246120"/>
            <a:ext cx="1371600" cy="566928"/>
          </a:xfrm>
          <a:prstGeom prst="roundRect">
            <a:avLst>
              <a:gd name="adj" fmla="val 50000"/>
            </a:avLst>
          </a:prstGeom>
          <a:solidFill>
            <a:srgbClr val="F7F5E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0" y="3246120"/>
            <a:ext cx="1371600" cy="566928"/>
          </a:xfrm>
          <a:prstGeom prst="rect">
            <a:avLst/>
          </a:prstGeom>
          <a:noFill/>
        </p:spPr>
        <p:txBody>
          <a:bodyPr wrap="square" anchor="ctr" lIns="0" rIns="0" tIns="0" bIns="0">
            <a:spAutoFit/>
          </a:bodyPr>
          <a:lstStyle/>
          <a:p>
            <a:pPr algn="ctr">
              <a:lnSpc>
                <a:spcPct val="100000"/>
              </a:lnSpc>
            </a:pPr>
            <a:r>
              <a:rPr sz="1300" b="1" i="0">
                <a:solidFill>
                  <a:srgbClr val="1C1E27"/>
                </a:solidFill>
                <a:latin typeface="Calibri"/>
              </a:rPr>
              <a:t>Output</a:t>
            </a:r>
          </a:p>
        </p:txBody>
      </p:sp>
      <p:cxnSp>
        <p:nvCxnSpPr>
          <p:cNvPr id="20" name="Connector 19"/>
          <p:cNvCxnSpPr/>
          <p:nvPr/>
        </p:nvCxnSpPr>
        <p:spPr>
          <a:xfrm>
            <a:off x="5989320" y="3813048"/>
            <a:ext cx="1463040" cy="530352"/>
          </a:xfrm>
          <a:prstGeom prst="line">
            <a:avLst/>
          </a:prstGeom>
          <a:ln w="25400">
            <a:solidFill>
              <a:srgbClr val="A6741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903720" y="4370832"/>
            <a:ext cx="3291840" cy="502920"/>
          </a:xfrm>
          <a:prstGeom prst="roundRect">
            <a:avLst>
              <a:gd name="adj" fmla="val 15000"/>
            </a:avLst>
          </a:prstGeom>
          <a:solidFill>
            <a:srgbClr val="EDE0C4"/>
          </a:solidFill>
          <a:ln w="19050">
            <a:solidFill>
              <a:srgbClr val="A674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4370832"/>
            <a:ext cx="3291840" cy="502920"/>
          </a:xfrm>
          <a:prstGeom prst="rect">
            <a:avLst/>
          </a:prstGeom>
          <a:noFill/>
        </p:spPr>
        <p:txBody>
          <a:bodyPr wrap="square" anchor="ctr" lIns="0" rIns="0" tIns="0" bIns="0">
            <a:spAutoFit/>
          </a:bodyPr>
          <a:lstStyle/>
          <a:p>
            <a:pPr algn="ctr">
              <a:lnSpc>
                <a:spcPct val="100000"/>
              </a:lnSpc>
            </a:pPr>
            <a:r>
              <a:rPr sz="1300" b="1" i="0">
                <a:solidFill>
                  <a:srgbClr val="A6741C"/>
                </a:solidFill>
                <a:latin typeface="Calibri"/>
              </a:rPr>
              <a:t>Attack / Failure Plugin</a:t>
            </a:r>
          </a:p>
        </p:txBody>
      </p:sp>
      <p:sp>
        <p:nvSpPr>
          <p:cNvPr id="23" name="TextBox 22"/>
          <p:cNvSpPr txBox="1"/>
          <p:nvPr/>
        </p:nvSpPr>
        <p:spPr>
          <a:xfrm>
            <a:off x="6126480" y="3977639"/>
            <a:ext cx="2377440" cy="320040"/>
          </a:xfrm>
          <a:prstGeom prst="rect">
            <a:avLst/>
          </a:prstGeom>
          <a:noFill/>
        </p:spPr>
        <p:txBody>
          <a:bodyPr wrap="square" anchor="t" lIns="0" rIns="0" tIns="0" bIns="0">
            <a:spAutoFit/>
          </a:bodyPr>
          <a:lstStyle/>
          <a:p>
            <a:pPr algn="l">
              <a:lnSpc>
                <a:spcPct val="100000"/>
              </a:lnSpc>
            </a:pPr>
            <a:r>
              <a:rPr sz="1050" b="0" i="1">
                <a:solidFill>
                  <a:srgbClr val="A6741C"/>
                </a:solidFill>
                <a:latin typeface="Consolas"/>
              </a:rPr>
              <a:t>attaches to any point</a:t>
            </a:r>
          </a:p>
        </p:txBody>
      </p:sp>
      <p:cxnSp>
        <p:nvCxnSpPr>
          <p:cNvPr id="24" name="Connector 23"/>
          <p:cNvCxnSpPr/>
          <p:nvPr/>
        </p:nvCxnSpPr>
        <p:spPr>
          <a:xfrm>
            <a:off x="5394960" y="3977639"/>
            <a:ext cx="0" cy="1051561"/>
          </a:xfrm>
          <a:prstGeom prst="line">
            <a:avLst/>
          </a:prstGeom>
          <a:ln w="19050">
            <a:solidFill>
              <a:srgbClr val="1C1E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32120" y="4069080"/>
            <a:ext cx="2377440" cy="274320"/>
          </a:xfrm>
          <a:prstGeom prst="rect">
            <a:avLst/>
          </a:prstGeom>
          <a:noFill/>
        </p:spPr>
        <p:txBody>
          <a:bodyPr wrap="square" anchor="t" lIns="0" rIns="0" tIns="0" bIns="0">
            <a:spAutoFit/>
          </a:bodyPr>
          <a:lstStyle/>
          <a:p>
            <a:pPr algn="l">
              <a:lnSpc>
                <a:spcPct val="100000"/>
              </a:lnSpc>
            </a:pPr>
            <a:r>
              <a:rPr sz="1050" b="0" i="1">
                <a:solidFill>
                  <a:srgbClr val="5B6072"/>
                </a:solidFill>
                <a:latin typeface="Consolas"/>
              </a:rPr>
              <a:t>instruments, unmodified</a:t>
            </a:r>
          </a:p>
        </p:txBody>
      </p:sp>
      <p:sp>
        <p:nvSpPr>
          <p:cNvPr id="26" name="Rounded Rectangle 25"/>
          <p:cNvSpPr/>
          <p:nvPr/>
        </p:nvSpPr>
        <p:spPr>
          <a:xfrm>
            <a:off x="914400" y="5029200"/>
            <a:ext cx="3200400" cy="685800"/>
          </a:xfrm>
          <a:prstGeom prst="roundRect">
            <a:avLst>
              <a:gd name="adj" fmla="val 10000"/>
            </a:avLst>
          </a:prstGeom>
          <a:solidFill>
            <a:srgbClr val="FFFFF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5102352"/>
            <a:ext cx="2926080" cy="320040"/>
          </a:xfrm>
          <a:prstGeom prst="rect">
            <a:avLst/>
          </a:prstGeom>
          <a:noFill/>
        </p:spPr>
        <p:txBody>
          <a:bodyPr wrap="square" anchor="t" lIns="0" rIns="0" tIns="0" bIns="0">
            <a:spAutoFit/>
          </a:bodyPr>
          <a:lstStyle/>
          <a:p>
            <a:pPr algn="l">
              <a:lnSpc>
                <a:spcPct val="100000"/>
              </a:lnSpc>
            </a:pPr>
            <a:r>
              <a:rPr sz="1400" b="1" i="0">
                <a:solidFill>
                  <a:srgbClr val="1C1E27"/>
                </a:solidFill>
                <a:latin typeface="Calibri"/>
              </a:rPr>
              <a:t>Front Office</a:t>
            </a:r>
          </a:p>
        </p:txBody>
      </p:sp>
      <p:sp>
        <p:nvSpPr>
          <p:cNvPr id="28" name="TextBox 27"/>
          <p:cNvSpPr txBox="1"/>
          <p:nvPr/>
        </p:nvSpPr>
        <p:spPr>
          <a:xfrm>
            <a:off x="1051560" y="5413248"/>
            <a:ext cx="2926080" cy="274320"/>
          </a:xfrm>
          <a:prstGeom prst="rect">
            <a:avLst/>
          </a:prstGeom>
          <a:noFill/>
        </p:spPr>
        <p:txBody>
          <a:bodyPr wrap="square" anchor="t" lIns="0" rIns="0" tIns="0" bIns="0">
            <a:spAutoFit/>
          </a:bodyPr>
          <a:lstStyle/>
          <a:p>
            <a:pPr algn="l">
              <a:lnSpc>
                <a:spcPct val="100000"/>
              </a:lnSpc>
            </a:pPr>
            <a:r>
              <a:rPr sz="1050" b="0" i="0">
                <a:solidFill>
                  <a:srgbClr val="5B6072"/>
                </a:solidFill>
                <a:latin typeface="Calibri"/>
              </a:rPr>
              <a:t>monitoring · fraud · compliance</a:t>
            </a:r>
          </a:p>
        </p:txBody>
      </p:sp>
      <p:sp>
        <p:nvSpPr>
          <p:cNvPr id="29" name="Rounded Rectangle 28"/>
          <p:cNvSpPr/>
          <p:nvPr/>
        </p:nvSpPr>
        <p:spPr>
          <a:xfrm>
            <a:off x="4480560" y="5029200"/>
            <a:ext cx="3200400" cy="685800"/>
          </a:xfrm>
          <a:prstGeom prst="roundRect">
            <a:avLst>
              <a:gd name="adj" fmla="val 10000"/>
            </a:avLst>
          </a:prstGeom>
          <a:solidFill>
            <a:srgbClr val="FFFFF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17720" y="5102352"/>
            <a:ext cx="2926080" cy="320040"/>
          </a:xfrm>
          <a:prstGeom prst="rect">
            <a:avLst/>
          </a:prstGeom>
          <a:noFill/>
        </p:spPr>
        <p:txBody>
          <a:bodyPr wrap="square" anchor="t" lIns="0" rIns="0" tIns="0" bIns="0">
            <a:spAutoFit/>
          </a:bodyPr>
          <a:lstStyle/>
          <a:p>
            <a:pPr algn="l">
              <a:lnSpc>
                <a:spcPct val="100000"/>
              </a:lnSpc>
            </a:pPr>
            <a:r>
              <a:rPr sz="1400" b="1" i="0">
                <a:solidFill>
                  <a:srgbClr val="1C1E27"/>
                </a:solidFill>
                <a:latin typeface="Calibri"/>
              </a:rPr>
              <a:t>Mid Office</a:t>
            </a:r>
          </a:p>
        </p:txBody>
      </p:sp>
      <p:sp>
        <p:nvSpPr>
          <p:cNvPr id="31" name="TextBox 30"/>
          <p:cNvSpPr txBox="1"/>
          <p:nvPr/>
        </p:nvSpPr>
        <p:spPr>
          <a:xfrm>
            <a:off x="4617720" y="5413248"/>
            <a:ext cx="2926080" cy="274320"/>
          </a:xfrm>
          <a:prstGeom prst="rect">
            <a:avLst/>
          </a:prstGeom>
          <a:noFill/>
        </p:spPr>
        <p:txBody>
          <a:bodyPr wrap="square" anchor="t" lIns="0" rIns="0" tIns="0" bIns="0">
            <a:spAutoFit/>
          </a:bodyPr>
          <a:lstStyle/>
          <a:p>
            <a:pPr algn="l">
              <a:lnSpc>
                <a:spcPct val="100000"/>
              </a:lnSpc>
            </a:pPr>
            <a:r>
              <a:rPr sz="1050" b="0" i="0">
                <a:solidFill>
                  <a:srgbClr val="5B6072"/>
                </a:solidFill>
                <a:latin typeface="Calibri"/>
              </a:rPr>
              <a:t>planning · rep assist</a:t>
            </a:r>
          </a:p>
        </p:txBody>
      </p:sp>
      <p:sp>
        <p:nvSpPr>
          <p:cNvPr id="32" name="Rounded Rectangle 31"/>
          <p:cNvSpPr/>
          <p:nvPr/>
        </p:nvSpPr>
        <p:spPr>
          <a:xfrm>
            <a:off x="8046720" y="5029200"/>
            <a:ext cx="3200400" cy="685800"/>
          </a:xfrm>
          <a:prstGeom prst="roundRect">
            <a:avLst>
              <a:gd name="adj" fmla="val 10000"/>
            </a:avLst>
          </a:prstGeom>
          <a:solidFill>
            <a:srgbClr val="FFFFF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83880" y="5102352"/>
            <a:ext cx="2926080" cy="320040"/>
          </a:xfrm>
          <a:prstGeom prst="rect">
            <a:avLst/>
          </a:prstGeom>
          <a:noFill/>
        </p:spPr>
        <p:txBody>
          <a:bodyPr wrap="square" anchor="t" lIns="0" rIns="0" tIns="0" bIns="0">
            <a:spAutoFit/>
          </a:bodyPr>
          <a:lstStyle/>
          <a:p>
            <a:pPr algn="l">
              <a:lnSpc>
                <a:spcPct val="100000"/>
              </a:lnSpc>
            </a:pPr>
            <a:r>
              <a:rPr sz="1400" b="1" i="0">
                <a:solidFill>
                  <a:srgbClr val="1C1E27"/>
                </a:solidFill>
                <a:latin typeface="Calibri"/>
              </a:rPr>
              <a:t>Back Office</a:t>
            </a:r>
          </a:p>
        </p:txBody>
      </p:sp>
      <p:sp>
        <p:nvSpPr>
          <p:cNvPr id="34" name="TextBox 33"/>
          <p:cNvSpPr txBox="1"/>
          <p:nvPr/>
        </p:nvSpPr>
        <p:spPr>
          <a:xfrm>
            <a:off x="8183880" y="5413248"/>
            <a:ext cx="2926080" cy="274320"/>
          </a:xfrm>
          <a:prstGeom prst="rect">
            <a:avLst/>
          </a:prstGeom>
          <a:noFill/>
        </p:spPr>
        <p:txBody>
          <a:bodyPr wrap="square" anchor="t" lIns="0" rIns="0" tIns="0" bIns="0">
            <a:spAutoFit/>
          </a:bodyPr>
          <a:lstStyle/>
          <a:p>
            <a:pPr algn="l">
              <a:lnSpc>
                <a:spcPct val="100000"/>
              </a:lnSpc>
            </a:pPr>
            <a:r>
              <a:rPr sz="1050" b="0" i="0">
                <a:solidFill>
                  <a:srgbClr val="5B6072"/>
                </a:solidFill>
                <a:latin typeface="Calibri"/>
              </a:rPr>
              <a:t>EOD · reconciliation</a:t>
            </a:r>
          </a:p>
        </p:txBody>
      </p:sp>
      <p:sp>
        <p:nvSpPr>
          <p:cNvPr id="35" name="TextBox 34"/>
          <p:cNvSpPr txBox="1"/>
          <p:nvPr/>
        </p:nvSpPr>
        <p:spPr>
          <a:xfrm>
            <a:off x="10058400" y="5806440"/>
            <a:ext cx="2011680" cy="365760"/>
          </a:xfrm>
          <a:prstGeom prst="rect">
            <a:avLst/>
          </a:prstGeom>
          <a:noFill/>
        </p:spPr>
        <p:txBody>
          <a:bodyPr wrap="square" anchor="t" lIns="0" rIns="0" tIns="0" bIns="0">
            <a:spAutoFit/>
          </a:bodyPr>
          <a:lstStyle/>
          <a:p>
            <a:pPr algn="r">
              <a:lnSpc>
                <a:spcPct val="100000"/>
              </a:lnSpc>
            </a:pPr>
            <a:r>
              <a:rPr sz="1100" b="0" i="1">
                <a:solidFill>
                  <a:srgbClr val="5B6072"/>
                </a:solidFill>
                <a:latin typeface="Consolas"/>
              </a:rPr>
              <a:t>↓ observability → evaluator</a:t>
            </a:r>
          </a:p>
        </p:txBody>
      </p:sp>
      <p:sp>
        <p:nvSpPr>
          <p:cNvPr id="36" name="TextBox 35"/>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37" name="TextBox 36"/>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THE SYSTEM I INTEGRATED</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200" b="1" i="1">
                <a:solidFill>
                  <a:srgbClr val="1C1E27"/>
                </a:solidFill>
                <a:latin typeface="Georgia"/>
              </a:rPr>
              <a:t>Not a toy — a real banking multi-agent system</a:t>
            </a:r>
          </a:p>
        </p:txBody>
      </p:sp>
      <p:sp>
        <p:nvSpPr>
          <p:cNvPr id="4" name="Rounded Rectangle 3"/>
          <p:cNvSpPr/>
          <p:nvPr/>
        </p:nvSpPr>
        <p:spPr>
          <a:xfrm>
            <a:off x="640080" y="1737360"/>
            <a:ext cx="3429000" cy="1508760"/>
          </a:xfrm>
          <a:prstGeom prst="roundRect">
            <a:avLst>
              <a:gd name="adj" fmla="val 8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865376"/>
            <a:ext cx="3099816" cy="548640"/>
          </a:xfrm>
          <a:prstGeom prst="rect">
            <a:avLst/>
          </a:prstGeom>
          <a:noFill/>
        </p:spPr>
        <p:txBody>
          <a:bodyPr wrap="square" anchor="t" lIns="0" rIns="0" tIns="0" bIns="0">
            <a:spAutoFit/>
          </a:bodyPr>
          <a:lstStyle/>
          <a:p>
            <a:pPr algn="l">
              <a:lnSpc>
                <a:spcPct val="100000"/>
              </a:lnSpc>
            </a:pPr>
            <a:r>
              <a:rPr sz="3200" b="1" i="0">
                <a:solidFill>
                  <a:srgbClr val="A6741C"/>
                </a:solidFill>
                <a:latin typeface="Consolas"/>
              </a:rPr>
              <a:t>3</a:t>
            </a:r>
          </a:p>
        </p:txBody>
      </p:sp>
      <p:sp>
        <p:nvSpPr>
          <p:cNvPr id="6" name="TextBox 5"/>
          <p:cNvSpPr txBox="1"/>
          <p:nvPr/>
        </p:nvSpPr>
        <p:spPr>
          <a:xfrm>
            <a:off x="804672" y="2743200"/>
            <a:ext cx="3099816" cy="411480"/>
          </a:xfrm>
          <a:prstGeom prst="rect">
            <a:avLst/>
          </a:prstGeom>
          <a:noFill/>
        </p:spPr>
        <p:txBody>
          <a:bodyPr wrap="square" anchor="t" lIns="0" rIns="0" tIns="0" bIns="0">
            <a:spAutoFit/>
          </a:bodyPr>
          <a:lstStyle/>
          <a:p>
            <a:pPr algn="l">
              <a:lnSpc>
                <a:spcPct val="100000"/>
              </a:lnSpc>
            </a:pPr>
            <a:r>
              <a:rPr sz="1200" b="0" i="0">
                <a:solidFill>
                  <a:srgbClr val="5B6072"/>
                </a:solidFill>
                <a:latin typeface="Calibri"/>
              </a:rPr>
              <a:t>Banking domains</a:t>
            </a:r>
          </a:p>
        </p:txBody>
      </p:sp>
      <p:sp>
        <p:nvSpPr>
          <p:cNvPr id="7" name="Rounded Rectangle 6"/>
          <p:cNvSpPr/>
          <p:nvPr/>
        </p:nvSpPr>
        <p:spPr>
          <a:xfrm>
            <a:off x="4343400" y="1737360"/>
            <a:ext cx="3429000" cy="1508760"/>
          </a:xfrm>
          <a:prstGeom prst="roundRect">
            <a:avLst>
              <a:gd name="adj" fmla="val 8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07992" y="1865376"/>
            <a:ext cx="3099816" cy="548640"/>
          </a:xfrm>
          <a:prstGeom prst="rect">
            <a:avLst/>
          </a:prstGeom>
          <a:noFill/>
        </p:spPr>
        <p:txBody>
          <a:bodyPr wrap="square" anchor="t" lIns="0" rIns="0" tIns="0" bIns="0">
            <a:spAutoFit/>
          </a:bodyPr>
          <a:lstStyle/>
          <a:p>
            <a:pPr algn="l">
              <a:lnSpc>
                <a:spcPct val="100000"/>
              </a:lnSpc>
            </a:pPr>
            <a:r>
              <a:rPr sz="3200" b="1" i="0">
                <a:solidFill>
                  <a:srgbClr val="A6741C"/>
                </a:solidFill>
                <a:latin typeface="Consolas"/>
              </a:rPr>
              <a:t>31</a:t>
            </a:r>
          </a:p>
        </p:txBody>
      </p:sp>
      <p:sp>
        <p:nvSpPr>
          <p:cNvPr id="9" name="TextBox 8"/>
          <p:cNvSpPr txBox="1"/>
          <p:nvPr/>
        </p:nvSpPr>
        <p:spPr>
          <a:xfrm>
            <a:off x="4507992" y="2743200"/>
            <a:ext cx="3099816" cy="411480"/>
          </a:xfrm>
          <a:prstGeom prst="rect">
            <a:avLst/>
          </a:prstGeom>
          <a:noFill/>
        </p:spPr>
        <p:txBody>
          <a:bodyPr wrap="square" anchor="t" lIns="0" rIns="0" tIns="0" bIns="0">
            <a:spAutoFit/>
          </a:bodyPr>
          <a:lstStyle/>
          <a:p>
            <a:pPr algn="l">
              <a:lnSpc>
                <a:spcPct val="100000"/>
              </a:lnSpc>
            </a:pPr>
            <a:r>
              <a:rPr sz="1200" b="0" i="0">
                <a:solidFill>
                  <a:srgbClr val="5B6072"/>
                </a:solidFill>
                <a:latin typeface="Calibri"/>
              </a:rPr>
              <a:t>Real agents I wired up</a:t>
            </a:r>
          </a:p>
        </p:txBody>
      </p:sp>
      <p:sp>
        <p:nvSpPr>
          <p:cNvPr id="10" name="Rounded Rectangle 9"/>
          <p:cNvSpPr/>
          <p:nvPr/>
        </p:nvSpPr>
        <p:spPr>
          <a:xfrm>
            <a:off x="8046720" y="1737360"/>
            <a:ext cx="3429000" cy="1508760"/>
          </a:xfrm>
          <a:prstGeom prst="roundRect">
            <a:avLst>
              <a:gd name="adj" fmla="val 8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11312" y="1865376"/>
            <a:ext cx="3099816" cy="548640"/>
          </a:xfrm>
          <a:prstGeom prst="rect">
            <a:avLst/>
          </a:prstGeom>
          <a:noFill/>
        </p:spPr>
        <p:txBody>
          <a:bodyPr wrap="square" anchor="t" lIns="0" rIns="0" tIns="0" bIns="0">
            <a:spAutoFit/>
          </a:bodyPr>
          <a:lstStyle/>
          <a:p>
            <a:pPr algn="l">
              <a:lnSpc>
                <a:spcPct val="100000"/>
              </a:lnSpc>
            </a:pPr>
            <a:r>
              <a:rPr sz="3200" b="1" i="0">
                <a:solidFill>
                  <a:srgbClr val="A6741C"/>
                </a:solidFill>
                <a:latin typeface="Consolas"/>
              </a:rPr>
              <a:t>20</a:t>
            </a:r>
          </a:p>
        </p:txBody>
      </p:sp>
      <p:sp>
        <p:nvSpPr>
          <p:cNvPr id="12" name="TextBox 11"/>
          <p:cNvSpPr txBox="1"/>
          <p:nvPr/>
        </p:nvSpPr>
        <p:spPr>
          <a:xfrm>
            <a:off x="8211312" y="2743200"/>
            <a:ext cx="3099816" cy="411480"/>
          </a:xfrm>
          <a:prstGeom prst="rect">
            <a:avLst/>
          </a:prstGeom>
          <a:noFill/>
        </p:spPr>
        <p:txBody>
          <a:bodyPr wrap="square" anchor="t" lIns="0" rIns="0" tIns="0" bIns="0">
            <a:spAutoFit/>
          </a:bodyPr>
          <a:lstStyle/>
          <a:p>
            <a:pPr algn="l">
              <a:lnSpc>
                <a:spcPct val="100000"/>
              </a:lnSpc>
            </a:pPr>
            <a:r>
              <a:rPr sz="1200" b="0" i="0">
                <a:solidFill>
                  <a:srgbClr val="5B6072"/>
                </a:solidFill>
                <a:latin typeface="Calibri"/>
              </a:rPr>
              <a:t>Real banking tools</a:t>
            </a:r>
          </a:p>
        </p:txBody>
      </p:sp>
      <p:sp>
        <p:nvSpPr>
          <p:cNvPr id="13" name="Rounded Rectangle 12"/>
          <p:cNvSpPr/>
          <p:nvPr/>
        </p:nvSpPr>
        <p:spPr>
          <a:xfrm>
            <a:off x="640080" y="3520440"/>
            <a:ext cx="3429000" cy="1508760"/>
          </a:xfrm>
          <a:prstGeom prst="roundRect">
            <a:avLst>
              <a:gd name="adj" fmla="val 8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648456"/>
            <a:ext cx="3099816" cy="548640"/>
          </a:xfrm>
          <a:prstGeom prst="rect">
            <a:avLst/>
          </a:prstGeom>
          <a:noFill/>
        </p:spPr>
        <p:txBody>
          <a:bodyPr wrap="square" anchor="t" lIns="0" rIns="0" tIns="0" bIns="0">
            <a:spAutoFit/>
          </a:bodyPr>
          <a:lstStyle/>
          <a:p>
            <a:pPr algn="l">
              <a:lnSpc>
                <a:spcPct val="100000"/>
              </a:lnSpc>
            </a:pPr>
            <a:r>
              <a:rPr sz="3200" b="1" i="0">
                <a:solidFill>
                  <a:srgbClr val="A6741C"/>
                </a:solidFill>
                <a:latin typeface="Consolas"/>
              </a:rPr>
              <a:t>5</a:t>
            </a:r>
          </a:p>
        </p:txBody>
      </p:sp>
      <p:sp>
        <p:nvSpPr>
          <p:cNvPr id="15" name="TextBox 14"/>
          <p:cNvSpPr txBox="1"/>
          <p:nvPr/>
        </p:nvSpPr>
        <p:spPr>
          <a:xfrm>
            <a:off x="804672" y="4526280"/>
            <a:ext cx="3099816" cy="411480"/>
          </a:xfrm>
          <a:prstGeom prst="rect">
            <a:avLst/>
          </a:prstGeom>
          <a:noFill/>
        </p:spPr>
        <p:txBody>
          <a:bodyPr wrap="square" anchor="t" lIns="0" rIns="0" tIns="0" bIns="0">
            <a:spAutoFit/>
          </a:bodyPr>
          <a:lstStyle/>
          <a:p>
            <a:pPr algn="l">
              <a:lnSpc>
                <a:spcPct val="100000"/>
              </a:lnSpc>
            </a:pPr>
            <a:r>
              <a:rPr sz="1200" b="0" i="0">
                <a:solidFill>
                  <a:srgbClr val="5B6072"/>
                </a:solidFill>
                <a:latin typeface="Calibri"/>
              </a:rPr>
              <a:t>Control points, all instrumented</a:t>
            </a:r>
          </a:p>
        </p:txBody>
      </p:sp>
      <p:sp>
        <p:nvSpPr>
          <p:cNvPr id="16" name="Rounded Rectangle 15"/>
          <p:cNvSpPr/>
          <p:nvPr/>
        </p:nvSpPr>
        <p:spPr>
          <a:xfrm>
            <a:off x="4343400" y="3520440"/>
            <a:ext cx="3429000" cy="1508760"/>
          </a:xfrm>
          <a:prstGeom prst="roundRect">
            <a:avLst>
              <a:gd name="adj" fmla="val 8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7992" y="3648456"/>
            <a:ext cx="3099816" cy="548640"/>
          </a:xfrm>
          <a:prstGeom prst="rect">
            <a:avLst/>
          </a:prstGeom>
          <a:noFill/>
        </p:spPr>
        <p:txBody>
          <a:bodyPr wrap="square" anchor="t" lIns="0" rIns="0" tIns="0" bIns="0">
            <a:spAutoFit/>
          </a:bodyPr>
          <a:lstStyle/>
          <a:p>
            <a:pPr algn="l">
              <a:lnSpc>
                <a:spcPct val="100000"/>
              </a:lnSpc>
            </a:pPr>
            <a:r>
              <a:rPr sz="3200" b="1" i="0">
                <a:solidFill>
                  <a:srgbClr val="A6741C"/>
                </a:solidFill>
                <a:latin typeface="Consolas"/>
              </a:rPr>
              <a:t>5</a:t>
            </a:r>
          </a:p>
        </p:txBody>
      </p:sp>
      <p:sp>
        <p:nvSpPr>
          <p:cNvPr id="18" name="TextBox 17"/>
          <p:cNvSpPr txBox="1"/>
          <p:nvPr/>
        </p:nvSpPr>
        <p:spPr>
          <a:xfrm>
            <a:off x="4507992" y="4526280"/>
            <a:ext cx="3099816" cy="411480"/>
          </a:xfrm>
          <a:prstGeom prst="rect">
            <a:avLst/>
          </a:prstGeom>
          <a:noFill/>
        </p:spPr>
        <p:txBody>
          <a:bodyPr wrap="square" anchor="t" lIns="0" rIns="0" tIns="0" bIns="0">
            <a:spAutoFit/>
          </a:bodyPr>
          <a:lstStyle/>
          <a:p>
            <a:pPr algn="l">
              <a:lnSpc>
                <a:spcPct val="100000"/>
              </a:lnSpc>
            </a:pPr>
            <a:r>
              <a:rPr sz="1200" b="0" i="0">
                <a:solidFill>
                  <a:srgbClr val="5B6072"/>
                </a:solidFill>
                <a:latin typeface="Calibri"/>
              </a:rPr>
              <a:t>Attack configs, all 3 domains</a:t>
            </a:r>
          </a:p>
        </p:txBody>
      </p:sp>
      <p:sp>
        <p:nvSpPr>
          <p:cNvPr id="19" name="Rounded Rectangle 18"/>
          <p:cNvSpPr/>
          <p:nvPr/>
        </p:nvSpPr>
        <p:spPr>
          <a:xfrm>
            <a:off x="8046720" y="3520440"/>
            <a:ext cx="3429000" cy="1508760"/>
          </a:xfrm>
          <a:prstGeom prst="roundRect">
            <a:avLst>
              <a:gd name="adj" fmla="val 8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2" y="3648456"/>
            <a:ext cx="3099816" cy="548640"/>
          </a:xfrm>
          <a:prstGeom prst="rect">
            <a:avLst/>
          </a:prstGeom>
          <a:noFill/>
        </p:spPr>
        <p:txBody>
          <a:bodyPr wrap="square" anchor="t" lIns="0" rIns="0" tIns="0" bIns="0">
            <a:spAutoFit/>
          </a:bodyPr>
          <a:lstStyle/>
          <a:p>
            <a:pPr algn="l">
              <a:lnSpc>
                <a:spcPct val="100000"/>
              </a:lnSpc>
            </a:pPr>
            <a:r>
              <a:rPr sz="3200" b="1" i="0">
                <a:solidFill>
                  <a:srgbClr val="A6741C"/>
                </a:solidFill>
                <a:latin typeface="Consolas"/>
              </a:rPr>
              <a:t>157</a:t>
            </a:r>
          </a:p>
        </p:txBody>
      </p:sp>
      <p:sp>
        <p:nvSpPr>
          <p:cNvPr id="21" name="TextBox 20"/>
          <p:cNvSpPr txBox="1"/>
          <p:nvPr/>
        </p:nvSpPr>
        <p:spPr>
          <a:xfrm>
            <a:off x="8211312" y="4526280"/>
            <a:ext cx="3099816" cy="411480"/>
          </a:xfrm>
          <a:prstGeom prst="rect">
            <a:avLst/>
          </a:prstGeom>
          <a:noFill/>
        </p:spPr>
        <p:txBody>
          <a:bodyPr wrap="square" anchor="t" lIns="0" rIns="0" tIns="0" bIns="0">
            <a:spAutoFit/>
          </a:bodyPr>
          <a:lstStyle/>
          <a:p>
            <a:pPr algn="l">
              <a:lnSpc>
                <a:spcPct val="100000"/>
              </a:lnSpc>
            </a:pPr>
            <a:r>
              <a:rPr sz="1200" b="0" i="0">
                <a:solidFill>
                  <a:srgbClr val="5B6072"/>
                </a:solidFill>
                <a:latin typeface="Calibri"/>
              </a:rPr>
              <a:t>Automated tests I wrote/kept green</a:t>
            </a:r>
          </a:p>
        </p:txBody>
      </p:sp>
      <p:sp>
        <p:nvSpPr>
          <p:cNvPr id="22" name="TextBox 21"/>
          <p:cNvSpPr txBox="1"/>
          <p:nvPr/>
        </p:nvSpPr>
        <p:spPr>
          <a:xfrm>
            <a:off x="640080" y="5623560"/>
            <a:ext cx="10789920" cy="548640"/>
          </a:xfrm>
          <a:prstGeom prst="rect">
            <a:avLst/>
          </a:prstGeom>
          <a:noFill/>
        </p:spPr>
        <p:txBody>
          <a:bodyPr wrap="square" anchor="t" lIns="0" rIns="0" tIns="0" bIns="0">
            <a:spAutoFit/>
          </a:bodyPr>
          <a:lstStyle/>
          <a:p>
            <a:pPr algn="l">
              <a:lnSpc>
                <a:spcPct val="100000"/>
              </a:lnSpc>
            </a:pPr>
            <a:r>
              <a:rPr sz="1300" b="0" i="1">
                <a:solidFill>
                  <a:srgbClr val="5B6072"/>
                </a:solidFill>
                <a:latin typeface="Calibri"/>
              </a:rPr>
              <a:t>Every number here comes from mantis --inventory, introspected live — not a hand-typed list.</a:t>
            </a:r>
          </a:p>
        </p:txBody>
      </p:sp>
      <p:sp>
        <p:nvSpPr>
          <p:cNvPr id="23" name="TextBox 22"/>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24" name="TextBox 23"/>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WHAT I IMPLEMENTED</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1">
                <a:solidFill>
                  <a:srgbClr val="1C1E27"/>
                </a:solidFill>
                <a:latin typeface="Georgia"/>
              </a:rPr>
              <a:t>Five attacks, one shared interface</a:t>
            </a:r>
          </a:p>
        </p:txBody>
      </p:sp>
      <p:sp>
        <p:nvSpPr>
          <p:cNvPr id="4" name="Rounded Rectangle 3"/>
          <p:cNvSpPr/>
          <p:nvPr/>
        </p:nvSpPr>
        <p:spPr>
          <a:xfrm>
            <a:off x="640080" y="1554480"/>
            <a:ext cx="2468880" cy="45720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554480"/>
            <a:ext cx="2249424" cy="457200"/>
          </a:xfrm>
          <a:prstGeom prst="rect">
            <a:avLst/>
          </a:prstGeom>
          <a:noFill/>
        </p:spPr>
        <p:txBody>
          <a:bodyPr wrap="square" anchor="ctr" lIns="0" rIns="0" tIns="0" bIns="0">
            <a:spAutoFit/>
          </a:bodyPr>
          <a:lstStyle/>
          <a:p>
            <a:pPr algn="l">
              <a:lnSpc>
                <a:spcPct val="100000"/>
              </a:lnSpc>
            </a:pPr>
            <a:r>
              <a:rPr sz="1250" b="1" i="0">
                <a:solidFill>
                  <a:srgbClr val="FFFFFF"/>
                </a:solidFill>
                <a:latin typeface="Consolas"/>
              </a:rPr>
              <a:t>Plugin I Built</a:t>
            </a:r>
          </a:p>
        </p:txBody>
      </p:sp>
      <p:sp>
        <p:nvSpPr>
          <p:cNvPr id="6" name="Rounded Rectangle 5"/>
          <p:cNvSpPr/>
          <p:nvPr/>
        </p:nvSpPr>
        <p:spPr>
          <a:xfrm>
            <a:off x="3108960" y="1554480"/>
            <a:ext cx="1371600" cy="45720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18688" y="1554480"/>
            <a:ext cx="1152144" cy="457200"/>
          </a:xfrm>
          <a:prstGeom prst="rect">
            <a:avLst/>
          </a:prstGeom>
          <a:noFill/>
        </p:spPr>
        <p:txBody>
          <a:bodyPr wrap="square" anchor="ctr" lIns="0" rIns="0" tIns="0" bIns="0">
            <a:spAutoFit/>
          </a:bodyPr>
          <a:lstStyle/>
          <a:p>
            <a:pPr algn="l">
              <a:lnSpc>
                <a:spcPct val="100000"/>
              </a:lnSpc>
            </a:pPr>
            <a:r>
              <a:rPr sz="1250" b="1" i="0">
                <a:solidFill>
                  <a:srgbClr val="FFFFFF"/>
                </a:solidFill>
                <a:latin typeface="Consolas"/>
              </a:rPr>
              <a:t>Control Point</a:t>
            </a:r>
          </a:p>
        </p:txBody>
      </p:sp>
      <p:sp>
        <p:nvSpPr>
          <p:cNvPr id="8" name="Rounded Rectangle 7"/>
          <p:cNvSpPr/>
          <p:nvPr/>
        </p:nvSpPr>
        <p:spPr>
          <a:xfrm>
            <a:off x="4480560" y="1554480"/>
            <a:ext cx="2743200" cy="45720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0288" y="1554480"/>
            <a:ext cx="2523744" cy="457200"/>
          </a:xfrm>
          <a:prstGeom prst="rect">
            <a:avLst/>
          </a:prstGeom>
          <a:noFill/>
        </p:spPr>
        <p:txBody>
          <a:bodyPr wrap="square" anchor="ctr" lIns="0" rIns="0" tIns="0" bIns="0">
            <a:spAutoFit/>
          </a:bodyPr>
          <a:lstStyle/>
          <a:p>
            <a:pPr algn="l">
              <a:lnSpc>
                <a:spcPct val="100000"/>
              </a:lnSpc>
            </a:pPr>
            <a:r>
              <a:rPr sz="1250" b="1" i="0">
                <a:solidFill>
                  <a:srgbClr val="FFFFFF"/>
                </a:solidFill>
                <a:latin typeface="Consolas"/>
              </a:rPr>
              <a:t>Real Target</a:t>
            </a:r>
          </a:p>
        </p:txBody>
      </p:sp>
      <p:sp>
        <p:nvSpPr>
          <p:cNvPr id="10" name="Rounded Rectangle 9"/>
          <p:cNvSpPr/>
          <p:nvPr/>
        </p:nvSpPr>
        <p:spPr>
          <a:xfrm>
            <a:off x="7223760" y="1554480"/>
            <a:ext cx="4206240" cy="45720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33488" y="1554480"/>
            <a:ext cx="3986784" cy="457200"/>
          </a:xfrm>
          <a:prstGeom prst="rect">
            <a:avLst/>
          </a:prstGeom>
          <a:noFill/>
        </p:spPr>
        <p:txBody>
          <a:bodyPr wrap="square" anchor="ctr" lIns="0" rIns="0" tIns="0" bIns="0">
            <a:spAutoFit/>
          </a:bodyPr>
          <a:lstStyle/>
          <a:p>
            <a:pPr algn="l">
              <a:lnSpc>
                <a:spcPct val="100000"/>
              </a:lnSpc>
            </a:pPr>
            <a:r>
              <a:rPr sz="1250" b="1" i="0">
                <a:solidFill>
                  <a:srgbClr val="FFFFFF"/>
                </a:solidFill>
                <a:latin typeface="Consolas"/>
              </a:rPr>
              <a:t>What It Does</a:t>
            </a:r>
          </a:p>
        </p:txBody>
      </p:sp>
      <p:sp>
        <p:nvSpPr>
          <p:cNvPr id="12" name="Rounded Rectangle 11"/>
          <p:cNvSpPr/>
          <p:nvPr/>
        </p:nvSpPr>
        <p:spPr>
          <a:xfrm>
            <a:off x="640080" y="2011680"/>
            <a:ext cx="246888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084832"/>
            <a:ext cx="2249424" cy="630936"/>
          </a:xfrm>
          <a:prstGeom prst="rect">
            <a:avLst/>
          </a:prstGeom>
          <a:noFill/>
        </p:spPr>
        <p:txBody>
          <a:bodyPr wrap="square" anchor="ctr" lIns="0" rIns="0" tIns="0" bIns="0">
            <a:spAutoFit/>
          </a:bodyPr>
          <a:lstStyle/>
          <a:p>
            <a:pPr algn="l">
              <a:lnSpc>
                <a:spcPct val="100000"/>
              </a:lnSpc>
            </a:pPr>
            <a:r>
              <a:rPr sz="1300" b="1" i="0">
                <a:solidFill>
                  <a:srgbClr val="A6741C"/>
                </a:solidFill>
                <a:latin typeface="Calibri"/>
              </a:rPr>
              <a:t>Prompt Injection</a:t>
            </a:r>
          </a:p>
        </p:txBody>
      </p:sp>
      <p:sp>
        <p:nvSpPr>
          <p:cNvPr id="14" name="Rounded Rectangle 13"/>
          <p:cNvSpPr/>
          <p:nvPr/>
        </p:nvSpPr>
        <p:spPr>
          <a:xfrm>
            <a:off x="3108960" y="2011680"/>
            <a:ext cx="137160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18688" y="2084832"/>
            <a:ext cx="11521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Interaction</a:t>
            </a:r>
          </a:p>
        </p:txBody>
      </p:sp>
      <p:sp>
        <p:nvSpPr>
          <p:cNvPr id="16" name="Rounded Rectangle 15"/>
          <p:cNvSpPr/>
          <p:nvPr/>
        </p:nvSpPr>
        <p:spPr>
          <a:xfrm>
            <a:off x="4480560" y="2011680"/>
            <a:ext cx="274320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2084832"/>
            <a:ext cx="25237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transaction_monitoring_agent</a:t>
            </a:r>
          </a:p>
        </p:txBody>
      </p:sp>
      <p:sp>
        <p:nvSpPr>
          <p:cNvPr id="18" name="Rounded Rectangle 17"/>
          <p:cNvSpPr/>
          <p:nvPr/>
        </p:nvSpPr>
        <p:spPr>
          <a:xfrm>
            <a:off x="7223760" y="2011680"/>
            <a:ext cx="420624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33488" y="2084832"/>
            <a:ext cx="3986784" cy="630936"/>
          </a:xfrm>
          <a:prstGeom prst="rect">
            <a:avLst/>
          </a:prstGeom>
          <a:noFill/>
        </p:spPr>
        <p:txBody>
          <a:bodyPr wrap="square" anchor="ctr" lIns="0" rIns="0" tIns="0" bIns="0">
            <a:spAutoFit/>
          </a:bodyPr>
          <a:lstStyle/>
          <a:p>
            <a:pPr algn="l">
              <a:lnSpc>
                <a:spcPct val="100000"/>
              </a:lnSpc>
            </a:pPr>
            <a:r>
              <a:rPr sz="1150" b="0" i="0">
                <a:solidFill>
                  <a:srgbClr val="5B6072"/>
                </a:solidFill>
                <a:latin typeface="Calibri"/>
              </a:rPr>
              <a:t>Malicious instructions injected before the front-office monitor reasons about a transaction.</a:t>
            </a:r>
          </a:p>
        </p:txBody>
      </p:sp>
      <p:sp>
        <p:nvSpPr>
          <p:cNvPr id="20" name="Rounded Rectangle 19"/>
          <p:cNvSpPr/>
          <p:nvPr/>
        </p:nvSpPr>
        <p:spPr>
          <a:xfrm>
            <a:off x="640080" y="2788920"/>
            <a:ext cx="246888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2862072"/>
            <a:ext cx="2249424" cy="630936"/>
          </a:xfrm>
          <a:prstGeom prst="rect">
            <a:avLst/>
          </a:prstGeom>
          <a:noFill/>
        </p:spPr>
        <p:txBody>
          <a:bodyPr wrap="square" anchor="ctr" lIns="0" rIns="0" tIns="0" bIns="0">
            <a:spAutoFit/>
          </a:bodyPr>
          <a:lstStyle/>
          <a:p>
            <a:pPr algn="l">
              <a:lnSpc>
                <a:spcPct val="100000"/>
              </a:lnSpc>
            </a:pPr>
            <a:r>
              <a:rPr sz="1300" b="1" i="0">
                <a:solidFill>
                  <a:srgbClr val="A6741C"/>
                </a:solidFill>
                <a:latin typeface="Calibri"/>
              </a:rPr>
              <a:t>Message Spoofing</a:t>
            </a:r>
          </a:p>
        </p:txBody>
      </p:sp>
      <p:sp>
        <p:nvSpPr>
          <p:cNvPr id="22" name="Rounded Rectangle 21"/>
          <p:cNvSpPr/>
          <p:nvPr/>
        </p:nvSpPr>
        <p:spPr>
          <a:xfrm>
            <a:off x="3108960" y="2788920"/>
            <a:ext cx="137160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18688" y="2862072"/>
            <a:ext cx="11521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Interaction</a:t>
            </a:r>
          </a:p>
        </p:txBody>
      </p:sp>
      <p:sp>
        <p:nvSpPr>
          <p:cNvPr id="24" name="Rounded Rectangle 23"/>
          <p:cNvSpPr/>
          <p:nvPr/>
        </p:nvSpPr>
        <p:spPr>
          <a:xfrm>
            <a:off x="4480560" y="2788920"/>
            <a:ext cx="274320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90288" y="2862072"/>
            <a:ext cx="25237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risk_compliance_agent</a:t>
            </a:r>
          </a:p>
        </p:txBody>
      </p:sp>
      <p:sp>
        <p:nvSpPr>
          <p:cNvPr id="26" name="Rounded Rectangle 25"/>
          <p:cNvSpPr/>
          <p:nvPr/>
        </p:nvSpPr>
        <p:spPr>
          <a:xfrm>
            <a:off x="7223760" y="2788920"/>
            <a:ext cx="420624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33488" y="2862072"/>
            <a:ext cx="3986784" cy="630936"/>
          </a:xfrm>
          <a:prstGeom prst="rect">
            <a:avLst/>
          </a:prstGeom>
          <a:noFill/>
        </p:spPr>
        <p:txBody>
          <a:bodyPr wrap="square" anchor="ctr" lIns="0" rIns="0" tIns="0" bIns="0">
            <a:spAutoFit/>
          </a:bodyPr>
          <a:lstStyle/>
          <a:p>
            <a:pPr algn="l">
              <a:lnSpc>
                <a:spcPct val="100000"/>
              </a:lnSpc>
            </a:pPr>
            <a:r>
              <a:rPr sz="1150" b="0" i="0">
                <a:solidFill>
                  <a:srgbClr val="5B6072"/>
                </a:solidFill>
                <a:latin typeface="Calibri"/>
              </a:rPr>
              <a:t>A fake “AML/KYC clear” message spoofed into an agent's outgoing call to the model.</a:t>
            </a:r>
          </a:p>
        </p:txBody>
      </p:sp>
      <p:sp>
        <p:nvSpPr>
          <p:cNvPr id="28" name="Rounded Rectangle 27"/>
          <p:cNvSpPr/>
          <p:nvPr/>
        </p:nvSpPr>
        <p:spPr>
          <a:xfrm>
            <a:off x="640080" y="3566160"/>
            <a:ext cx="246888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8" y="3639312"/>
            <a:ext cx="2249424" cy="630936"/>
          </a:xfrm>
          <a:prstGeom prst="rect">
            <a:avLst/>
          </a:prstGeom>
          <a:noFill/>
        </p:spPr>
        <p:txBody>
          <a:bodyPr wrap="square" anchor="ctr" lIns="0" rIns="0" tIns="0" bIns="0">
            <a:spAutoFit/>
          </a:bodyPr>
          <a:lstStyle/>
          <a:p>
            <a:pPr algn="l">
              <a:lnSpc>
                <a:spcPct val="100000"/>
              </a:lnSpc>
            </a:pPr>
            <a:r>
              <a:rPr sz="1300" b="1" i="0">
                <a:solidFill>
                  <a:srgbClr val="A6741C"/>
                </a:solidFill>
                <a:latin typeface="Calibri"/>
              </a:rPr>
              <a:t>Route Confusion</a:t>
            </a:r>
          </a:p>
        </p:txBody>
      </p:sp>
      <p:sp>
        <p:nvSpPr>
          <p:cNvPr id="30" name="Rounded Rectangle 29"/>
          <p:cNvSpPr/>
          <p:nvPr/>
        </p:nvSpPr>
        <p:spPr>
          <a:xfrm>
            <a:off x="3108960" y="3566160"/>
            <a:ext cx="137160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18688" y="3639312"/>
            <a:ext cx="11521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Tool</a:t>
            </a:r>
          </a:p>
        </p:txBody>
      </p:sp>
      <p:sp>
        <p:nvSpPr>
          <p:cNvPr id="32" name="Rounded Rectangle 31"/>
          <p:cNvSpPr/>
          <p:nvPr/>
        </p:nvSpPr>
        <p:spPr>
          <a:xfrm>
            <a:off x="4480560" y="3566160"/>
            <a:ext cx="274320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0288" y="3639312"/>
            <a:ext cx="25237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transfer_to_agent (routing)</a:t>
            </a:r>
          </a:p>
        </p:txBody>
      </p:sp>
      <p:sp>
        <p:nvSpPr>
          <p:cNvPr id="34" name="Rounded Rectangle 33"/>
          <p:cNvSpPr/>
          <p:nvPr/>
        </p:nvSpPr>
        <p:spPr>
          <a:xfrm>
            <a:off x="7223760" y="3566160"/>
            <a:ext cx="420624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33488" y="3639312"/>
            <a:ext cx="3986784" cy="630936"/>
          </a:xfrm>
          <a:prstGeom prst="rect">
            <a:avLst/>
          </a:prstGeom>
          <a:noFill/>
        </p:spPr>
        <p:txBody>
          <a:bodyPr wrap="square" anchor="ctr" lIns="0" rIns="0" tIns="0" bIns="0">
            <a:spAutoFit/>
          </a:bodyPr>
          <a:lstStyle/>
          <a:p>
            <a:pPr algn="l">
              <a:lnSpc>
                <a:spcPct val="100000"/>
              </a:lnSpc>
            </a:pPr>
            <a:r>
              <a:rPr sz="1150" b="0" i="0">
                <a:solidFill>
                  <a:srgbClr val="5B6072"/>
                </a:solidFill>
                <a:latin typeface="Calibri"/>
              </a:rPr>
              <a:t>Forces the front-office router to divert a suspicious-transaction review into the customer-service chatbot workflow, bypassing fraud detection and compliance review entirely.</a:t>
            </a:r>
          </a:p>
        </p:txBody>
      </p:sp>
      <p:sp>
        <p:nvSpPr>
          <p:cNvPr id="36" name="Rounded Rectangle 35"/>
          <p:cNvSpPr/>
          <p:nvPr/>
        </p:nvSpPr>
        <p:spPr>
          <a:xfrm>
            <a:off x="640080" y="4343400"/>
            <a:ext cx="246888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9808" y="4416552"/>
            <a:ext cx="2249424" cy="630936"/>
          </a:xfrm>
          <a:prstGeom prst="rect">
            <a:avLst/>
          </a:prstGeom>
          <a:noFill/>
        </p:spPr>
        <p:txBody>
          <a:bodyPr wrap="square" anchor="ctr" lIns="0" rIns="0" tIns="0" bIns="0">
            <a:spAutoFit/>
          </a:bodyPr>
          <a:lstStyle/>
          <a:p>
            <a:pPr algn="l">
              <a:lnSpc>
                <a:spcPct val="100000"/>
              </a:lnSpc>
            </a:pPr>
            <a:r>
              <a:rPr sz="1300" b="1" i="0">
                <a:solidFill>
                  <a:srgbClr val="A6741C"/>
                </a:solidFill>
                <a:latin typeface="Calibri"/>
              </a:rPr>
              <a:t>Tool Parameter Mutation</a:t>
            </a:r>
          </a:p>
        </p:txBody>
      </p:sp>
      <p:sp>
        <p:nvSpPr>
          <p:cNvPr id="38" name="Rounded Rectangle 37"/>
          <p:cNvSpPr/>
          <p:nvPr/>
        </p:nvSpPr>
        <p:spPr>
          <a:xfrm>
            <a:off x="3108960" y="4343400"/>
            <a:ext cx="137160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18688" y="4416552"/>
            <a:ext cx="11521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Tool</a:t>
            </a:r>
          </a:p>
        </p:txBody>
      </p:sp>
      <p:sp>
        <p:nvSpPr>
          <p:cNvPr id="40" name="Rounded Rectangle 39"/>
          <p:cNvSpPr/>
          <p:nvPr/>
        </p:nvSpPr>
        <p:spPr>
          <a:xfrm>
            <a:off x="4480560" y="4343400"/>
            <a:ext cx="274320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90288" y="4416552"/>
            <a:ext cx="25237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execute_transfer</a:t>
            </a:r>
          </a:p>
        </p:txBody>
      </p:sp>
      <p:sp>
        <p:nvSpPr>
          <p:cNvPr id="42" name="Rounded Rectangle 41"/>
          <p:cNvSpPr/>
          <p:nvPr/>
        </p:nvSpPr>
        <p:spPr>
          <a:xfrm>
            <a:off x="7223760" y="4343400"/>
            <a:ext cx="420624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33488" y="4416552"/>
            <a:ext cx="3986784" cy="630936"/>
          </a:xfrm>
          <a:prstGeom prst="rect">
            <a:avLst/>
          </a:prstGeom>
          <a:noFill/>
        </p:spPr>
        <p:txBody>
          <a:bodyPr wrap="square" anchor="ctr" lIns="0" rIns="0" tIns="0" bIns="0">
            <a:spAutoFit/>
          </a:bodyPr>
          <a:lstStyle/>
          <a:p>
            <a:pPr algn="l">
              <a:lnSpc>
                <a:spcPct val="100000"/>
              </a:lnSpc>
            </a:pPr>
            <a:r>
              <a:rPr sz="1150" b="0" i="0">
                <a:solidFill>
                  <a:srgbClr val="5B6072"/>
                </a:solidFill>
                <a:latin typeface="Calibri"/>
              </a:rPr>
              <a:t>Destination account and amount mutated on a live transfer call before it hits the backend.</a:t>
            </a:r>
          </a:p>
        </p:txBody>
      </p:sp>
      <p:sp>
        <p:nvSpPr>
          <p:cNvPr id="44" name="Rounded Rectangle 43"/>
          <p:cNvSpPr/>
          <p:nvPr/>
        </p:nvSpPr>
        <p:spPr>
          <a:xfrm>
            <a:off x="640080" y="5120640"/>
            <a:ext cx="246888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8" y="5193792"/>
            <a:ext cx="2249424" cy="630936"/>
          </a:xfrm>
          <a:prstGeom prst="rect">
            <a:avLst/>
          </a:prstGeom>
          <a:noFill/>
        </p:spPr>
        <p:txBody>
          <a:bodyPr wrap="square" anchor="ctr" lIns="0" rIns="0" tIns="0" bIns="0">
            <a:spAutoFit/>
          </a:bodyPr>
          <a:lstStyle/>
          <a:p>
            <a:pPr algn="l">
              <a:lnSpc>
                <a:spcPct val="100000"/>
              </a:lnSpc>
            </a:pPr>
            <a:r>
              <a:rPr sz="1300" b="1" i="0">
                <a:solidFill>
                  <a:srgbClr val="A6741C"/>
                </a:solidFill>
                <a:latin typeface="Calibri"/>
              </a:rPr>
              <a:t>Tool Parameter Mutation (Back Office)</a:t>
            </a:r>
          </a:p>
        </p:txBody>
      </p:sp>
      <p:sp>
        <p:nvSpPr>
          <p:cNvPr id="46" name="Rounded Rectangle 45"/>
          <p:cNvSpPr/>
          <p:nvPr/>
        </p:nvSpPr>
        <p:spPr>
          <a:xfrm>
            <a:off x="3108960" y="5120640"/>
            <a:ext cx="137160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18688" y="5193792"/>
            <a:ext cx="11521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Tool</a:t>
            </a:r>
          </a:p>
        </p:txBody>
      </p:sp>
      <p:sp>
        <p:nvSpPr>
          <p:cNvPr id="48" name="Rounded Rectangle 47"/>
          <p:cNvSpPr/>
          <p:nvPr/>
        </p:nvSpPr>
        <p:spPr>
          <a:xfrm>
            <a:off x="4480560" y="5120640"/>
            <a:ext cx="274320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90288" y="5193792"/>
            <a:ext cx="25237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apply_ledger_updates</a:t>
            </a:r>
          </a:p>
        </p:txBody>
      </p:sp>
      <p:sp>
        <p:nvSpPr>
          <p:cNvPr id="50" name="Rounded Rectangle 49"/>
          <p:cNvSpPr/>
          <p:nvPr/>
        </p:nvSpPr>
        <p:spPr>
          <a:xfrm>
            <a:off x="7223760" y="5120640"/>
            <a:ext cx="420624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333488" y="5193792"/>
            <a:ext cx="3986784" cy="630936"/>
          </a:xfrm>
          <a:prstGeom prst="rect">
            <a:avLst/>
          </a:prstGeom>
          <a:noFill/>
        </p:spPr>
        <p:txBody>
          <a:bodyPr wrap="square" anchor="ctr" lIns="0" rIns="0" tIns="0" bIns="0">
            <a:spAutoFit/>
          </a:bodyPr>
          <a:lstStyle/>
          <a:p>
            <a:pPr algn="l">
              <a:lnSpc>
                <a:spcPct val="100000"/>
              </a:lnSpc>
            </a:pPr>
            <a:r>
              <a:rPr sz="1150" b="0" i="0">
                <a:solidFill>
                  <a:srgbClr val="5B6072"/>
                </a:solidFill>
                <a:latin typeface="Calibri"/>
              </a:rPr>
              <a:t>A validated EOD batch's ledger post redirected onto a second, unvalidated batch.</a:t>
            </a:r>
          </a:p>
        </p:txBody>
      </p:sp>
      <p:sp>
        <p:nvSpPr>
          <p:cNvPr id="52" name="TextBox 51"/>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53" name="TextBox 52"/>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LET ME SHOW YOU</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600" b="1" i="1">
                <a:solidFill>
                  <a:srgbClr val="1C1E27"/>
                </a:solidFill>
                <a:latin typeface="Georgia"/>
              </a:rPr>
              <a:t>Seven commands, one attack, and a bug I found</a:t>
            </a:r>
          </a:p>
        </p:txBody>
      </p:sp>
      <p:sp>
        <p:nvSpPr>
          <p:cNvPr id="4" name="TextBox 3"/>
          <p:cNvSpPr txBox="1"/>
          <p:nvPr/>
        </p:nvSpPr>
        <p:spPr>
          <a:xfrm>
            <a:off x="640080" y="1508760"/>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01</a:t>
            </a:r>
          </a:p>
        </p:txBody>
      </p:sp>
      <p:sp>
        <p:nvSpPr>
          <p:cNvPr id="5" name="TextBox 4"/>
          <p:cNvSpPr txBox="1"/>
          <p:nvPr/>
        </p:nvSpPr>
        <p:spPr>
          <a:xfrm>
            <a:off x="1188720" y="1527048"/>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mantis --inventory</a:t>
            </a:r>
          </a:p>
        </p:txBody>
      </p:sp>
      <p:sp>
        <p:nvSpPr>
          <p:cNvPr id="6" name="TextBox 5"/>
          <p:cNvSpPr txBox="1"/>
          <p:nvPr/>
        </p:nvSpPr>
        <p:spPr>
          <a:xfrm>
            <a:off x="1188720" y="1837944"/>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The real system — not a slide, an actual introspected inventory.</a:t>
            </a:r>
          </a:p>
        </p:txBody>
      </p:sp>
      <p:sp>
        <p:nvSpPr>
          <p:cNvPr id="7" name="TextBox 6"/>
          <p:cNvSpPr txBox="1"/>
          <p:nvPr/>
        </p:nvSpPr>
        <p:spPr>
          <a:xfrm>
            <a:off x="640080" y="2167128"/>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02</a:t>
            </a:r>
          </a:p>
        </p:txBody>
      </p:sp>
      <p:sp>
        <p:nvSpPr>
          <p:cNvPr id="8" name="TextBox 7"/>
          <p:cNvSpPr txBox="1"/>
          <p:nvPr/>
        </p:nvSpPr>
        <p:spPr>
          <a:xfrm>
            <a:off x="1188720" y="2185416"/>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mantis --validate configs/attacks/wp5_route_confusion.yaml</a:t>
            </a:r>
          </a:p>
        </p:txBody>
      </p:sp>
      <p:sp>
        <p:nvSpPr>
          <p:cNvPr id="9" name="TextBox 8"/>
          <p:cNvSpPr txBox="1"/>
          <p:nvPr/>
        </p:nvSpPr>
        <p:spPr>
          <a:xfrm>
            <a:off x="1188720" y="2496312"/>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A typo in the target agent fails right here.</a:t>
            </a:r>
          </a:p>
        </p:txBody>
      </p:sp>
      <p:sp>
        <p:nvSpPr>
          <p:cNvPr id="10" name="TextBox 9"/>
          <p:cNvSpPr txBox="1"/>
          <p:nvPr/>
        </p:nvSpPr>
        <p:spPr>
          <a:xfrm>
            <a:off x="640080" y="2825496"/>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03</a:t>
            </a:r>
          </a:p>
        </p:txBody>
      </p:sp>
      <p:sp>
        <p:nvSpPr>
          <p:cNvPr id="11" name="TextBox 10"/>
          <p:cNvSpPr txBox="1"/>
          <p:nvPr/>
        </p:nvSpPr>
        <p:spPr>
          <a:xfrm>
            <a:off x="1188720" y="2843784"/>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mantis --run configs/baselines/front_office_baseline.yaml</a:t>
            </a:r>
          </a:p>
        </p:txBody>
      </p:sp>
      <p:sp>
        <p:nvSpPr>
          <p:cNvPr id="12" name="TextBox 11"/>
          <p:cNvSpPr txBox="1"/>
          <p:nvPr/>
        </p:nvSpPr>
        <p:spPr>
          <a:xfrm>
            <a:off x="1188720" y="3154680"/>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Clean baseline, nothing injected.</a:t>
            </a:r>
          </a:p>
        </p:txBody>
      </p:sp>
      <p:sp>
        <p:nvSpPr>
          <p:cNvPr id="13" name="TextBox 12"/>
          <p:cNvSpPr txBox="1"/>
          <p:nvPr/>
        </p:nvSpPr>
        <p:spPr>
          <a:xfrm>
            <a:off x="640080" y="3483864"/>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04</a:t>
            </a:r>
          </a:p>
        </p:txBody>
      </p:sp>
      <p:sp>
        <p:nvSpPr>
          <p:cNvPr id="14" name="TextBox 13"/>
          <p:cNvSpPr txBox="1"/>
          <p:nvPr/>
        </p:nvSpPr>
        <p:spPr>
          <a:xfrm>
            <a:off x="1188720" y="3502152"/>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mantis --run configs/attacks/wp5_route_confusion.yaml</a:t>
            </a:r>
          </a:p>
        </p:txBody>
      </p:sp>
      <p:sp>
        <p:nvSpPr>
          <p:cNvPr id="15" name="TextBox 14"/>
          <p:cNvSpPr txBox="1"/>
          <p:nvPr/>
        </p:nvSpPr>
        <p:spPr>
          <a:xfrm>
            <a:off x="1188720" y="3813048"/>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Same scenario — router told to divert into the chatbot flow.</a:t>
            </a:r>
          </a:p>
        </p:txBody>
      </p:sp>
      <p:sp>
        <p:nvSpPr>
          <p:cNvPr id="16" name="TextBox 15"/>
          <p:cNvSpPr txBox="1"/>
          <p:nvPr/>
        </p:nvSpPr>
        <p:spPr>
          <a:xfrm>
            <a:off x="640080" y="4142232"/>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05</a:t>
            </a:r>
          </a:p>
        </p:txBody>
      </p:sp>
      <p:sp>
        <p:nvSpPr>
          <p:cNvPr id="17" name="TextBox 16"/>
          <p:cNvSpPr txBox="1"/>
          <p:nvPr/>
        </p:nvSpPr>
        <p:spPr>
          <a:xfrm>
            <a:off x="1188720" y="4160520"/>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grep ATTACK_INJECTED traces.jsonl</a:t>
            </a:r>
          </a:p>
        </p:txBody>
      </p:sp>
      <p:sp>
        <p:nvSpPr>
          <p:cNvPr id="18" name="TextBox 17"/>
          <p:cNvSpPr txBox="1"/>
          <p:nvPr/>
        </p:nvSpPr>
        <p:spPr>
          <a:xfrm>
            <a:off x="1188720" y="4471416"/>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Wasn't there. hook_coverage alone would've missed this.</a:t>
            </a:r>
          </a:p>
        </p:txBody>
      </p:sp>
      <p:sp>
        <p:nvSpPr>
          <p:cNvPr id="19" name="TextBox 18"/>
          <p:cNvSpPr txBox="1"/>
          <p:nvPr/>
        </p:nvSpPr>
        <p:spPr>
          <a:xfrm>
            <a:off x="640080" y="4800600"/>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06</a:t>
            </a:r>
          </a:p>
        </p:txBody>
      </p:sp>
      <p:sp>
        <p:nvSpPr>
          <p:cNvPr id="20" name="TextBox 19"/>
          <p:cNvSpPr txBox="1"/>
          <p:nvPr/>
        </p:nvSpPr>
        <p:spPr>
          <a:xfrm>
            <a:off x="1188720" y="4818888"/>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 bug found: wrong arg name, plugin never fired</a:t>
            </a:r>
          </a:p>
        </p:txBody>
      </p:sp>
      <p:sp>
        <p:nvSpPr>
          <p:cNvPr id="21" name="TextBox 20"/>
          <p:cNvSpPr txBox="1"/>
          <p:nvPr/>
        </p:nvSpPr>
        <p:spPr>
          <a:xfrm>
            <a:off x="1188720" y="5129784"/>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Real bug in real code — fixed, tested, see WP8.</a:t>
            </a:r>
          </a:p>
        </p:txBody>
      </p:sp>
      <p:sp>
        <p:nvSpPr>
          <p:cNvPr id="22" name="TextBox 21"/>
          <p:cNvSpPr txBox="1"/>
          <p:nvPr/>
        </p:nvSpPr>
        <p:spPr>
          <a:xfrm>
            <a:off x="640080" y="5458968"/>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07</a:t>
            </a:r>
          </a:p>
        </p:txBody>
      </p:sp>
      <p:sp>
        <p:nvSpPr>
          <p:cNvPr id="23" name="TextBox 22"/>
          <p:cNvSpPr txBox="1"/>
          <p:nvPr/>
        </p:nvSpPr>
        <p:spPr>
          <a:xfrm>
            <a:off x="1188720" y="5477256"/>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mantis --campaign configs/attacks/  &amp;&amp;  mantis --report ...</a:t>
            </a:r>
          </a:p>
        </p:txBody>
      </p:sp>
      <p:sp>
        <p:nvSpPr>
          <p:cNvPr id="24" name="TextBox 23"/>
          <p:cNvSpPr txBox="1"/>
          <p:nvPr/>
        </p:nvSpPr>
        <p:spPr>
          <a:xfrm>
            <a:off x="1188720" y="5788152"/>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All five attacks, one comparative report.</a:t>
            </a:r>
          </a:p>
        </p:txBody>
      </p:sp>
      <p:sp>
        <p:nvSpPr>
          <p:cNvPr id="25" name="Rounded Rectangle 24"/>
          <p:cNvSpPr/>
          <p:nvPr/>
        </p:nvSpPr>
        <p:spPr>
          <a:xfrm>
            <a:off x="7040880" y="1508760"/>
            <a:ext cx="4480560" cy="4617720"/>
          </a:xfrm>
          <a:prstGeom prst="roundRect">
            <a:avLst>
              <a:gd name="adj" fmla="val 4000"/>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0" y="1737360"/>
            <a:ext cx="3931920" cy="320040"/>
          </a:xfrm>
          <a:prstGeom prst="rect">
            <a:avLst/>
          </a:prstGeom>
          <a:noFill/>
        </p:spPr>
        <p:txBody>
          <a:bodyPr wrap="square" anchor="t" lIns="0" rIns="0" tIns="0" bIns="0">
            <a:spAutoFit/>
          </a:bodyPr>
          <a:lstStyle/>
          <a:p>
            <a:pPr algn="l">
              <a:lnSpc>
                <a:spcPct val="100000"/>
              </a:lnSpc>
            </a:pPr>
            <a:r>
              <a:rPr sz="1200" b="0" i="0">
                <a:solidFill>
                  <a:srgbClr val="6B93D6"/>
                </a:solidFill>
                <a:latin typeface="Consolas"/>
              </a:rPr>
              <a:t>$ grep ATTACK_INJECTED traces.jsonl</a:t>
            </a:r>
          </a:p>
        </p:txBody>
      </p:sp>
      <p:sp>
        <p:nvSpPr>
          <p:cNvPr id="27" name="TextBox 26"/>
          <p:cNvSpPr txBox="1"/>
          <p:nvPr/>
        </p:nvSpPr>
        <p:spPr>
          <a:xfrm>
            <a:off x="7315200" y="2103120"/>
            <a:ext cx="3931920" cy="320040"/>
          </a:xfrm>
          <a:prstGeom prst="rect">
            <a:avLst/>
          </a:prstGeom>
          <a:noFill/>
        </p:spPr>
        <p:txBody>
          <a:bodyPr wrap="square" anchor="t" lIns="0" rIns="0" tIns="0" bIns="0">
            <a:spAutoFit/>
          </a:bodyPr>
          <a:lstStyle/>
          <a:p>
            <a:pPr algn="l">
              <a:lnSpc>
                <a:spcPct val="100000"/>
              </a:lnSpc>
            </a:pPr>
            <a:r>
              <a:rPr sz="1300" b="0" i="1">
                <a:solidFill>
                  <a:srgbClr val="E06C5A"/>
                </a:solidFill>
                <a:latin typeface="Consolas"/>
              </a:rPr>
              <a:t>(no output)</a:t>
            </a:r>
          </a:p>
        </p:txBody>
      </p:sp>
      <p:sp>
        <p:nvSpPr>
          <p:cNvPr id="28" name="TextBox 27"/>
          <p:cNvSpPr txBox="1"/>
          <p:nvPr/>
        </p:nvSpPr>
        <p:spPr>
          <a:xfrm>
            <a:off x="7315200" y="2606040"/>
            <a:ext cx="3931920" cy="3291840"/>
          </a:xfrm>
          <a:prstGeom prst="rect">
            <a:avLst/>
          </a:prstGeom>
          <a:noFill/>
        </p:spPr>
        <p:txBody>
          <a:bodyPr wrap="square" anchor="t" lIns="0" rIns="0" tIns="0" bIns="0">
            <a:spAutoFit/>
          </a:bodyPr>
          <a:lstStyle/>
          <a:p>
            <a:pPr algn="l">
              <a:lnSpc>
                <a:spcPct val="125000"/>
              </a:lnSpc>
            </a:pPr>
            <a:r>
              <a:rPr sz="1300" b="0" i="0">
                <a:solidFill>
                  <a:srgbClr val="E3B341"/>
                </a:solidFill>
                <a:latin typeface="Consolas"/>
              </a:rPr>
              <a:t>Root cause:</a:t>
            </a:r>
          </a:p>
          <a:p>
            <a:pPr algn="l">
              <a:lnSpc>
                <a:spcPct val="125000"/>
              </a:lnSpc>
            </a:pPr>
            <a:r>
              <a:rPr sz="1300" b="0" i="0">
                <a:solidFill>
                  <a:srgbClr val="E3B341"/>
                </a:solidFill>
                <a:latin typeface="Consolas"/>
              </a:rPr>
              <a:t>  plugin checked "target_agent" /</a:t>
            </a:r>
          </a:p>
          <a:p>
            <a:pPr algn="l">
              <a:lnSpc>
                <a:spcPct val="125000"/>
              </a:lnSpc>
            </a:pPr>
            <a:r>
              <a:rPr sz="1300" b="0" i="0">
                <a:solidFill>
                  <a:srgbClr val="E3B341"/>
                </a:solidFill>
                <a:latin typeface="Consolas"/>
              </a:rPr>
              <a:t>  "agent_id" -- ADK's real</a:t>
            </a:r>
          </a:p>
          <a:p>
            <a:pPr algn="l">
              <a:lnSpc>
                <a:spcPct val="125000"/>
              </a:lnSpc>
            </a:pPr>
            <a:r>
              <a:rPr sz="1300" b="0" i="0">
                <a:solidFill>
                  <a:srgbClr val="E3B341"/>
                </a:solidFill>
                <a:latin typeface="Consolas"/>
              </a:rPr>
              <a:t>  transfer_to_agent tool</a:t>
            </a:r>
          </a:p>
          <a:p>
            <a:pPr algn="l">
              <a:lnSpc>
                <a:spcPct val="125000"/>
              </a:lnSpc>
            </a:pPr>
            <a:r>
              <a:rPr sz="1300" b="0" i="0">
                <a:solidFill>
                  <a:srgbClr val="E3B341"/>
                </a:solidFill>
                <a:latin typeface="Consolas"/>
              </a:rPr>
              <a:t>  takes "agent_name".</a:t>
            </a:r>
          </a:p>
          <a:p>
            <a:pPr algn="l">
              <a:lnSpc>
                <a:spcPct val="125000"/>
              </a:lnSpc>
            </a:pPr>
            <a:r>
              <a:rPr sz="1300" b="0" i="0">
                <a:solidFill>
                  <a:srgbClr val="E3B341"/>
                </a:solidFill>
                <a:latin typeface="Consolas"/>
              </a:rPr>
              <a:t/>
            </a:r>
          </a:p>
          <a:p>
            <a:pPr algn="l">
              <a:lnSpc>
                <a:spcPct val="125000"/>
              </a:lnSpc>
            </a:pPr>
            <a:r>
              <a:rPr sz="1300" b="0" i="0">
                <a:solidFill>
                  <a:srgbClr val="E3B341"/>
                </a:solidFill>
                <a:latin typeface="Consolas"/>
              </a:rPr>
              <a:t>Fix: match the real key --</a:t>
            </a:r>
          </a:p>
          <a:p>
            <a:pPr algn="l">
              <a:lnSpc>
                <a:spcPct val="125000"/>
              </a:lnSpc>
            </a:pPr>
            <a:r>
              <a:rPr sz="1300" b="0" i="0">
                <a:solidFill>
                  <a:srgbClr val="E3B341"/>
                </a:solidFill>
                <a:latin typeface="Consolas"/>
              </a:rPr>
              <a:t>plus 2 deeper hook-bus</a:t>
            </a:r>
          </a:p>
          <a:p>
            <a:pPr algn="l">
              <a:lnSpc>
                <a:spcPct val="125000"/>
              </a:lnSpc>
            </a:pPr>
            <a:r>
              <a:rPr sz="1300" b="0" i="0">
                <a:solidFill>
                  <a:srgbClr val="E3B341"/>
                </a:solidFill>
                <a:latin typeface="Consolas"/>
              </a:rPr>
              <a:t>bugs meant even a correct</a:t>
            </a:r>
          </a:p>
          <a:p>
            <a:pPr algn="l">
              <a:lnSpc>
                <a:spcPct val="125000"/>
              </a:lnSpc>
            </a:pPr>
            <a:r>
              <a:rPr sz="1300" b="0" i="0">
                <a:solidFill>
                  <a:srgbClr val="E3B341"/>
                </a:solidFill>
                <a:latin typeface="Consolas"/>
              </a:rPr>
              <a:t>match had no real effect</a:t>
            </a:r>
          </a:p>
          <a:p>
            <a:pPr algn="l">
              <a:lnSpc>
                <a:spcPct val="125000"/>
              </a:lnSpc>
            </a:pPr>
            <a:r>
              <a:rPr sz="1300" b="0" i="0">
                <a:solidFill>
                  <a:srgbClr val="E3B341"/>
                </a:solidFill>
                <a:latin typeface="Consolas"/>
              </a:rPr>
              <a:t>until this round.</a:t>
            </a:r>
          </a:p>
        </p:txBody>
      </p:sp>
      <p:sp>
        <p:nvSpPr>
          <p:cNvPr id="29" name="TextBox 28"/>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30" name="TextBox 29"/>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C13F39"/>
                </a:solidFill>
                <a:latin typeface="Consolas"/>
              </a:rPr>
              <a:t>AS A DEVELOPER</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700" b="1" i="1">
                <a:solidFill>
                  <a:srgbClr val="1C1E27"/>
                </a:solidFill>
                <a:latin typeface="Georgia"/>
              </a:rPr>
              <a:t>A bug I found while verifying my own fix</a:t>
            </a:r>
          </a:p>
        </p:txBody>
      </p:sp>
      <p:sp>
        <p:nvSpPr>
          <p:cNvPr id="4" name="Rounded Rectangle 3"/>
          <p:cNvSpPr/>
          <p:nvPr/>
        </p:nvSpPr>
        <p:spPr>
          <a:xfrm>
            <a:off x="640080" y="1737360"/>
            <a:ext cx="6309360" cy="4297680"/>
          </a:xfrm>
          <a:prstGeom prst="roundRect">
            <a:avLst>
              <a:gd name="adj" fmla="val 3000"/>
            </a:avLst>
          </a:prstGeom>
          <a:solidFill>
            <a:srgbClr val="FFFFFF"/>
          </a:solidFill>
          <a:ln w="1270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5760720" cy="365760"/>
          </a:xfrm>
          <a:prstGeom prst="rect">
            <a:avLst/>
          </a:prstGeom>
          <a:noFill/>
        </p:spPr>
        <p:txBody>
          <a:bodyPr wrap="square" anchor="t" lIns="0" rIns="0" tIns="0" bIns="0">
            <a:spAutoFit/>
          </a:bodyPr>
          <a:lstStyle/>
          <a:p>
            <a:pPr algn="l">
              <a:lnSpc>
                <a:spcPct val="100000"/>
              </a:lnSpc>
            </a:pPr>
            <a:r>
              <a:rPr sz="1500" b="1" i="0">
                <a:solidFill>
                  <a:srgbClr val="1C1E27"/>
                </a:solidFill>
                <a:latin typeface="Calibri"/>
              </a:rPr>
              <a:t>What I found</a:t>
            </a:r>
          </a:p>
        </p:txBody>
      </p:sp>
      <p:sp>
        <p:nvSpPr>
          <p:cNvPr id="6" name="TextBox 5"/>
          <p:cNvSpPr txBox="1"/>
          <p:nvPr/>
        </p:nvSpPr>
        <p:spPr>
          <a:xfrm>
            <a:off x="914400" y="2423160"/>
            <a:ext cx="5760720" cy="3474720"/>
          </a:xfrm>
          <a:prstGeom prst="rect">
            <a:avLst/>
          </a:prstGeom>
          <a:noFill/>
        </p:spPr>
        <p:txBody>
          <a:bodyPr wrap="square" lIns="0" rIns="0">
            <a:spAutoFit/>
          </a:bodyPr>
          <a:lstStyle/>
          <a:p>
            <a:pPr>
              <a:spcAft>
                <a:spcPts val="1200"/>
              </a:spcAft>
            </a:pPr>
            <a:r>
              <a:rPr sz="1450" b="1">
                <a:solidFill>
                  <a:srgbClr val="A6741C"/>
                </a:solidFill>
                <a:latin typeface="Calibri"/>
              </a:rPr>
              <a:t>—  </a:t>
            </a:r>
            <a:r>
              <a:rPr sz="1450">
                <a:solidFill>
                  <a:srgbClr val="1C1E27"/>
                </a:solidFill>
                <a:latin typeface="Calibri"/>
              </a:rPr>
              <a:t>message_spoofing fired every run, but never once mutated a message — in any run, ever.</a:t>
            </a:r>
          </a:p>
          <a:p>
            <a:pPr>
              <a:spcAft>
                <a:spcPts val="1200"/>
              </a:spcAft>
            </a:pPr>
            <a:r>
              <a:rPr sz="1450" b="1">
                <a:solidFill>
                  <a:srgbClr val="A6741C"/>
                </a:solidFill>
                <a:latin typeface="Calibri"/>
              </a:rPr>
              <a:t>—  </a:t>
            </a:r>
            <a:r>
              <a:rPr sz="1450">
                <a:solidFill>
                  <a:srgbClr val="1C1E27"/>
                </a:solidFill>
                <a:latin typeface="Calibri"/>
              </a:rPr>
              <a:t>Cause #1: my runtime glue passed the literal string "agent" as the sender identity, not the real agent's name.</a:t>
            </a:r>
          </a:p>
          <a:p>
            <a:pPr>
              <a:spcAft>
                <a:spcPts val="1200"/>
              </a:spcAft>
            </a:pPr>
            <a:r>
              <a:rPr sz="1450" b="1">
                <a:solidFill>
                  <a:srgbClr val="A6741C"/>
                </a:solidFill>
                <a:latin typeface="Calibri"/>
              </a:rPr>
              <a:t>—  </a:t>
            </a:r>
            <a:r>
              <a:rPr sz="1450">
                <a:solidFill>
                  <a:srgbClr val="1C1E27"/>
                </a:solidFill>
                <a:latin typeface="Calibri"/>
              </a:rPr>
              <a:t>Cause #2: the shipped config targeted an agent name that doesn't exist anywhere in the system.</a:t>
            </a:r>
          </a:p>
          <a:p>
            <a:pPr>
              <a:spcAft>
                <a:spcPts val="1200"/>
              </a:spcAft>
            </a:pPr>
            <a:r>
              <a:rPr sz="1450" b="1">
                <a:solidFill>
                  <a:srgbClr val="A6741C"/>
                </a:solidFill>
                <a:latin typeface="Calibri"/>
              </a:rPr>
              <a:t>—  </a:t>
            </a:r>
            <a:r>
              <a:rPr sz="1450">
                <a:solidFill>
                  <a:srgbClr val="1C1E27"/>
                </a:solidFill>
                <a:latin typeface="Calibri"/>
              </a:rPr>
              <a:t>Two bugs stacking meant the match condition could never succeed — a silent, permanent no-op.</a:t>
            </a:r>
          </a:p>
        </p:txBody>
      </p:sp>
      <p:sp>
        <p:nvSpPr>
          <p:cNvPr id="7" name="Rounded Rectangle 6"/>
          <p:cNvSpPr/>
          <p:nvPr/>
        </p:nvSpPr>
        <p:spPr>
          <a:xfrm>
            <a:off x="7223760" y="1737360"/>
            <a:ext cx="4297680" cy="4297680"/>
          </a:xfrm>
          <a:prstGeom prst="roundRect">
            <a:avLst>
              <a:gd name="adj" fmla="val 4000"/>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0" y="1965960"/>
            <a:ext cx="3749039" cy="320040"/>
          </a:xfrm>
          <a:prstGeom prst="rect">
            <a:avLst/>
          </a:prstGeom>
          <a:noFill/>
        </p:spPr>
        <p:txBody>
          <a:bodyPr wrap="square" anchor="t" lIns="0" rIns="0" tIns="0" bIns="0">
            <a:spAutoFit/>
          </a:bodyPr>
          <a:lstStyle/>
          <a:p>
            <a:pPr algn="l">
              <a:lnSpc>
                <a:spcPct val="100000"/>
              </a:lnSpc>
            </a:pPr>
            <a:r>
              <a:rPr sz="1200" b="1" i="0">
                <a:solidFill>
                  <a:srgbClr val="2F8F55"/>
                </a:solidFill>
                <a:latin typeface="Consolas"/>
              </a:rPr>
              <a:t>AFTER THE FIX — LIVE</a:t>
            </a:r>
          </a:p>
        </p:txBody>
      </p:sp>
      <p:sp>
        <p:nvSpPr>
          <p:cNvPr id="9" name="TextBox 8"/>
          <p:cNvSpPr txBox="1"/>
          <p:nvPr/>
        </p:nvSpPr>
        <p:spPr>
          <a:xfrm>
            <a:off x="7498080" y="2468880"/>
            <a:ext cx="3749039" cy="3383280"/>
          </a:xfrm>
          <a:prstGeom prst="rect">
            <a:avLst/>
          </a:prstGeom>
          <a:noFill/>
        </p:spPr>
        <p:txBody>
          <a:bodyPr wrap="square" anchor="t" lIns="0" rIns="0" tIns="0" bIns="0">
            <a:spAutoFit/>
          </a:bodyPr>
          <a:lstStyle/>
          <a:p>
            <a:pPr algn="l">
              <a:lnSpc>
                <a:spcPct val="125000"/>
              </a:lnSpc>
            </a:pPr>
            <a:r>
              <a:rPr sz="1300" b="0" i="0">
                <a:solidFill>
                  <a:srgbClr val="E3B341"/>
                </a:solidFill>
                <a:latin typeface="Consolas"/>
              </a:rPr>
              <a:t>{</a:t>
            </a:r>
          </a:p>
          <a:p>
            <a:pPr algn="l">
              <a:lnSpc>
                <a:spcPct val="125000"/>
              </a:lnSpc>
            </a:pPr>
            <a:r>
              <a:rPr sz="1300" b="0" i="0">
                <a:solidFill>
                  <a:srgbClr val="E3B341"/>
                </a:solidFill>
                <a:latin typeface="Consolas"/>
              </a:rPr>
              <a:t>  "event_type": "ATTACK_INJECTED",</a:t>
            </a:r>
          </a:p>
          <a:p>
            <a:pPr algn="l">
              <a:lnSpc>
                <a:spcPct val="125000"/>
              </a:lnSpc>
            </a:pPr>
            <a:r>
              <a:rPr sz="1300" b="0" i="0">
                <a:solidFill>
                  <a:srgbClr val="E3B341"/>
                </a:solidFill>
                <a:latin typeface="Consolas"/>
              </a:rPr>
              <a:t>  "stage": "interaction",</a:t>
            </a:r>
          </a:p>
          <a:p>
            <a:pPr algn="l">
              <a:lnSpc>
                <a:spcPct val="125000"/>
              </a:lnSpc>
            </a:pPr>
            <a:r>
              <a:rPr sz="1300" b="0" i="0">
                <a:solidFill>
                  <a:srgbClr val="E3B341"/>
                </a:solidFill>
                <a:latin typeface="Consolas"/>
              </a:rPr>
              <a:t>  "plugin": "message_spoofing",</a:t>
            </a:r>
          </a:p>
          <a:p>
            <a:pPr algn="l">
              <a:lnSpc>
                <a:spcPct val="125000"/>
              </a:lnSpc>
            </a:pPr>
            <a:r>
              <a:rPr sz="1300" b="0" i="0">
                <a:solidFill>
                  <a:srgbClr val="E3B341"/>
                </a:solidFill>
                <a:latin typeface="Consolas"/>
              </a:rPr>
              <a:t>  "observed_impact": "mutate"</a:t>
            </a:r>
          </a:p>
          <a:p>
            <a:pPr algn="l">
              <a:lnSpc>
                <a:spcPct val="125000"/>
              </a:lnSpc>
            </a:pPr>
            <a:r>
              <a:rPr sz="1300" b="0" i="0">
                <a:solidFill>
                  <a:srgbClr val="E3B341"/>
                </a:solidFill>
                <a:latin typeface="Consolas"/>
              </a:rPr>
              <a:t>}</a:t>
            </a:r>
          </a:p>
          <a:p>
            <a:pPr algn="l">
              <a:lnSpc>
                <a:spcPct val="125000"/>
              </a:lnSpc>
            </a:pPr>
            <a:r>
              <a:rPr sz="1300" b="0" i="0">
                <a:solidFill>
                  <a:srgbClr val="E3B341"/>
                </a:solidFill>
                <a:latin typeface="Consolas"/>
              </a:rPr>
              <a:t/>
            </a:r>
          </a:p>
          <a:p>
            <a:pPr algn="l">
              <a:lnSpc>
                <a:spcPct val="125000"/>
              </a:lnSpc>
            </a:pPr>
            <a:r>
              <a:rPr sz="1300" b="0" i="0">
                <a:solidFill>
                  <a:srgbClr val="E3B341"/>
                </a:solidFill>
                <a:latin typeface="Consolas"/>
              </a:rPr>
              <a:t>{</a:t>
            </a:r>
          </a:p>
          <a:p>
            <a:pPr algn="l">
              <a:lnSpc>
                <a:spcPct val="125000"/>
              </a:lnSpc>
            </a:pPr>
            <a:r>
              <a:rPr sz="1300" b="0" i="0">
                <a:solidFill>
                  <a:srgbClr val="E3B341"/>
                </a:solidFill>
                <a:latin typeface="Consolas"/>
              </a:rPr>
              <a:t>  "event_type": "MESSAGE_MUTATE",</a:t>
            </a:r>
          </a:p>
          <a:p>
            <a:pPr algn="l">
              <a:lnSpc>
                <a:spcPct val="125000"/>
              </a:lnSpc>
            </a:pPr>
            <a:r>
              <a:rPr sz="1300" b="0" i="0">
                <a:solidFill>
                  <a:srgbClr val="E3B341"/>
                </a:solidFill>
                <a:latin typeface="Consolas"/>
              </a:rPr>
              <a:t>  "agent_id":</a:t>
            </a:r>
          </a:p>
          <a:p>
            <a:pPr algn="l">
              <a:lnSpc>
                <a:spcPct val="125000"/>
              </a:lnSpc>
            </a:pPr>
            <a:r>
              <a:rPr sz="1300" b="0" i="0">
                <a:solidFill>
                  <a:srgbClr val="E3B341"/>
                </a:solidFill>
                <a:latin typeface="Consolas"/>
              </a:rPr>
              <a:t>    "risk_compliance_agent",</a:t>
            </a:r>
          </a:p>
          <a:p>
            <a:pPr algn="l">
              <a:lnSpc>
                <a:spcPct val="125000"/>
              </a:lnSpc>
            </a:pPr>
            <a:r>
              <a:rPr sz="1300" b="0" i="0">
                <a:solidFill>
                  <a:srgbClr val="E3B341"/>
                </a:solidFill>
                <a:latin typeface="Consolas"/>
              </a:rPr>
              <a:t>  "business_domain": "mid_office"</a:t>
            </a:r>
          </a:p>
          <a:p>
            <a:pPr algn="l">
              <a:lnSpc>
                <a:spcPct val="125000"/>
              </a:lnSpc>
            </a:pPr>
            <a:r>
              <a:rPr sz="1300" b="0" i="0">
                <a:solidFill>
                  <a:srgbClr val="E3B341"/>
                </a:solidFill>
                <a:latin typeface="Consolas"/>
              </a:rPr>
              <a:t>}</a:t>
            </a:r>
          </a:p>
        </p:txBody>
      </p:sp>
      <p:sp>
        <p:nvSpPr>
          <p:cNvPr id="10" name="TextBox 9"/>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11" name="TextBox 10"/>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HOW I KNOW IT WORKS</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900" b="1" i="1">
                <a:solidFill>
                  <a:srgbClr val="1C1E27"/>
                </a:solidFill>
                <a:latin typeface="Georgia"/>
              </a:rPr>
              <a:t>Verified live, not just claimed</a:t>
            </a:r>
          </a:p>
        </p:txBody>
      </p:sp>
      <p:sp>
        <p:nvSpPr>
          <p:cNvPr id="4" name="Rounded Rectangle 3"/>
          <p:cNvSpPr/>
          <p:nvPr/>
        </p:nvSpPr>
        <p:spPr>
          <a:xfrm>
            <a:off x="640080" y="1691640"/>
            <a:ext cx="5212080" cy="1965960"/>
          </a:xfrm>
          <a:prstGeom prst="roundRect">
            <a:avLst>
              <a:gd name="adj" fmla="val 4000"/>
            </a:avLst>
          </a:prstGeom>
          <a:solidFill>
            <a:srgbClr val="FFFFFF"/>
          </a:solidFill>
          <a:ln w="25400">
            <a:solidFill>
              <a:srgbClr val="C13F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56232"/>
            <a:ext cx="4663440" cy="274320"/>
          </a:xfrm>
          <a:prstGeom prst="rect">
            <a:avLst/>
          </a:prstGeom>
          <a:noFill/>
        </p:spPr>
        <p:txBody>
          <a:bodyPr wrap="square" anchor="t" lIns="0" rIns="0" tIns="0" bIns="0">
            <a:spAutoFit/>
          </a:bodyPr>
          <a:lstStyle/>
          <a:p>
            <a:pPr algn="l">
              <a:lnSpc>
                <a:spcPct val="100000"/>
              </a:lnSpc>
            </a:pPr>
            <a:r>
              <a:rPr sz="1200" b="1" i="0">
                <a:solidFill>
                  <a:srgbClr val="C13F39"/>
                </a:solidFill>
                <a:latin typeface="Consolas"/>
              </a:rPr>
              <a:t>BEFORE</a:t>
            </a:r>
          </a:p>
        </p:txBody>
      </p:sp>
      <p:sp>
        <p:nvSpPr>
          <p:cNvPr id="6" name="TextBox 5"/>
          <p:cNvSpPr txBox="1"/>
          <p:nvPr/>
        </p:nvSpPr>
        <p:spPr>
          <a:xfrm>
            <a:off x="914400" y="2194560"/>
            <a:ext cx="4663440" cy="1371600"/>
          </a:xfrm>
          <a:prstGeom prst="rect">
            <a:avLst/>
          </a:prstGeom>
          <a:noFill/>
        </p:spPr>
        <p:txBody>
          <a:bodyPr wrap="square" anchor="t" lIns="0" rIns="0" tIns="0" bIns="0">
            <a:spAutoFit/>
          </a:bodyPr>
          <a:lstStyle/>
          <a:p>
            <a:pPr algn="l">
              <a:lnSpc>
                <a:spcPct val="130000"/>
              </a:lnSpc>
            </a:pPr>
            <a:r>
              <a:rPr sz="1350" b="0" i="0">
                <a:solidFill>
                  <a:srgbClr val="C13F39"/>
                </a:solidFill>
                <a:latin typeface="Consolas"/>
              </a:rPr>
              <a:t>after_input / after_agent / after_message /</a:t>
            </a:r>
          </a:p>
          <a:p>
            <a:pPr algn="l">
              <a:lnSpc>
                <a:spcPct val="130000"/>
              </a:lnSpc>
            </a:pPr>
            <a:r>
              <a:rPr sz="1350" b="0" i="0">
                <a:solidFill>
                  <a:srgbClr val="C13F39"/>
                </a:solidFill>
                <a:latin typeface="Consolas"/>
              </a:rPr>
              <a:t>before_output: stuck at 0, every run</a:t>
            </a:r>
          </a:p>
          <a:p>
            <a:pPr algn="l">
              <a:lnSpc>
                <a:spcPct val="130000"/>
              </a:lnSpc>
            </a:pPr>
            <a:r>
              <a:rPr sz="1350" b="0" i="0">
                <a:solidFill>
                  <a:srgbClr val="C13F39"/>
                </a:solidFill>
                <a:latin typeface="Consolas"/>
              </a:rPr>
              <a:t/>
            </a:r>
          </a:p>
          <a:p>
            <a:pPr algn="l">
              <a:lnSpc>
                <a:spcPct val="130000"/>
              </a:lnSpc>
            </a:pPr>
            <a:r>
              <a:rPr sz="1350" b="0" i="0">
                <a:solidFill>
                  <a:srgbClr val="C13F39"/>
                </a:solidFill>
                <a:latin typeface="Consolas"/>
              </a:rPr>
              <a:t>workflow_outcome: "completed" (always)</a:t>
            </a:r>
          </a:p>
        </p:txBody>
      </p:sp>
      <p:sp>
        <p:nvSpPr>
          <p:cNvPr id="7" name="Rounded Rectangle 6"/>
          <p:cNvSpPr/>
          <p:nvPr/>
        </p:nvSpPr>
        <p:spPr>
          <a:xfrm>
            <a:off x="6309360" y="1691640"/>
            <a:ext cx="5212080" cy="1965960"/>
          </a:xfrm>
          <a:prstGeom prst="roundRect">
            <a:avLst>
              <a:gd name="adj" fmla="val 4000"/>
            </a:avLst>
          </a:prstGeom>
          <a:solidFill>
            <a:srgbClr val="FFFFFF"/>
          </a:solidFill>
          <a:ln w="25400">
            <a:solidFill>
              <a:srgbClr val="2F8F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856232"/>
            <a:ext cx="4663440" cy="274320"/>
          </a:xfrm>
          <a:prstGeom prst="rect">
            <a:avLst/>
          </a:prstGeom>
          <a:noFill/>
        </p:spPr>
        <p:txBody>
          <a:bodyPr wrap="square" anchor="t" lIns="0" rIns="0" tIns="0" bIns="0">
            <a:spAutoFit/>
          </a:bodyPr>
          <a:lstStyle/>
          <a:p>
            <a:pPr algn="l">
              <a:lnSpc>
                <a:spcPct val="100000"/>
              </a:lnSpc>
            </a:pPr>
            <a:r>
              <a:rPr sz="1200" b="1" i="0">
                <a:solidFill>
                  <a:srgbClr val="2F8F55"/>
                </a:solidFill>
                <a:latin typeface="Consolas"/>
              </a:rPr>
              <a:t>AFTER</a:t>
            </a:r>
          </a:p>
        </p:txBody>
      </p:sp>
      <p:sp>
        <p:nvSpPr>
          <p:cNvPr id="9" name="TextBox 8"/>
          <p:cNvSpPr txBox="1"/>
          <p:nvPr/>
        </p:nvSpPr>
        <p:spPr>
          <a:xfrm>
            <a:off x="6583680" y="2194560"/>
            <a:ext cx="4663440" cy="1371600"/>
          </a:xfrm>
          <a:prstGeom prst="rect">
            <a:avLst/>
          </a:prstGeom>
          <a:noFill/>
        </p:spPr>
        <p:txBody>
          <a:bodyPr wrap="square" anchor="t" lIns="0" rIns="0" tIns="0" bIns="0">
            <a:spAutoFit/>
          </a:bodyPr>
          <a:lstStyle/>
          <a:p>
            <a:pPr algn="l">
              <a:lnSpc>
                <a:spcPct val="130000"/>
              </a:lnSpc>
            </a:pPr>
            <a:r>
              <a:rPr sz="1350" b="0" i="0">
                <a:solidFill>
                  <a:srgbClr val="2F8F55"/>
                </a:solidFill>
                <a:latin typeface="Consolas"/>
              </a:rPr>
              <a:t>all 10 hook points fire, verified live</a:t>
            </a:r>
          </a:p>
          <a:p>
            <a:pPr algn="l">
              <a:lnSpc>
                <a:spcPct val="130000"/>
              </a:lnSpc>
            </a:pPr>
            <a:r>
              <a:rPr sz="1350" b="0" i="0">
                <a:solidFill>
                  <a:srgbClr val="2F8F55"/>
                </a:solidFill>
                <a:latin typeface="Consolas"/>
              </a:rPr>
              <a:t/>
            </a:r>
          </a:p>
          <a:p>
            <a:pPr algn="l">
              <a:lnSpc>
                <a:spcPct val="130000"/>
              </a:lnSpc>
            </a:pPr>
            <a:r>
              <a:rPr sz="1350" b="0" i="0">
                <a:solidFill>
                  <a:srgbClr val="2F8F55"/>
                </a:solidFill>
                <a:latin typeface="Consolas"/>
              </a:rPr>
              <a:t>workflow_outcome: "manual_review" (real,</a:t>
            </a:r>
          </a:p>
          <a:p>
            <a:pPr algn="l">
              <a:lnSpc>
                <a:spcPct val="130000"/>
              </a:lnSpc>
            </a:pPr>
            <a:r>
              <a:rPr sz="1350" b="0" i="0">
                <a:solidFill>
                  <a:srgbClr val="2F8F55"/>
                </a:solidFill>
                <a:latin typeface="Consolas"/>
              </a:rPr>
              <a:t>when that's what actually happened)</a:t>
            </a:r>
          </a:p>
        </p:txBody>
      </p:sp>
      <p:sp>
        <p:nvSpPr>
          <p:cNvPr id="10" name="Rounded Rectangle 9"/>
          <p:cNvSpPr/>
          <p:nvPr/>
        </p:nvSpPr>
        <p:spPr>
          <a:xfrm>
            <a:off x="640080" y="3977639"/>
            <a:ext cx="3108960" cy="41148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77639"/>
            <a:ext cx="2926080" cy="411480"/>
          </a:xfrm>
          <a:prstGeom prst="rect">
            <a:avLst/>
          </a:prstGeom>
          <a:noFill/>
        </p:spPr>
        <p:txBody>
          <a:bodyPr wrap="square" anchor="ctr" lIns="0" rIns="0" tIns="0" bIns="0">
            <a:spAutoFit/>
          </a:bodyPr>
          <a:lstStyle/>
          <a:p>
            <a:pPr algn="l">
              <a:lnSpc>
                <a:spcPct val="100000"/>
              </a:lnSpc>
            </a:pPr>
            <a:r>
              <a:rPr sz="1150" b="1" i="0">
                <a:solidFill>
                  <a:srgbClr val="FFFFFF"/>
                </a:solidFill>
                <a:latin typeface="Consolas"/>
              </a:rPr>
              <a:t>Test Layer</a:t>
            </a:r>
          </a:p>
        </p:txBody>
      </p:sp>
      <p:sp>
        <p:nvSpPr>
          <p:cNvPr id="12" name="Rounded Rectangle 11"/>
          <p:cNvSpPr/>
          <p:nvPr/>
        </p:nvSpPr>
        <p:spPr>
          <a:xfrm>
            <a:off x="3749040" y="3977639"/>
            <a:ext cx="1371600" cy="41148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0" y="3977639"/>
            <a:ext cx="1188720" cy="411480"/>
          </a:xfrm>
          <a:prstGeom prst="rect">
            <a:avLst/>
          </a:prstGeom>
          <a:noFill/>
        </p:spPr>
        <p:txBody>
          <a:bodyPr wrap="square" anchor="ctr" lIns="0" rIns="0" tIns="0" bIns="0">
            <a:spAutoFit/>
          </a:bodyPr>
          <a:lstStyle/>
          <a:p>
            <a:pPr algn="l">
              <a:lnSpc>
                <a:spcPct val="100000"/>
              </a:lnSpc>
            </a:pPr>
            <a:r>
              <a:rPr sz="1150" b="1" i="0">
                <a:solidFill>
                  <a:srgbClr val="FFFFFF"/>
                </a:solidFill>
                <a:latin typeface="Consolas"/>
              </a:rPr>
              <a:t>Count</a:t>
            </a:r>
          </a:p>
        </p:txBody>
      </p:sp>
      <p:sp>
        <p:nvSpPr>
          <p:cNvPr id="14" name="Rounded Rectangle 13"/>
          <p:cNvSpPr/>
          <p:nvPr/>
        </p:nvSpPr>
        <p:spPr>
          <a:xfrm>
            <a:off x="5120640" y="3977639"/>
            <a:ext cx="1280160" cy="41148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0" y="3977639"/>
            <a:ext cx="1097280" cy="411480"/>
          </a:xfrm>
          <a:prstGeom prst="rect">
            <a:avLst/>
          </a:prstGeom>
          <a:noFill/>
        </p:spPr>
        <p:txBody>
          <a:bodyPr wrap="square" anchor="ctr" lIns="0" rIns="0" tIns="0" bIns="0">
            <a:spAutoFit/>
          </a:bodyPr>
          <a:lstStyle/>
          <a:p>
            <a:pPr algn="l">
              <a:lnSpc>
                <a:spcPct val="100000"/>
              </a:lnSpc>
            </a:pPr>
            <a:r>
              <a:rPr sz="1150" b="1" i="0">
                <a:solidFill>
                  <a:srgbClr val="FFFFFF"/>
                </a:solidFill>
                <a:latin typeface="Consolas"/>
              </a:rPr>
              <a:t>Backend?</a:t>
            </a:r>
          </a:p>
        </p:txBody>
      </p:sp>
      <p:sp>
        <p:nvSpPr>
          <p:cNvPr id="16" name="Rounded Rectangle 15"/>
          <p:cNvSpPr/>
          <p:nvPr/>
        </p:nvSpPr>
        <p:spPr>
          <a:xfrm>
            <a:off x="6400800" y="3977639"/>
            <a:ext cx="1280160" cy="41148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977639"/>
            <a:ext cx="1097280" cy="411480"/>
          </a:xfrm>
          <a:prstGeom prst="rect">
            <a:avLst/>
          </a:prstGeom>
          <a:noFill/>
        </p:spPr>
        <p:txBody>
          <a:bodyPr wrap="square" anchor="ctr" lIns="0" rIns="0" tIns="0" bIns="0">
            <a:spAutoFit/>
          </a:bodyPr>
          <a:lstStyle/>
          <a:p>
            <a:pPr algn="l">
              <a:lnSpc>
                <a:spcPct val="100000"/>
              </a:lnSpc>
            </a:pPr>
            <a:r>
              <a:rPr sz="1150" b="1" i="0">
                <a:solidFill>
                  <a:srgbClr val="FFFFFF"/>
                </a:solidFill>
                <a:latin typeface="Consolas"/>
              </a:rPr>
              <a:t>LLM Key?</a:t>
            </a:r>
          </a:p>
        </p:txBody>
      </p:sp>
      <p:sp>
        <p:nvSpPr>
          <p:cNvPr id="18" name="Rounded Rectangle 17"/>
          <p:cNvSpPr/>
          <p:nvPr/>
        </p:nvSpPr>
        <p:spPr>
          <a:xfrm>
            <a:off x="640080" y="4389119"/>
            <a:ext cx="310896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89119"/>
            <a:ext cx="2926080" cy="502920"/>
          </a:xfrm>
          <a:prstGeom prst="rect">
            <a:avLst/>
          </a:prstGeom>
          <a:noFill/>
        </p:spPr>
        <p:txBody>
          <a:bodyPr wrap="square" anchor="ctr" lIns="0" rIns="0" tIns="0" bIns="0">
            <a:spAutoFit/>
          </a:bodyPr>
          <a:lstStyle/>
          <a:p>
            <a:pPr algn="l">
              <a:lnSpc>
                <a:spcPct val="100000"/>
              </a:lnSpc>
            </a:pPr>
            <a:r>
              <a:rPr sz="1250" b="1" i="0">
                <a:solidFill>
                  <a:srgbClr val="1C1E27"/>
                </a:solidFill>
                <a:latin typeface="Calibri"/>
              </a:rPr>
              <a:t>Unit, contract &amp; regression (offline)</a:t>
            </a:r>
          </a:p>
        </p:txBody>
      </p:sp>
      <p:sp>
        <p:nvSpPr>
          <p:cNvPr id="20" name="Rounded Rectangle 19"/>
          <p:cNvSpPr/>
          <p:nvPr/>
        </p:nvSpPr>
        <p:spPr>
          <a:xfrm>
            <a:off x="3749040" y="4389119"/>
            <a:ext cx="137160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40480" y="4389119"/>
            <a:ext cx="118872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141</a:t>
            </a:r>
          </a:p>
        </p:txBody>
      </p:sp>
      <p:sp>
        <p:nvSpPr>
          <p:cNvPr id="22" name="Rounded Rectangle 21"/>
          <p:cNvSpPr/>
          <p:nvPr/>
        </p:nvSpPr>
        <p:spPr>
          <a:xfrm>
            <a:off x="5120640" y="4389119"/>
            <a:ext cx="128016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0" y="4389119"/>
            <a:ext cx="109728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No</a:t>
            </a:r>
          </a:p>
        </p:txBody>
      </p:sp>
      <p:sp>
        <p:nvSpPr>
          <p:cNvPr id="24" name="Rounded Rectangle 23"/>
          <p:cNvSpPr/>
          <p:nvPr/>
        </p:nvSpPr>
        <p:spPr>
          <a:xfrm>
            <a:off x="6400800" y="4389119"/>
            <a:ext cx="128016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4389119"/>
            <a:ext cx="109728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No</a:t>
            </a:r>
          </a:p>
        </p:txBody>
      </p:sp>
      <p:sp>
        <p:nvSpPr>
          <p:cNvPr id="26" name="Rounded Rectangle 25"/>
          <p:cNvSpPr/>
          <p:nvPr/>
        </p:nvSpPr>
        <p:spPr>
          <a:xfrm>
            <a:off x="640080" y="4892039"/>
            <a:ext cx="3108960" cy="502920"/>
          </a:xfrm>
          <a:prstGeom prst="roundRect">
            <a:avLst/>
          </a:prstGeom>
          <a:solidFill>
            <a:srgbClr val="F7F5E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892039"/>
            <a:ext cx="2926080" cy="502920"/>
          </a:xfrm>
          <a:prstGeom prst="rect">
            <a:avLst/>
          </a:prstGeom>
          <a:noFill/>
        </p:spPr>
        <p:txBody>
          <a:bodyPr wrap="square" anchor="ctr" lIns="0" rIns="0" tIns="0" bIns="0">
            <a:spAutoFit/>
          </a:bodyPr>
          <a:lstStyle/>
          <a:p>
            <a:pPr algn="l">
              <a:lnSpc>
                <a:spcPct val="100000"/>
              </a:lnSpc>
            </a:pPr>
            <a:r>
              <a:rPr sz="1250" b="1" i="0">
                <a:solidFill>
                  <a:srgbClr val="1C1E27"/>
                </a:solidFill>
                <a:latin typeface="Calibri"/>
              </a:rPr>
              <a:t>Standalone banking backend (offline)</a:t>
            </a:r>
          </a:p>
        </p:txBody>
      </p:sp>
      <p:sp>
        <p:nvSpPr>
          <p:cNvPr id="28" name="Rounded Rectangle 27"/>
          <p:cNvSpPr/>
          <p:nvPr/>
        </p:nvSpPr>
        <p:spPr>
          <a:xfrm>
            <a:off x="3749040" y="4892039"/>
            <a:ext cx="1371600" cy="502920"/>
          </a:xfrm>
          <a:prstGeom prst="roundRect">
            <a:avLst/>
          </a:prstGeom>
          <a:solidFill>
            <a:srgbClr val="F7F5E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40480" y="4892039"/>
            <a:ext cx="118872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13</a:t>
            </a:r>
          </a:p>
        </p:txBody>
      </p:sp>
      <p:sp>
        <p:nvSpPr>
          <p:cNvPr id="30" name="Rounded Rectangle 29"/>
          <p:cNvSpPr/>
          <p:nvPr/>
        </p:nvSpPr>
        <p:spPr>
          <a:xfrm>
            <a:off x="5120640" y="4892039"/>
            <a:ext cx="1280160" cy="502920"/>
          </a:xfrm>
          <a:prstGeom prst="roundRect">
            <a:avLst/>
          </a:prstGeom>
          <a:solidFill>
            <a:srgbClr val="F7F5E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12080" y="4892039"/>
            <a:ext cx="109728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No</a:t>
            </a:r>
          </a:p>
        </p:txBody>
      </p:sp>
      <p:sp>
        <p:nvSpPr>
          <p:cNvPr id="32" name="Rounded Rectangle 31"/>
          <p:cNvSpPr/>
          <p:nvPr/>
        </p:nvSpPr>
        <p:spPr>
          <a:xfrm>
            <a:off x="6400800" y="4892039"/>
            <a:ext cx="1280160" cy="502920"/>
          </a:xfrm>
          <a:prstGeom prst="roundRect">
            <a:avLst/>
          </a:prstGeom>
          <a:solidFill>
            <a:srgbClr val="F7F5E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92240" y="4892039"/>
            <a:ext cx="109728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No</a:t>
            </a:r>
          </a:p>
        </p:txBody>
      </p:sp>
      <p:sp>
        <p:nvSpPr>
          <p:cNvPr id="34" name="Rounded Rectangle 33"/>
          <p:cNvSpPr/>
          <p:nvPr/>
        </p:nvSpPr>
        <p:spPr>
          <a:xfrm>
            <a:off x="640080" y="5394959"/>
            <a:ext cx="310896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394959"/>
            <a:ext cx="2926080" cy="502920"/>
          </a:xfrm>
          <a:prstGeom prst="rect">
            <a:avLst/>
          </a:prstGeom>
          <a:noFill/>
        </p:spPr>
        <p:txBody>
          <a:bodyPr wrap="square" anchor="ctr" lIns="0" rIns="0" tIns="0" bIns="0">
            <a:spAutoFit/>
          </a:bodyPr>
          <a:lstStyle/>
          <a:p>
            <a:pPr algn="l">
              <a:lnSpc>
                <a:spcPct val="100000"/>
              </a:lnSpc>
            </a:pPr>
            <a:r>
              <a:rPr sz="1250" b="1" i="0">
                <a:solidFill>
                  <a:srgbClr val="1C1E27"/>
                </a:solidFill>
                <a:latin typeface="Calibri"/>
              </a:rPr>
              <a:t>Live validation, WP0–WP7</a:t>
            </a:r>
          </a:p>
        </p:txBody>
      </p:sp>
      <p:sp>
        <p:nvSpPr>
          <p:cNvPr id="36" name="Rounded Rectangle 35"/>
          <p:cNvSpPr/>
          <p:nvPr/>
        </p:nvSpPr>
        <p:spPr>
          <a:xfrm>
            <a:off x="3749040" y="5394959"/>
            <a:ext cx="137160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0" y="5394959"/>
            <a:ext cx="118872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end-to-end</a:t>
            </a:r>
          </a:p>
        </p:txBody>
      </p:sp>
      <p:sp>
        <p:nvSpPr>
          <p:cNvPr id="38" name="Rounded Rectangle 37"/>
          <p:cNvSpPr/>
          <p:nvPr/>
        </p:nvSpPr>
        <p:spPr>
          <a:xfrm>
            <a:off x="5120640" y="5394959"/>
            <a:ext cx="128016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12080" y="5394959"/>
            <a:ext cx="1097280" cy="502920"/>
          </a:xfrm>
          <a:prstGeom prst="rect">
            <a:avLst/>
          </a:prstGeom>
          <a:noFill/>
        </p:spPr>
        <p:txBody>
          <a:bodyPr wrap="square" anchor="ctr" lIns="0" rIns="0" tIns="0" bIns="0">
            <a:spAutoFit/>
          </a:bodyPr>
          <a:lstStyle/>
          <a:p>
            <a:pPr algn="l">
              <a:lnSpc>
                <a:spcPct val="100000"/>
              </a:lnSpc>
            </a:pPr>
            <a:r>
              <a:rPr sz="1250" b="0" i="0">
                <a:solidFill>
                  <a:srgbClr val="C13F39"/>
                </a:solidFill>
                <a:latin typeface="Calibri"/>
              </a:rPr>
              <a:t>Yes</a:t>
            </a:r>
          </a:p>
        </p:txBody>
      </p:sp>
      <p:sp>
        <p:nvSpPr>
          <p:cNvPr id="40" name="Rounded Rectangle 39"/>
          <p:cNvSpPr/>
          <p:nvPr/>
        </p:nvSpPr>
        <p:spPr>
          <a:xfrm>
            <a:off x="6400800" y="5394959"/>
            <a:ext cx="128016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92240" y="5394959"/>
            <a:ext cx="1097280" cy="502920"/>
          </a:xfrm>
          <a:prstGeom prst="rect">
            <a:avLst/>
          </a:prstGeom>
          <a:noFill/>
        </p:spPr>
        <p:txBody>
          <a:bodyPr wrap="square" anchor="ctr" lIns="0" rIns="0" tIns="0" bIns="0">
            <a:spAutoFit/>
          </a:bodyPr>
          <a:lstStyle/>
          <a:p>
            <a:pPr algn="l">
              <a:lnSpc>
                <a:spcPct val="100000"/>
              </a:lnSpc>
            </a:pPr>
            <a:r>
              <a:rPr sz="1250" b="0" i="0">
                <a:solidFill>
                  <a:srgbClr val="C13F39"/>
                </a:solidFill>
                <a:latin typeface="Calibri"/>
              </a:rPr>
              <a:t>Yes</a:t>
            </a:r>
          </a:p>
        </p:txBody>
      </p:sp>
      <p:sp>
        <p:nvSpPr>
          <p:cNvPr id="42" name="TextBox 41"/>
          <p:cNvSpPr txBox="1"/>
          <p:nvPr/>
        </p:nvSpPr>
        <p:spPr>
          <a:xfrm>
            <a:off x="7772400" y="3977639"/>
            <a:ext cx="3749039" cy="1737360"/>
          </a:xfrm>
          <a:prstGeom prst="rect">
            <a:avLst/>
          </a:prstGeom>
          <a:noFill/>
        </p:spPr>
        <p:txBody>
          <a:bodyPr wrap="square" anchor="t" lIns="0" rIns="0" tIns="0" bIns="0">
            <a:spAutoFit/>
          </a:bodyPr>
          <a:lstStyle/>
          <a:p>
            <a:pPr algn="l">
              <a:lnSpc>
                <a:spcPct val="130000"/>
              </a:lnSpc>
            </a:pPr>
            <a:r>
              <a:rPr sz="1350" b="0" i="1">
                <a:solidFill>
                  <a:srgbClr val="5B6072"/>
                </a:solidFill>
                <a:latin typeface="Calibri"/>
              </a:rPr>
              <a:t>157 offline tests run in seconds.</a:t>
            </a:r>
          </a:p>
          <a:p>
            <a:pPr algn="l">
              <a:lnSpc>
                <a:spcPct val="130000"/>
              </a:lnSpc>
            </a:pPr>
            <a:r>
              <a:rPr sz="1350" b="0" i="1">
                <a:solidFill>
                  <a:srgbClr val="5B6072"/>
                </a:solidFill>
                <a:latin typeface="Calibri"/>
              </a:rPr>
              <a:t>The live suite takes 5–10 minutes —</a:t>
            </a:r>
          </a:p>
          <a:p>
            <a:pPr algn="l">
              <a:lnSpc>
                <a:spcPct val="130000"/>
              </a:lnSpc>
            </a:pPr>
            <a:r>
              <a:rPr sz="1350" b="0" i="1">
                <a:solidFill>
                  <a:srgbClr val="5B6072"/>
                </a:solidFill>
                <a:latin typeface="Calibri"/>
              </a:rPr>
              <a:t>real LLM calls — and is the ground</a:t>
            </a:r>
          </a:p>
          <a:p>
            <a:pPr algn="l">
              <a:lnSpc>
                <a:spcPct val="130000"/>
              </a:lnSpc>
            </a:pPr>
            <a:r>
              <a:rPr sz="1350" b="0" i="1">
                <a:solidFill>
                  <a:srgbClr val="5B6072"/>
                </a:solidFill>
                <a:latin typeface="Calibri"/>
              </a:rPr>
              <a:t>truth for "does this actually work."</a:t>
            </a:r>
          </a:p>
        </p:txBody>
      </p:sp>
      <p:sp>
        <p:nvSpPr>
          <p:cNvPr id="43" name="TextBox 42"/>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44" name="TextBox 43"/>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PROJECT STATUS</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500" b="1" i="1">
                <a:solidFill>
                  <a:srgbClr val="1C1E27"/>
                </a:solidFill>
                <a:latin typeface="Georgia"/>
              </a:rPr>
              <a:t>WP0–WP8: done, and I re-checked myself twice</a:t>
            </a:r>
          </a:p>
        </p:txBody>
      </p:sp>
      <p:sp>
        <p:nvSpPr>
          <p:cNvPr id="4" name="Rounded Rectangle 3"/>
          <p:cNvSpPr/>
          <p:nvPr/>
        </p:nvSpPr>
        <p:spPr>
          <a:xfrm>
            <a:off x="640080" y="1508760"/>
            <a:ext cx="3474720" cy="1298448"/>
          </a:xfrm>
          <a:prstGeom prst="roundRect">
            <a:avLst>
              <a:gd name="adj" fmla="val 6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08760"/>
            <a:ext cx="548640" cy="1298448"/>
          </a:xfrm>
          <a:prstGeom prst="roundRect">
            <a:avLst>
              <a:gd name="adj" fmla="val 6000"/>
            </a:avLst>
          </a:prstGeom>
          <a:solidFill>
            <a:srgbClr val="2F8F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7" name="TextBox 6"/>
          <p:cNvSpPr txBox="1"/>
          <p:nvPr/>
        </p:nvSpPr>
        <p:spPr>
          <a:xfrm>
            <a:off x="1353312" y="1600200"/>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WP0</a:t>
            </a:r>
          </a:p>
        </p:txBody>
      </p:sp>
      <p:sp>
        <p:nvSpPr>
          <p:cNvPr id="8" name="TextBox 7"/>
          <p:cNvSpPr txBox="1"/>
          <p:nvPr/>
        </p:nvSpPr>
        <p:spPr>
          <a:xfrm>
            <a:off x="1353312" y="1847088"/>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Freeze &amp; Characterize Baseline</a:t>
            </a:r>
          </a:p>
        </p:txBody>
      </p:sp>
      <p:sp>
        <p:nvSpPr>
          <p:cNvPr id="9" name="TextBox 8"/>
          <p:cNvSpPr txBox="1"/>
          <p:nvPr/>
        </p:nvSpPr>
        <p:spPr>
          <a:xfrm>
            <a:off x="1353312" y="2331720"/>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49 regression tests</a:t>
            </a:r>
          </a:p>
        </p:txBody>
      </p:sp>
      <p:sp>
        <p:nvSpPr>
          <p:cNvPr id="10" name="Rounded Rectangle 9"/>
          <p:cNvSpPr/>
          <p:nvPr/>
        </p:nvSpPr>
        <p:spPr>
          <a:xfrm>
            <a:off x="4343400" y="1508760"/>
            <a:ext cx="3474720" cy="1298448"/>
          </a:xfrm>
          <a:prstGeom prst="roundRect">
            <a:avLst>
              <a:gd name="adj" fmla="val 6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3400" y="1508760"/>
            <a:ext cx="548640" cy="1298448"/>
          </a:xfrm>
          <a:prstGeom prst="roundRect">
            <a:avLst>
              <a:gd name="adj" fmla="val 6000"/>
            </a:avLst>
          </a:prstGeom>
          <a:solidFill>
            <a:srgbClr val="2F8F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1508760"/>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13" name="TextBox 12"/>
          <p:cNvSpPr txBox="1"/>
          <p:nvPr/>
        </p:nvSpPr>
        <p:spPr>
          <a:xfrm>
            <a:off x="5056632" y="1600200"/>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WP1</a:t>
            </a:r>
          </a:p>
        </p:txBody>
      </p:sp>
      <p:sp>
        <p:nvSpPr>
          <p:cNvPr id="14" name="TextBox 13"/>
          <p:cNvSpPr txBox="1"/>
          <p:nvPr/>
        </p:nvSpPr>
        <p:spPr>
          <a:xfrm>
            <a:off x="5056632" y="1847088"/>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Modularize Banking Testbed</a:t>
            </a:r>
          </a:p>
        </p:txBody>
      </p:sp>
      <p:sp>
        <p:nvSpPr>
          <p:cNvPr id="15" name="TextBox 14"/>
          <p:cNvSpPr txBox="1"/>
          <p:nvPr/>
        </p:nvSpPr>
        <p:spPr>
          <a:xfrm>
            <a:off x="5056632" y="2331720"/>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real inventory, not a stub</a:t>
            </a:r>
          </a:p>
        </p:txBody>
      </p:sp>
      <p:sp>
        <p:nvSpPr>
          <p:cNvPr id="16" name="Rounded Rectangle 15"/>
          <p:cNvSpPr/>
          <p:nvPr/>
        </p:nvSpPr>
        <p:spPr>
          <a:xfrm>
            <a:off x="8046720" y="1508760"/>
            <a:ext cx="3474720" cy="1298448"/>
          </a:xfrm>
          <a:prstGeom prst="roundRect">
            <a:avLst>
              <a:gd name="adj" fmla="val 6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046720" y="1508760"/>
            <a:ext cx="548640" cy="1298448"/>
          </a:xfrm>
          <a:prstGeom prst="roundRect">
            <a:avLst>
              <a:gd name="adj" fmla="val 6000"/>
            </a:avLst>
          </a:prstGeom>
          <a:solidFill>
            <a:srgbClr val="2F8F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1508760"/>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19" name="TextBox 18"/>
          <p:cNvSpPr txBox="1"/>
          <p:nvPr/>
        </p:nvSpPr>
        <p:spPr>
          <a:xfrm>
            <a:off x="8759952" y="1600200"/>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WP2</a:t>
            </a:r>
          </a:p>
        </p:txBody>
      </p:sp>
      <p:sp>
        <p:nvSpPr>
          <p:cNvPr id="20" name="TextBox 19"/>
          <p:cNvSpPr txBox="1"/>
          <p:nvPr/>
        </p:nvSpPr>
        <p:spPr>
          <a:xfrm>
            <a:off x="8759952" y="1847088"/>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Config, Schemas, Registries</a:t>
            </a:r>
          </a:p>
        </p:txBody>
      </p:sp>
      <p:sp>
        <p:nvSpPr>
          <p:cNvPr id="21" name="TextBox 20"/>
          <p:cNvSpPr txBox="1"/>
          <p:nvPr/>
        </p:nvSpPr>
        <p:spPr>
          <a:xfrm>
            <a:off x="8759952" y="2331720"/>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domain/workflow/target validated</a:t>
            </a:r>
          </a:p>
        </p:txBody>
      </p:sp>
      <p:sp>
        <p:nvSpPr>
          <p:cNvPr id="22" name="Rounded Rectangle 21"/>
          <p:cNvSpPr/>
          <p:nvPr/>
        </p:nvSpPr>
        <p:spPr>
          <a:xfrm>
            <a:off x="640080" y="2944368"/>
            <a:ext cx="3474720" cy="1298448"/>
          </a:xfrm>
          <a:prstGeom prst="roundRect">
            <a:avLst>
              <a:gd name="adj" fmla="val 6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0080" y="2944368"/>
            <a:ext cx="548640" cy="1298448"/>
          </a:xfrm>
          <a:prstGeom prst="roundRect">
            <a:avLst>
              <a:gd name="adj" fmla="val 6000"/>
            </a:avLst>
          </a:prstGeom>
          <a:solidFill>
            <a:srgbClr val="2F8F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2944368"/>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25" name="TextBox 24"/>
          <p:cNvSpPr txBox="1"/>
          <p:nvPr/>
        </p:nvSpPr>
        <p:spPr>
          <a:xfrm>
            <a:off x="1353312" y="3035808"/>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WP3</a:t>
            </a:r>
          </a:p>
        </p:txBody>
      </p:sp>
      <p:sp>
        <p:nvSpPr>
          <p:cNvPr id="26" name="TextBox 25"/>
          <p:cNvSpPr txBox="1"/>
          <p:nvPr/>
        </p:nvSpPr>
        <p:spPr>
          <a:xfrm>
            <a:off x="1353312" y="3282696"/>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Control Points &amp; Hook Bus</a:t>
            </a:r>
          </a:p>
        </p:txBody>
      </p:sp>
      <p:sp>
        <p:nvSpPr>
          <p:cNvPr id="27" name="TextBox 26"/>
          <p:cNvSpPr txBox="1"/>
          <p:nvPr/>
        </p:nvSpPr>
        <p:spPr>
          <a:xfrm>
            <a:off x="1353312" y="3767328"/>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all 10 points fire, verified live</a:t>
            </a:r>
          </a:p>
        </p:txBody>
      </p:sp>
      <p:sp>
        <p:nvSpPr>
          <p:cNvPr id="28" name="Rounded Rectangle 27"/>
          <p:cNvSpPr/>
          <p:nvPr/>
        </p:nvSpPr>
        <p:spPr>
          <a:xfrm>
            <a:off x="4343400" y="2944368"/>
            <a:ext cx="3474720" cy="1298448"/>
          </a:xfrm>
          <a:prstGeom prst="roundRect">
            <a:avLst>
              <a:gd name="adj" fmla="val 6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343400" y="2944368"/>
            <a:ext cx="548640" cy="1298448"/>
          </a:xfrm>
          <a:prstGeom prst="roundRect">
            <a:avLst>
              <a:gd name="adj" fmla="val 6000"/>
            </a:avLst>
          </a:prstGeom>
          <a:solidFill>
            <a:srgbClr val="2F8F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43400" y="2944368"/>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31" name="TextBox 30"/>
          <p:cNvSpPr txBox="1"/>
          <p:nvPr/>
        </p:nvSpPr>
        <p:spPr>
          <a:xfrm>
            <a:off x="5056632" y="3035808"/>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WP4</a:t>
            </a:r>
          </a:p>
        </p:txBody>
      </p:sp>
      <p:sp>
        <p:nvSpPr>
          <p:cNvPr id="32" name="TextBox 31"/>
          <p:cNvSpPr txBox="1"/>
          <p:nvPr/>
        </p:nvSpPr>
        <p:spPr>
          <a:xfrm>
            <a:off x="5056632" y="3282696"/>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Observability Pipeline</a:t>
            </a:r>
          </a:p>
        </p:txBody>
      </p:sp>
      <p:sp>
        <p:nvSpPr>
          <p:cNvPr id="33" name="TextBox 32"/>
          <p:cNvSpPr txBox="1"/>
          <p:nvPr/>
        </p:nvSpPr>
        <p:spPr>
          <a:xfrm>
            <a:off x="5056632" y="3767328"/>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OTel, MLflow, JSONL, security events</a:t>
            </a:r>
          </a:p>
        </p:txBody>
      </p:sp>
      <p:sp>
        <p:nvSpPr>
          <p:cNvPr id="34" name="Rounded Rectangle 33"/>
          <p:cNvSpPr/>
          <p:nvPr/>
        </p:nvSpPr>
        <p:spPr>
          <a:xfrm>
            <a:off x="8046720" y="2944368"/>
            <a:ext cx="3474720" cy="1298448"/>
          </a:xfrm>
          <a:prstGeom prst="roundRect">
            <a:avLst>
              <a:gd name="adj" fmla="val 6000"/>
            </a:avLst>
          </a:prstGeom>
          <a:solidFill>
            <a:srgbClr val="FFFFFF"/>
          </a:solidFill>
          <a:ln w="19050">
            <a:solidFill>
              <a:srgbClr val="A674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046720" y="2944368"/>
            <a:ext cx="548640" cy="1298448"/>
          </a:xfrm>
          <a:prstGeom prst="roundRect">
            <a:avLst>
              <a:gd name="adj" fmla="val 6000"/>
            </a:avLst>
          </a:prstGeom>
          <a:solidFill>
            <a:srgbClr val="A67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0" y="2944368"/>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37" name="TextBox 36"/>
          <p:cNvSpPr txBox="1"/>
          <p:nvPr/>
        </p:nvSpPr>
        <p:spPr>
          <a:xfrm>
            <a:off x="8759952" y="3035808"/>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WP5</a:t>
            </a:r>
          </a:p>
        </p:txBody>
      </p:sp>
      <p:sp>
        <p:nvSpPr>
          <p:cNvPr id="38" name="TextBox 37"/>
          <p:cNvSpPr txBox="1"/>
          <p:nvPr/>
        </p:nvSpPr>
        <p:spPr>
          <a:xfrm>
            <a:off x="8759952" y="3282696"/>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Attack &amp; Failure Plugins</a:t>
            </a:r>
          </a:p>
        </p:txBody>
      </p:sp>
      <p:sp>
        <p:nvSpPr>
          <p:cNvPr id="39" name="TextBox 38"/>
          <p:cNvSpPr txBox="1"/>
          <p:nvPr/>
        </p:nvSpPr>
        <p:spPr>
          <a:xfrm>
            <a:off x="8759952" y="3767328"/>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5 attacks, 3 domains — mechanism bugs found+fixed, all re-verified live</a:t>
            </a:r>
          </a:p>
        </p:txBody>
      </p:sp>
      <p:sp>
        <p:nvSpPr>
          <p:cNvPr id="40" name="Rounded Rectangle 39"/>
          <p:cNvSpPr/>
          <p:nvPr/>
        </p:nvSpPr>
        <p:spPr>
          <a:xfrm>
            <a:off x="640080" y="4379976"/>
            <a:ext cx="3474720" cy="1298448"/>
          </a:xfrm>
          <a:prstGeom prst="roundRect">
            <a:avLst>
              <a:gd name="adj" fmla="val 6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40080" y="4379976"/>
            <a:ext cx="548640" cy="1298448"/>
          </a:xfrm>
          <a:prstGeom prst="roundRect">
            <a:avLst>
              <a:gd name="adj" fmla="val 6000"/>
            </a:avLst>
          </a:prstGeom>
          <a:solidFill>
            <a:srgbClr val="2F8F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4379976"/>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43" name="TextBox 42"/>
          <p:cNvSpPr txBox="1"/>
          <p:nvPr/>
        </p:nvSpPr>
        <p:spPr>
          <a:xfrm>
            <a:off x="1353312" y="4471416"/>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WP6</a:t>
            </a:r>
          </a:p>
        </p:txBody>
      </p:sp>
      <p:sp>
        <p:nvSpPr>
          <p:cNvPr id="44" name="TextBox 43"/>
          <p:cNvSpPr txBox="1"/>
          <p:nvPr/>
        </p:nvSpPr>
        <p:spPr>
          <a:xfrm>
            <a:off x="1353312" y="4718304"/>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Evaluation &amp; Benchmarking</a:t>
            </a:r>
          </a:p>
        </p:txBody>
      </p:sp>
      <p:sp>
        <p:nvSpPr>
          <p:cNvPr id="45" name="TextBox 44"/>
          <p:cNvSpPr txBox="1"/>
          <p:nvPr/>
        </p:nvSpPr>
        <p:spPr>
          <a:xfrm>
            <a:off x="1353312" y="5202936"/>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real terminal-state scoring</a:t>
            </a:r>
          </a:p>
        </p:txBody>
      </p:sp>
      <p:sp>
        <p:nvSpPr>
          <p:cNvPr id="46" name="Rounded Rectangle 45"/>
          <p:cNvSpPr/>
          <p:nvPr/>
        </p:nvSpPr>
        <p:spPr>
          <a:xfrm>
            <a:off x="4343400" y="4379976"/>
            <a:ext cx="3474720" cy="1298448"/>
          </a:xfrm>
          <a:prstGeom prst="roundRect">
            <a:avLst>
              <a:gd name="adj" fmla="val 6000"/>
            </a:avLst>
          </a:prstGeom>
          <a:solidFill>
            <a:srgbClr val="FFFFFF"/>
          </a:solidFill>
          <a:ln w="19050">
            <a:solidFill>
              <a:srgbClr val="A674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4343400" y="4379976"/>
            <a:ext cx="548640" cy="1298448"/>
          </a:xfrm>
          <a:prstGeom prst="roundRect">
            <a:avLst>
              <a:gd name="adj" fmla="val 6000"/>
            </a:avLst>
          </a:prstGeom>
          <a:solidFill>
            <a:srgbClr val="A67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43400" y="4379976"/>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49" name="TextBox 48"/>
          <p:cNvSpPr txBox="1"/>
          <p:nvPr/>
        </p:nvSpPr>
        <p:spPr>
          <a:xfrm>
            <a:off x="5056632" y="4471416"/>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WP7</a:t>
            </a:r>
          </a:p>
        </p:txBody>
      </p:sp>
      <p:sp>
        <p:nvSpPr>
          <p:cNvPr id="50" name="TextBox 49"/>
          <p:cNvSpPr txBox="1"/>
          <p:nvPr/>
        </p:nvSpPr>
        <p:spPr>
          <a:xfrm>
            <a:off x="5056632" y="4718304"/>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CLI &amp; Campaign Engine</a:t>
            </a:r>
          </a:p>
        </p:txBody>
      </p:sp>
      <p:sp>
        <p:nvSpPr>
          <p:cNvPr id="51" name="TextBox 50"/>
          <p:cNvSpPr txBox="1"/>
          <p:nvPr/>
        </p:nvSpPr>
        <p:spPr>
          <a:xfrm>
            <a:off x="5056632" y="5202936"/>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one report — fixed an aggregation bug</a:t>
            </a:r>
          </a:p>
        </p:txBody>
      </p:sp>
      <p:sp>
        <p:nvSpPr>
          <p:cNvPr id="52" name="Rounded Rectangle 51"/>
          <p:cNvSpPr/>
          <p:nvPr/>
        </p:nvSpPr>
        <p:spPr>
          <a:xfrm>
            <a:off x="8046720" y="4379976"/>
            <a:ext cx="3474720" cy="1298448"/>
          </a:xfrm>
          <a:prstGeom prst="roundRect">
            <a:avLst>
              <a:gd name="adj" fmla="val 6000"/>
            </a:avLst>
          </a:prstGeom>
          <a:solidFill>
            <a:srgbClr val="FFFFFF"/>
          </a:solidFill>
          <a:ln w="19050">
            <a:solidFill>
              <a:srgbClr val="A674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8046720" y="4379976"/>
            <a:ext cx="548640" cy="1298448"/>
          </a:xfrm>
          <a:prstGeom prst="roundRect">
            <a:avLst>
              <a:gd name="adj" fmla="val 6000"/>
            </a:avLst>
          </a:prstGeom>
          <a:solidFill>
            <a:srgbClr val="A67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046720" y="4379976"/>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55" name="TextBox 54"/>
          <p:cNvSpPr txBox="1"/>
          <p:nvPr/>
        </p:nvSpPr>
        <p:spPr>
          <a:xfrm>
            <a:off x="8759952" y="4471416"/>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WP8</a:t>
            </a:r>
          </a:p>
        </p:txBody>
      </p:sp>
      <p:sp>
        <p:nvSpPr>
          <p:cNvPr id="56" name="TextBox 55"/>
          <p:cNvSpPr txBox="1"/>
          <p:nvPr/>
        </p:nvSpPr>
        <p:spPr>
          <a:xfrm>
            <a:off x="8759952" y="4718304"/>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Tests, Docs, Release</a:t>
            </a:r>
          </a:p>
        </p:txBody>
      </p:sp>
      <p:sp>
        <p:nvSpPr>
          <p:cNvPr id="57" name="TextBox 56"/>
          <p:cNvSpPr txBox="1"/>
          <p:nvPr/>
        </p:nvSpPr>
        <p:spPr>
          <a:xfrm>
            <a:off x="8759952" y="5202936"/>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 a dozen more gaps found &amp; fixed</a:t>
            </a:r>
          </a:p>
        </p:txBody>
      </p:sp>
      <p:sp>
        <p:nvSpPr>
          <p:cNvPr id="58" name="TextBox 57"/>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59" name="TextBox 58"/>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CLOSING THE LOOP, STAYING HONEST</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800" b="1" i="1">
                <a:solidFill>
                  <a:srgbClr val="1C1E27"/>
                </a:solidFill>
                <a:latin typeface="Georgia"/>
              </a:rPr>
              <a:t>What's closed, what's still open</a:t>
            </a:r>
          </a:p>
        </p:txBody>
      </p:sp>
      <p:sp>
        <p:nvSpPr>
          <p:cNvPr id="4" name="TextBox 3"/>
          <p:cNvSpPr txBox="1"/>
          <p:nvPr/>
        </p:nvSpPr>
        <p:spPr>
          <a:xfrm>
            <a:off x="640080" y="1691640"/>
            <a:ext cx="5212080" cy="4114800"/>
          </a:xfrm>
          <a:prstGeom prst="rect">
            <a:avLst/>
          </a:prstGeom>
          <a:noFill/>
        </p:spPr>
        <p:txBody>
          <a:bodyPr wrap="square" lIns="0" rIns="0">
            <a:spAutoFit/>
          </a:bodyPr>
          <a:lstStyle/>
          <a:p>
            <a:pPr>
              <a:spcAft>
                <a:spcPts val="900"/>
              </a:spcAft>
            </a:pPr>
            <a:r>
              <a:rPr sz="1300" b="1">
                <a:solidFill>
                  <a:srgbClr val="A6741C"/>
                </a:solidFill>
                <a:latin typeface="Calibri"/>
              </a:rPr>
              <a:t>—  </a:t>
            </a:r>
            <a:r>
              <a:rPr sz="1300" b="1">
                <a:solidFill>
                  <a:srgbClr val="1C1E27"/>
                </a:solidFill>
                <a:latin typeface="Calibri"/>
              </a:rPr>
              <a:t>Mock-LLM mode — done. </a:t>
            </a:r>
            <a:r>
              <a:rPr sz="1300">
                <a:solidFill>
                  <a:srgbClr val="5B6072"/>
                </a:solidFill>
                <a:latin typeface="Calibri"/>
              </a:rPr>
              <a:t>Tool-calling capable now, not text-only — exercises the tool control point too.</a:t>
            </a:r>
          </a:p>
          <a:p>
            <a:pPr>
              <a:spcAft>
                <a:spcPts val="900"/>
              </a:spcAft>
            </a:pPr>
            <a:r>
              <a:rPr sz="1300" b="1">
                <a:solidFill>
                  <a:srgbClr val="A6741C"/>
                </a:solidFill>
                <a:latin typeface="Calibri"/>
              </a:rPr>
              <a:t>—  Direct overhead measurement — done. Hook-dispatch timing: median 0.19% of run duration, 10 trials, no off/full diff needed.</a:t>
            </a:r>
            <a:r>
              <a:rPr sz="1300" b="1">
                <a:solidFill>
                  <a:srgbClr val="1C1E27"/>
                </a:solidFill>
                <a:latin typeface="Calibri"/>
              </a:rPr>
              <a:t/>
            </a:r>
            <a:r>
              <a:rPr sz="1300">
                <a:solidFill>
                  <a:srgbClr val="5B6072"/>
                </a:solidFill>
                <a:latin typeface="Calibri"/>
              </a:rPr>
              <a:t/>
            </a:r>
          </a:p>
          <a:p>
            <a:pPr>
              <a:spcAft>
                <a:spcPts val="900"/>
              </a:spcAft>
            </a:pPr>
            <a:r>
              <a:rPr sz="1300" b="1">
                <a:solidFill>
                  <a:srgbClr val="A6741C"/>
                </a:solidFill>
                <a:latin typeface="Calibri"/>
              </a:rPr>
              <a:t>—  Volume &amp; concurrency scaling — done. Independent axes; same amortize-then-plateau shape holds across all 3 domains.</a:t>
            </a:r>
            <a:r>
              <a:rPr sz="1300" b="1">
                <a:solidFill>
                  <a:srgbClr val="1C1E27"/>
                </a:solidFill>
                <a:latin typeface="Calibri"/>
              </a:rPr>
              <a:t/>
            </a:r>
            <a:r>
              <a:rPr sz="1300">
                <a:solidFill>
                  <a:srgbClr val="5B6072"/>
                </a:solidFill>
                <a:latin typeface="Calibri"/>
              </a:rPr>
              <a:t/>
            </a:r>
          </a:p>
          <a:p>
            <a:pPr>
              <a:spcAft>
                <a:spcPts val="900"/>
              </a:spcAft>
            </a:pPr>
            <a:r>
              <a:rPr sz="1300" b="1">
                <a:solidFill>
                  <a:srgbClr val="A6741C"/>
                </a:solidFill>
                <a:latin typeface="Calibri"/>
              </a:rPr>
              <a:t>—  3 deeper bugs found, all fixed. Hook-bus dispatch silently discarded every attack's mutation; a mutated tool call was applied as a fake response instead of real args; two plugins mutated attributes that don't exist on the real request object.</a:t>
            </a:r>
            <a:r>
              <a:rPr sz="1300" b="1">
                <a:solidFill>
                  <a:srgbClr val="1C1E27"/>
                </a:solidFill>
                <a:latin typeface="Calibri"/>
              </a:rPr>
              <a:t/>
            </a:r>
            <a:r>
              <a:rPr sz="1300">
                <a:solidFill>
                  <a:srgbClr val="5B6072"/>
                </a:solidFill>
                <a:latin typeface="Calibri"/>
              </a:rPr>
              <a:t/>
            </a:r>
          </a:p>
        </p:txBody>
      </p:sp>
      <p:sp>
        <p:nvSpPr>
          <p:cNvPr id="5" name="Rounded Rectangle 4"/>
          <p:cNvSpPr/>
          <p:nvPr/>
        </p:nvSpPr>
        <p:spPr>
          <a:xfrm>
            <a:off x="6309360" y="1691640"/>
            <a:ext cx="27432" cy="4023360"/>
          </a:xfrm>
          <a:prstGeom prst="roundRect">
            <a:avLst/>
          </a:prstGeom>
          <a:solidFill>
            <a:srgbClr val="DDD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691640"/>
            <a:ext cx="4937760" cy="4114800"/>
          </a:xfrm>
          <a:prstGeom prst="rect">
            <a:avLst/>
          </a:prstGeom>
          <a:noFill/>
        </p:spPr>
        <p:txBody>
          <a:bodyPr wrap="square" lIns="0" rIns="0">
            <a:spAutoFit/>
          </a:bodyPr>
          <a:lstStyle/>
          <a:p>
            <a:pPr>
              <a:spcAft>
                <a:spcPts val="900"/>
              </a:spcAft>
            </a:pPr>
            <a:r>
              <a:rPr sz="1300" b="1">
                <a:solidFill>
                  <a:srgbClr val="A6741C"/>
                </a:solidFill>
                <a:latin typeface="Calibri"/>
              </a:rPr>
              <a:t>—  Done: live-model re-verification of every attack and failure config after the fixes above -- each now shows a genuine, ground-truth-detected effect.</a:t>
            </a:r>
            <a:r>
              <a:rPr sz="1300" b="1">
                <a:solidFill>
                  <a:srgbClr val="1C1E27"/>
                </a:solidFill>
                <a:latin typeface="Calibri"/>
              </a:rPr>
              <a:t/>
            </a:r>
            <a:r>
              <a:rPr sz="1300">
                <a:solidFill>
                  <a:srgbClr val="5B6072"/>
                </a:solidFill>
                <a:latin typeface="Calibri"/>
              </a:rPr>
              <a:t/>
            </a:r>
          </a:p>
          <a:p>
            <a:pPr>
              <a:spcAft>
                <a:spcPts val="900"/>
              </a:spcAft>
            </a:pPr>
            <a:r>
              <a:rPr sz="1300" b="1">
                <a:solidFill>
                  <a:srgbClr val="A6741C"/>
                </a:solidFill>
                <a:latin typeface="Calibri"/>
              </a:rPr>
              <a:t>—  Repeated-trial attack efficacy — done. 5 live trials/attack: route confusion diverts 5/5; three plugins' injections were resisted 0/5 at this sample size.</a:t>
            </a:r>
            <a:r>
              <a:rPr sz="1300" b="1">
                <a:solidFill>
                  <a:srgbClr val="1C1E27"/>
                </a:solidFill>
                <a:latin typeface="Calibri"/>
              </a:rPr>
              <a:t/>
            </a:r>
            <a:r>
              <a:rPr sz="1300">
                <a:solidFill>
                  <a:srgbClr val="5B6072"/>
                </a:solidFill>
                <a:latin typeface="Calibri"/>
              </a:rPr>
              <a:t/>
            </a:r>
          </a:p>
          <a:p>
            <a:pPr>
              <a:spcAft>
                <a:spcPts val="900"/>
              </a:spcAft>
            </a:pPr>
            <a:r>
              <a:rPr sz="1300" b="1">
                <a:solidFill>
                  <a:srgbClr val="A6741C"/>
                </a:solidFill>
                <a:latin typeface="Calibri"/>
              </a:rPr>
              <a:t>—  </a:t>
            </a:r>
            <a:r>
              <a:rPr sz="1300" b="1">
                <a:solidFill>
                  <a:srgbClr val="1C1E27"/>
                </a:solidFill>
                <a:latin typeface="Calibri"/>
              </a:rPr>
              <a:t>Minimal UI. </a:t>
            </a:r>
            <a:r>
              <a:rPr sz="1300">
                <a:solidFill>
                  <a:srgbClr val="5B6072"/>
                </a:solidFill>
                <a:latin typeface="Calibri"/>
              </a:rPr>
              <a:t>Schema-driven editor and trace viewer over the same CLI — no separate business logic.</a:t>
            </a:r>
          </a:p>
          <a:p>
            <a:pPr>
              <a:spcAft>
                <a:spcPts val="900"/>
              </a:spcAft>
            </a:pPr>
            <a:r>
              <a:rPr sz="1300" b="1">
                <a:solidFill>
                  <a:srgbClr val="A6741C"/>
                </a:solidFill>
                <a:latin typeface="Calibri"/>
              </a:rPr>
              <a:t>—  </a:t>
            </a:r>
            <a:r>
              <a:rPr sz="1300" b="1">
                <a:solidFill>
                  <a:srgbClr val="1C1E27"/>
                </a:solidFill>
                <a:latin typeface="Calibri"/>
              </a:rPr>
              <a:t>Zero Trust, policy plugins. </a:t>
            </a:r>
            <a:r>
              <a:rPr sz="1300">
                <a:solidFill>
                  <a:srgbClr val="5B6072"/>
                </a:solidFill>
                <a:latin typeface="Calibri"/>
              </a:rPr>
              <a:t>Same inventory and plugin interface I already expose — Zero Trust as a separate paper.</a:t>
            </a:r>
          </a:p>
        </p:txBody>
      </p:sp>
      <p:sp>
        <p:nvSpPr>
          <p:cNvPr id="7" name="TextBox 6"/>
          <p:cNvSpPr txBox="1"/>
          <p:nvPr/>
        </p:nvSpPr>
        <p:spPr>
          <a:xfrm>
            <a:off x="640080" y="6126480"/>
            <a:ext cx="10789920" cy="457200"/>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github.com/smartsystemslab-uf/MANTIS  ·  Thank you — happy to take questions.</a:t>
            </a:r>
          </a:p>
        </p:txBody>
      </p:sp>
      <p:sp>
        <p:nvSpPr>
          <p:cNvPr id="8" name="TextBox 7"/>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9" name="TextBox 8"/>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