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6741C"/>
                </a:solidFill>
                <a:latin typeface="Consolas"/>
              </a:rPr>
              <a:t>RESEARCH ARTIFACT ·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 i="1">
                <a:solidFill>
                  <a:srgbClr val="1C1E27"/>
                </a:solidFill>
                <a:latin typeface="Georgia"/>
              </a:rPr>
              <a:t>MANTIS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5B6072"/>
                </a:solidFill>
                <a:latin typeface="Calibri"/>
              </a:rPr>
              <a:t>A Banking Multi-Agent Security &amp; Observability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onsolas"/>
              </a:rPr>
              <a:t>Live Demo  ·  WP0–WP8 verified against live runs, not just unit tests  · 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WHAT THIS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1">
                <a:solidFill>
                  <a:srgbClr val="1C1E27"/>
                </a:solidFill>
                <a:latin typeface="Georgia"/>
              </a:rPr>
              <a:t>One testbed, five things you'd otherwise build separately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A real banking multi-agent system. </a:t>
            </a:r>
            <a:r>
              <a:rPr sz="1700">
                <a:solidFill>
                  <a:srgbClr val="5B6072"/>
                </a:solidFill>
                <a:latin typeface="Calibri"/>
              </a:rPr>
              <a:t>Front office (fraud review), mid office (planning, rep-assist), back office (EOD reconciliation) — the same agents a bank would actually run, not a toy.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Five fixed interception points. </a:t>
            </a:r>
            <a:r>
              <a:rPr sz="1700">
                <a:solidFill>
                  <a:srgbClr val="5B6072"/>
                </a:solidFill>
                <a:latin typeface="Calibri"/>
              </a:rPr>
              <a:t>Every run passes through the same hook bus: Input, Agent, Interaction, Tool, Output. Nothing in the banking logic has to change to add an experiment.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Four working attack plugins. </a:t>
            </a:r>
            <a:r>
              <a:rPr sz="1700">
                <a:solidFill>
                  <a:srgbClr val="5B6072"/>
                </a:solidFill>
                <a:latin typeface="Calibri"/>
              </a:rPr>
              <a:t>Prompt injection, message spoofing, route confusion, tool-parameter mutation — declared entirely in YAML, targeting real agents and tools.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Full observability. </a:t>
            </a:r>
            <a:r>
              <a:rPr sz="1700">
                <a:solidFill>
                  <a:srgbClr val="5B6072"/>
                </a:solidFill>
                <a:latin typeface="Calibri"/>
              </a:rPr>
              <a:t>Every run produces a signed manifest, a complete JSONL trace, OpenTelemetry spans, and an MLflow run — with banking-semantic tagging (risk level, data sensitivity, financial side effect).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Automated scoring. </a:t>
            </a:r>
            <a:r>
              <a:rPr sz="1700">
                <a:solidFill>
                  <a:srgbClr val="5B6072"/>
                </a:solidFill>
                <a:latin typeface="Calibri"/>
              </a:rPr>
              <a:t>An evaluator reads the trace and reports what actually happened — real terminal states, real tool-use correctness — not a pass/fail placeholder.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1">
                <a:solidFill>
                  <a:srgbClr val="1C1E27"/>
                </a:solidFill>
                <a:latin typeface="Georgia"/>
              </a:rPr>
              <a:t>Where an attack actually attaches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072"/>
                </a:solidFill>
                <a:latin typeface="Calibri"/>
              </a:rPr>
              <a:t>The banking agents never know a plugin is there — attacks tap the hook bus from the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874519"/>
            <a:ext cx="3200400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experiment.yaml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94960" y="2331720"/>
            <a:ext cx="0" cy="274320"/>
          </a:xfrm>
          <a:prstGeom prst="line">
            <a:avLst/>
          </a:prstGeom>
          <a:ln w="19050">
            <a:solidFill>
              <a:srgbClr val="1C1E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14400" y="2606040"/>
            <a:ext cx="10332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2491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072"/>
                </a:solidFill>
                <a:latin typeface="Consolas"/>
              </a:rPr>
              <a:t>HOOK BUS — FIVE CONTROL 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4612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7F5E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24612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7F5E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32461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24612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7F5E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2461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Interaction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324612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7F5E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32461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324612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7F5E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2461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Output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89320" y="3813048"/>
            <a:ext cx="1463040" cy="530352"/>
          </a:xfrm>
          <a:prstGeom prst="line">
            <a:avLst/>
          </a:prstGeom>
          <a:ln w="25400">
            <a:solidFill>
              <a:srgbClr val="A674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03720" y="4370832"/>
            <a:ext cx="3291840" cy="502920"/>
          </a:xfrm>
          <a:prstGeom prst="roundRect">
            <a:avLst>
              <a:gd name="adj" fmla="val 15000"/>
            </a:avLst>
          </a:prstGeom>
          <a:solidFill>
            <a:srgbClr val="EDE0C4"/>
          </a:solidFill>
          <a:ln w="19050">
            <a:solidFill>
              <a:srgbClr val="A67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4370832"/>
            <a:ext cx="3291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alibri"/>
              </a:rPr>
              <a:t>Attack / Failure Plugin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9776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A6741C"/>
                </a:solidFill>
                <a:latin typeface="Consolas"/>
              </a:rPr>
              <a:t>attaches to any point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94960" y="3977639"/>
            <a:ext cx="0" cy="1051561"/>
          </a:xfrm>
          <a:prstGeom prst="line">
            <a:avLst/>
          </a:prstGeom>
          <a:ln w="19050">
            <a:solidFill>
              <a:srgbClr val="1C1E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3212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B6072"/>
                </a:solidFill>
                <a:latin typeface="Consolas"/>
              </a:rPr>
              <a:t>instruments, unmodified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029200"/>
            <a:ext cx="3200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1023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1E27"/>
                </a:solidFill>
                <a:latin typeface="Calibri"/>
              </a:rPr>
              <a:t>Front Office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41324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monitoring · fraud · compliance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5029200"/>
            <a:ext cx="3200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51023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1E27"/>
                </a:solidFill>
                <a:latin typeface="Calibri"/>
              </a:rPr>
              <a:t>Mid Office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41324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planning · rep assist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5029200"/>
            <a:ext cx="3200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C1E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510235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C1E27"/>
                </a:solidFill>
                <a:latin typeface="Calibri"/>
              </a:rPr>
              <a:t>Back Office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541324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EOD · reconciliation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5806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1">
                <a:solidFill>
                  <a:srgbClr val="5B6072"/>
                </a:solidFill>
                <a:latin typeface="Consolas"/>
              </a:rPr>
              <a:t>↓ observability → evaluator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1">
                <a:solidFill>
                  <a:srgbClr val="1C1E27"/>
                </a:solidFill>
                <a:latin typeface="Georgia"/>
              </a:rPr>
              <a:t>What's actually built — and verified live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Banking domains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4708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788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Real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4708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19+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27889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Real banking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Control points, all instrumented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52044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63016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5720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Working attack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2044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30168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A6741C"/>
                </a:solidFill>
                <a:latin typeface="Consolas"/>
              </a:rPr>
              <a:t>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5720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Automated tests, offline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072"/>
                </a:solidFill>
                <a:latin typeface="Calibri"/>
              </a:rPr>
              <a:t>Every number above is introspected from the live tool modules and agent registry — mantis --inventory, not a hand-typed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ATTACKS INCORPORATED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1">
                <a:solidFill>
                  <a:srgbClr val="1C1E27"/>
                </a:solidFill>
                <a:latin typeface="Georgia"/>
              </a:rPr>
              <a:t>Four attack plugins, one shared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68880" cy="457200"/>
          </a:xfrm>
          <a:prstGeom prst="roundRect">
            <a:avLst>
              <a:gd name="adj" fmla="val 0"/>
            </a:avLst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37360"/>
            <a:ext cx="2249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Plugin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737360"/>
            <a:ext cx="1371600" cy="457200"/>
          </a:xfrm>
          <a:prstGeom prst="roundRect">
            <a:avLst>
              <a:gd name="adj" fmla="val 0"/>
            </a:avLst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18688" y="1737360"/>
            <a:ext cx="11521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Control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2743200" cy="457200"/>
          </a:xfrm>
          <a:prstGeom prst="roundRect">
            <a:avLst>
              <a:gd name="adj" fmla="val 0"/>
            </a:avLst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737360"/>
            <a:ext cx="25237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Real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737360"/>
            <a:ext cx="4206240" cy="457200"/>
          </a:xfrm>
          <a:prstGeom prst="roundRect">
            <a:avLst>
              <a:gd name="adj" fmla="val 0"/>
            </a:avLst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1737360"/>
            <a:ext cx="39867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What it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246888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224942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alibri"/>
              </a:rPr>
              <a:t>Prompt 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2194560"/>
            <a:ext cx="137160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267712"/>
            <a:ext cx="11521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194560"/>
            <a:ext cx="274320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2267712"/>
            <a:ext cx="25237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transaction_monitoring_agent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194560"/>
            <a:ext cx="420624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39867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Injects malicious instructions into the front-office transaction monitor before it reasons about a transaction.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46120"/>
            <a:ext cx="246888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319272"/>
            <a:ext cx="224942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alibri"/>
              </a:rPr>
              <a:t>Message Spoofing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3246120"/>
            <a:ext cx="137160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3319272"/>
            <a:ext cx="11521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Interaction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246120"/>
            <a:ext cx="274320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3319272"/>
            <a:ext cx="25237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risk_compliance_agent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0" y="3246120"/>
            <a:ext cx="420624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319272"/>
            <a:ext cx="39867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Spoofs a fake “AML/KYC clear” message into an agent's outgoing call to the model, mid rep-assist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297680"/>
            <a:ext cx="246888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370832"/>
            <a:ext cx="224942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alibri"/>
              </a:rPr>
              <a:t>Route Confusion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4297680"/>
            <a:ext cx="137160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18688" y="4370832"/>
            <a:ext cx="11521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Tool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4297680"/>
            <a:ext cx="274320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0288" y="4370832"/>
            <a:ext cx="25237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transfer_to_agent (routing)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297680"/>
            <a:ext cx="4206240" cy="10515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370832"/>
            <a:ext cx="39867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Forces the front-office router to bypass compliance and jump straight to the decision agent.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49240"/>
            <a:ext cx="246888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422392"/>
            <a:ext cx="224942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alibri"/>
              </a:rPr>
              <a:t>Tool Parameter Mutation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08960" y="5349240"/>
            <a:ext cx="137160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18688" y="5422392"/>
            <a:ext cx="11521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Tool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80560" y="5349240"/>
            <a:ext cx="274320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0288" y="5422392"/>
            <a:ext cx="252374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C1E27"/>
                </a:solidFill>
                <a:latin typeface="Consolas"/>
              </a:rPr>
              <a:t>execute_transfer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5349240"/>
            <a:ext cx="4206240" cy="1051560"/>
          </a:xfrm>
          <a:prstGeom prst="roundRect">
            <a:avLst>
              <a:gd name="adj" fmla="val 0"/>
            </a:avLst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422392"/>
            <a:ext cx="39867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072"/>
                </a:solidFill>
                <a:latin typeface="Calibri"/>
              </a:rPr>
              <a:t>Mutates the destination account and amount on a live transfer call before it reaches the banking backend.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1">
                <a:solidFill>
                  <a:srgbClr val="1C1E27"/>
                </a:solidFill>
                <a:latin typeface="Georgia"/>
              </a:rPr>
              <a:t>Seven commands, one attack, full evidence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2704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--inventory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3794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Real system: 31 agents, 19+ tools, 3 domains — introspected, not hand-typed.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67128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185416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--validate configs/attacks/wp5_route_confusion.yaml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Domain, workflow, target, and control point checked against the real registries.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4378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--run configs/baselines/front_office_baseline.yaml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5468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Clean baseline: monitoring → fraud → compliance →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0215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--run configs/attacks/wp5_route_confusion.yaml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1304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Same scenario — router forced to skip compliance.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42232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jq '.plugin_stats.tool' hook_coverage.json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471416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Machine-readable proof the plugin fired at the declared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81888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--evaluate run_artifacts/wp5_route_confusion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2978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Real terminal state: "actual_outcome": "manual_review".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58968"/>
            <a:ext cx="457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741C"/>
                </a:solidFill>
                <a:latin typeface="Consolas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477256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C1E27"/>
                </a:solidFill>
                <a:latin typeface="Consolas"/>
              </a:rPr>
              <a:t>mantis --campaign configs/attacks/  &amp;&amp;  mantis --report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78815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072"/>
                </a:solidFill>
                <a:latin typeface="Calibri"/>
              </a:rPr>
              <a:t>Sweep all four attacks, one comparative report.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1508760"/>
            <a:ext cx="4480560" cy="4617720"/>
          </a:xfrm>
          <a:prstGeom prst="roundRect">
            <a:avLst>
              <a:gd name="adj" fmla="val 4000"/>
            </a:avLst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17373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93D6"/>
                </a:solidFill>
                <a:latin typeface="Consolas"/>
              </a:rPr>
              <a:t>$ mantis --evaluate 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148840"/>
            <a:ext cx="39319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"workflow_outcome": {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  "score": 1.0,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  "expected_outcome": null,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  "actual_outcome":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    "manual_review"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E3B341"/>
                </a:solidFill>
                <a:latin typeface="Consolas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VERIFIED, NOT JUST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1">
                <a:solidFill>
                  <a:srgbClr val="1C1E27"/>
                </a:solidFill>
                <a:latin typeface="Georgia"/>
              </a:rPr>
              <a:t>The live suite is what actually caught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072"/>
                </a:solidFill>
                <a:latin typeface="Calibri"/>
              </a:rPr>
              <a:t>Same command, same file, run before and after this session's fixes.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C13F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13F39"/>
                </a:solidFill>
                <a:latin typeface="Consolas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C1E27"/>
                </a:solidFill>
                <a:latin typeface="Calibri"/>
              </a:rPr>
              <a:t>hook_coverage.json, every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after_input:   0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after_agent:   0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after_message: 0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before_output: 0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workflow_outcome: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  "completed"  (always)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ATTACK_INJECTED: never emitted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message_spoofing: never mutated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13F39"/>
                </a:solidFill>
                <a:latin typeface="Consolas"/>
              </a:rPr>
              <a:t>anything, in any run, ever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6596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F8F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8F55"/>
                </a:solidFill>
                <a:latin typeface="Consolas"/>
              </a:rPr>
              <a:t>AFTER — 2026-09-07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C1E27"/>
                </a:solidFill>
                <a:latin typeface="Calibri"/>
              </a:rPr>
              <a:t>Same file, same 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0632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after_input:   1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after_agent:   5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after_message: 10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before_output: 1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workflow_outcome: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  "manual_review"  (real)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ATTACK_INJECTED: fires per plugin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message_spoofing: correctly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F8F55"/>
                </a:solidFill>
                <a:latin typeface="Consolas"/>
              </a:rPr>
              <a:t>identifies risk_compliance_agent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1">
                <a:solidFill>
                  <a:srgbClr val="1C1E27"/>
                </a:solidFill>
                <a:latin typeface="Georgia"/>
              </a:rPr>
              <a:t>Four offline layers, one live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926080" cy="457200"/>
          </a:xfrm>
          <a:prstGeom prst="roundRect">
            <a:avLst/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00200"/>
            <a:ext cx="2706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600200"/>
            <a:ext cx="3291840" cy="457200"/>
          </a:xfrm>
          <a:prstGeom prst="roundRect">
            <a:avLst/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5888" y="1600200"/>
            <a:ext cx="30723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Location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00200"/>
            <a:ext cx="1554480" cy="457200"/>
          </a:xfrm>
          <a:prstGeom prst="roundRect">
            <a:avLst/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1600200"/>
            <a:ext cx="13350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600200"/>
            <a:ext cx="1463040" cy="457200"/>
          </a:xfrm>
          <a:prstGeom prst="roundRect">
            <a:avLst/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1600200"/>
            <a:ext cx="1243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Backend?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1600200"/>
            <a:ext cx="1463040" cy="457200"/>
          </a:xfrm>
          <a:prstGeom prst="roundRect">
            <a:avLst/>
          </a:prstGeom>
          <a:solidFill>
            <a:srgbClr val="1C1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85248" y="1600200"/>
            <a:ext cx="1243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LLM key?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57400"/>
            <a:ext cx="292608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057400"/>
            <a:ext cx="27066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MANTIS unit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057400"/>
            <a:ext cx="32918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2057400"/>
            <a:ext cx="30723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tests/unit/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057400"/>
            <a:ext cx="155448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057400"/>
            <a:ext cx="13350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057400"/>
            <a:ext cx="14630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2057400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2057400"/>
            <a:ext cx="14630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5248" y="2057400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2679192"/>
            <a:ext cx="292608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679192"/>
            <a:ext cx="27066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WP0 regression guard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2679192"/>
            <a:ext cx="32918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8" y="2679192"/>
            <a:ext cx="30723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refactor_guard_tests/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2679192"/>
            <a:ext cx="155448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2679192"/>
            <a:ext cx="13350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49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2679192"/>
            <a:ext cx="14630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2679192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75520" y="2679192"/>
            <a:ext cx="14630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5248" y="2679192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3300984"/>
            <a:ext cx="292608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3300984"/>
            <a:ext cx="27066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Banking backend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66160" y="3300984"/>
            <a:ext cx="32918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75888" y="3300984"/>
            <a:ext cx="30723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citi_banking_backend/tests/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0" y="3300984"/>
            <a:ext cx="155448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7728" y="3300984"/>
            <a:ext cx="13350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13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3300984"/>
            <a:ext cx="14630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8" y="3300984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75520" y="3300984"/>
            <a:ext cx="1463040" cy="62179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85248" y="3300984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3922776"/>
            <a:ext cx="292608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3922776"/>
            <a:ext cx="27066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MCP tool server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66160" y="3922776"/>
            <a:ext cx="32918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75888" y="3922776"/>
            <a:ext cx="30723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citi_banking_mcp_server/tests/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3922776"/>
            <a:ext cx="155448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67728" y="3922776"/>
            <a:ext cx="13350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3922776"/>
            <a:ext cx="14630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22208" y="3922776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75520" y="3922776"/>
            <a:ext cx="1463040" cy="621792"/>
          </a:xfrm>
          <a:prstGeom prst="roundRect">
            <a:avLst/>
          </a:prstGeom>
          <a:solidFill>
            <a:srgbClr val="F7F5EF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85248" y="3922776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072"/>
                </a:solidFill>
                <a:latin typeface="Calibri"/>
              </a:rPr>
              <a:t>No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4544568"/>
            <a:ext cx="2926080" cy="621792"/>
          </a:xfrm>
          <a:prstGeom prst="roundRect">
            <a:avLst/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4544568"/>
            <a:ext cx="27066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C1E27"/>
                </a:solidFill>
                <a:latin typeface="Calibri"/>
              </a:rPr>
              <a:t>Live validation (WP0–WP7)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66160" y="4544568"/>
            <a:ext cx="3291840" cy="621792"/>
          </a:xfrm>
          <a:prstGeom prst="roundRect">
            <a:avLst/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75888" y="4544568"/>
            <a:ext cx="30723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release_validation.sh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58000" y="4544568"/>
            <a:ext cx="1554480" cy="621792"/>
          </a:xfrm>
          <a:prstGeom prst="roundRect">
            <a:avLst/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67728" y="4544568"/>
            <a:ext cx="133502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C1E27"/>
                </a:solidFill>
                <a:latin typeface="Consolas"/>
              </a:rPr>
              <a:t>end-to-end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4544568"/>
            <a:ext cx="1463040" cy="621792"/>
          </a:xfrm>
          <a:prstGeom prst="roundRect">
            <a:avLst/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22208" y="4544568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13F39"/>
                </a:solidFill>
                <a:latin typeface="Calibri"/>
              </a:rPr>
              <a:t>Yes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544568"/>
            <a:ext cx="1463040" cy="621792"/>
          </a:xfrm>
          <a:prstGeom prst="roundRect">
            <a:avLst/>
          </a:prstGeom>
          <a:solidFill>
            <a:srgbClr val="EDE0C4"/>
          </a:solidFill>
          <a:ln w="6350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85248" y="4544568"/>
            <a:ext cx="1243584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13F39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3492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5B6072"/>
                </a:solidFill>
                <a:latin typeface="Calibri"/>
              </a:rPr>
              <a:t>96 tests run offline in seconds. The live suite takes 5–10 minutes — real LLM calls — and is the ground truth for “does this work end to end.”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PROJECT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1">
                <a:solidFill>
                  <a:srgbClr val="1C1E27"/>
                </a:solidFill>
                <a:latin typeface="Georgia"/>
              </a:rPr>
              <a:t>WP0–WP8: complete, and verified against live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642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385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Freeze &amp; Characterize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871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49 regression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5544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642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9385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Modularize Banking Testbed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4871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NativeBankingAdapter, real inventory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5544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642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9385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Configuration, Schemas, Registries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4871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domain/workflow/target validated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1546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1546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546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2644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5387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Control Points &amp; Hook Bus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0873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all 10 hook points fire, verified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1546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43400" y="31546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31546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2644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35387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Observability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0873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OTel, MLflow, JSONL, security events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31546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46720" y="31546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1546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32644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5387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Attack &amp; Failure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40873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4 attacks, all verified live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7548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" y="47548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548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48646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51389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Evaluation &amp; Benchmarking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20" y="56875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real terminal-state scoring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47548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343400" y="47548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43400" y="47548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0640" y="48646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51389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CLI &amp; Campaign Engine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56875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one report across all attacks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4754880"/>
            <a:ext cx="34747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046720" y="4754880"/>
            <a:ext cx="594360" cy="1417320"/>
          </a:xfrm>
          <a:prstGeom prst="roundRect">
            <a:avLst>
              <a:gd name="adj" fmla="val 6000"/>
            </a:avLst>
          </a:prstGeom>
          <a:solidFill>
            <a:srgbClr val="2F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0" y="4754880"/>
            <a:ext cx="5943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48646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6741C"/>
                </a:solidFill>
                <a:latin typeface="Consolas"/>
              </a:rPr>
              <a:t>WP8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3960" y="5138928"/>
            <a:ext cx="2560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1E27"/>
                </a:solidFill>
                <a:latin typeface="Calibri"/>
              </a:rPr>
              <a:t>Tests, Docs, Research Release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68756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072"/>
                </a:solidFill>
                <a:latin typeface="Calibri"/>
              </a:rPr>
              <a:t>CI green, LICENSE/SECURITY/CITATION present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6741C"/>
                </a:solidFill>
                <a:latin typeface="Consolas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1">
                <a:solidFill>
                  <a:srgbClr val="1C1E27"/>
                </a:solidFill>
                <a:latin typeface="Georgia"/>
              </a:rPr>
              <a:t>Post-paper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Minimal UI. </a:t>
            </a:r>
            <a:r>
              <a:rPr sz="1700">
                <a:solidFill>
                  <a:srgbClr val="5B6072"/>
                </a:solidFill>
                <a:latin typeface="Calibri"/>
              </a:rPr>
              <a:t>A schema-driven editor and trace viewer that invokes the same CLI — no separate business logic.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Zero Trust Backplane. </a:t>
            </a:r>
            <a:r>
              <a:rPr sz="1700">
                <a:solidFill>
                  <a:srgbClr val="5B6072"/>
                </a:solidFill>
                <a:latin typeface="Calibri"/>
              </a:rPr>
              <a:t>Consumes the same banking system inventory and control-point metadata to generate protection mechanisms — a separate paper.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Additional exporters. </a:t>
            </a:r>
            <a:r>
              <a:rPr sz="1700">
                <a:solidFill>
                  <a:srgbClr val="5B6072"/>
                </a:solidFill>
                <a:latin typeface="Calibri"/>
              </a:rPr>
              <a:t>Jaeger, Grafana, Langfuse, Phoenix as adapters on the same event model.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A6741C"/>
                </a:solidFill>
                <a:latin typeface="Calibri"/>
              </a:rPr>
              <a:t>—  </a:t>
            </a:r>
            <a:r>
              <a:rPr sz="1700" b="1">
                <a:solidFill>
                  <a:srgbClr val="1C1E27"/>
                </a:solidFill>
                <a:latin typeface="Calibri"/>
              </a:rPr>
              <a:t>Security mechanism plugins. </a:t>
            </a:r>
            <a:r>
              <a:rPr sz="1700">
                <a:solidFill>
                  <a:srgbClr val="5B6072"/>
                </a:solidFill>
                <a:latin typeface="Calibri"/>
              </a:rPr>
              <a:t>Guardrails, policy checks, rate limits — evaluated through the same experiment 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6741C"/>
                </a:solidFill>
                <a:latin typeface="Consolas"/>
              </a:rPr>
              <a:t>github.com/smartsystemslab-uf/MANTIS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MANTIS — smartsystemslab-uf/MANTIS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072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